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8459470" cy="539940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6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16"/>
        <p:guide pos="28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1800000"/>
            <a:ext cx="1548000" cy="1728000"/>
          </a:xfrm>
          <a:prstGeom prst="rect">
            <a:avLst/>
          </a:prstGeom>
          <a:solidFill>
            <a:srgbClr val="FFFFFF"/>
          </a:solidFill>
          <a:ln w="1143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88000" y="1854000"/>
            <a:ext cx="108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1000" b="1">
                <a:solidFill>
                  <a:srgbClr val="282828"/>
                </a:solidFill>
                <a:latin typeface="Arial" panose="020B0604020202090204"/>
              </a:rPr>
              <a:t>SMILES</a:t>
            </a:r>
            <a:endParaRPr sz="1000" b="1">
              <a:solidFill>
                <a:srgbClr val="282828"/>
              </a:solidFill>
              <a:latin typeface="Arial" panose="020B0604020202090204"/>
            </a:endParaRPr>
          </a:p>
        </p:txBody>
      </p:sp>
      <p:pic>
        <p:nvPicPr>
          <p:cNvPr id="4" name="Picture 3" descr="mo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000" y="2088000"/>
            <a:ext cx="1209600" cy="86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1999" y="3186000"/>
            <a:ext cx="1475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850" b="1">
                <a:solidFill>
                  <a:srgbClr val="5F5F5F"/>
                </a:solidFill>
                <a:latin typeface="Arial" panose="020B0604020202090204"/>
              </a:rPr>
              <a:t>CC(=O)Oc1ccccc1C(=O)O</a:t>
            </a:r>
            <a:endParaRPr sz="850" b="1">
              <a:solidFill>
                <a:srgbClr val="5F5F5F"/>
              </a:solidFill>
              <a:latin typeface="Arial" panose="020B060402020209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15999" y="414000"/>
            <a:ext cx="252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00" b="1">
                <a:solidFill>
                  <a:srgbClr val="266E46"/>
                </a:solidFill>
                <a:latin typeface="Arial" panose="020B0604020202090204"/>
              </a:rPr>
              <a:t>① 1D · Sequence</a:t>
            </a:r>
            <a:endParaRPr sz="90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015999" y="666000"/>
            <a:ext cx="1296000" cy="612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266E46"/>
                </a:solidFill>
                <a:latin typeface="Arial" panose="020B0604020202090204"/>
              </a:rPr>
              <a:t>BPE Tokenizer</a:t>
            </a:r>
            <a:endParaRPr sz="950" b="1">
              <a:solidFill>
                <a:srgbClr val="266E46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266E46"/>
                </a:solidFill>
                <a:latin typeface="Arial" panose="020B0604020202090204"/>
              </a:rPr>
              <a:t>(AutoTokenizer)</a:t>
            </a:r>
            <a:endParaRPr sz="95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91999" y="666000"/>
            <a:ext cx="1296000" cy="612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266E46"/>
                </a:solidFill>
                <a:latin typeface="Arial" panose="020B0604020202090204"/>
              </a:rPr>
              <a:t>ChemBERTa-77M-MTR</a:t>
            </a:r>
            <a:endParaRPr sz="950" b="1">
              <a:solidFill>
                <a:srgbClr val="266E46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266E46"/>
                </a:solidFill>
                <a:latin typeface="Arial" panose="020B0604020202090204"/>
              </a:rPr>
              <a:t>(frozen)</a:t>
            </a:r>
            <a:endParaRPr sz="95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40000" y="270000"/>
            <a:ext cx="3240000" cy="1404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0" name="Freeform 9"/>
          <p:cNvSpPr/>
          <p:nvPr/>
        </p:nvSpPr>
        <p:spPr>
          <a:xfrm>
            <a:off x="1764000" y="972000"/>
            <a:ext cx="251999" cy="1692000"/>
          </a:xfrm>
          <a:custGeom>
            <a:avLst/>
            <a:gdLst/>
            <a:ahLst/>
            <a:cxnLst/>
            <a:rect l="l" t="t" r="r" b="b"/>
            <a:pathLst>
              <a:path w="251999" h="1692000">
                <a:moveTo>
                  <a:pt x="0" y="1692000"/>
                </a:moveTo>
                <a:lnTo>
                  <a:pt x="63000" y="1692000"/>
                </a:lnTo>
                <a:lnTo>
                  <a:pt x="77765" y="1691016"/>
                </a:lnTo>
                <a:lnTo>
                  <a:pt x="90562" y="1688063"/>
                </a:lnTo>
                <a:lnTo>
                  <a:pt x="101390" y="1683141"/>
                </a:lnTo>
                <a:lnTo>
                  <a:pt x="110250" y="1676250"/>
                </a:lnTo>
                <a:lnTo>
                  <a:pt x="117140" y="1667391"/>
                </a:lnTo>
                <a:lnTo>
                  <a:pt x="122062" y="1656563"/>
                </a:lnTo>
                <a:lnTo>
                  <a:pt x="125015" y="1643766"/>
                </a:lnTo>
                <a:lnTo>
                  <a:pt x="125999" y="1629000"/>
                </a:lnTo>
                <a:lnTo>
                  <a:pt x="125999" y="63000"/>
                </a:lnTo>
                <a:lnTo>
                  <a:pt x="126984" y="48234"/>
                </a:lnTo>
                <a:lnTo>
                  <a:pt x="129937" y="35437"/>
                </a:lnTo>
                <a:lnTo>
                  <a:pt x="134859" y="24609"/>
                </a:lnTo>
                <a:lnTo>
                  <a:pt x="141749" y="15750"/>
                </a:lnTo>
                <a:lnTo>
                  <a:pt x="150609" y="8859"/>
                </a:lnTo>
                <a:lnTo>
                  <a:pt x="161437" y="3937"/>
                </a:lnTo>
                <a:lnTo>
                  <a:pt x="174234" y="984"/>
                </a:lnTo>
                <a:lnTo>
                  <a:pt x="188999" y="0"/>
                </a:lnTo>
                <a:lnTo>
                  <a:pt x="251999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3311999" y="972000"/>
            <a:ext cx="180000" cy="0"/>
          </a:xfrm>
          <a:custGeom>
            <a:avLst/>
            <a:gdLst/>
            <a:ahLst/>
            <a:cxnLst/>
            <a:rect l="l" t="t" r="r" b="b"/>
            <a:pathLst>
              <a:path w="180000">
                <a:moveTo>
                  <a:pt x="0" y="0"/>
                </a:moveTo>
                <a:lnTo>
                  <a:pt x="180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4787999" y="972000"/>
            <a:ext cx="252001" cy="0"/>
          </a:xfrm>
          <a:custGeom>
            <a:avLst/>
            <a:gdLst/>
            <a:ahLst/>
            <a:cxnLst/>
            <a:rect l="l" t="t" r="r" b="b"/>
            <a:pathLst>
              <a:path w="252001">
                <a:moveTo>
                  <a:pt x="0" y="0"/>
                </a:moveTo>
                <a:lnTo>
                  <a:pt x="252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5999" y="2106000"/>
            <a:ext cx="252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00" b="1">
                <a:solidFill>
                  <a:srgbClr val="2854A2"/>
                </a:solidFill>
                <a:latin typeface="Arial" panose="020B0604020202090204"/>
              </a:rPr>
              <a:t>② 2D · Graph</a:t>
            </a:r>
            <a:endParaRPr sz="90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15999" y="2358000"/>
            <a:ext cx="1296000" cy="612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2854A2"/>
                </a:solidFill>
                <a:latin typeface="Arial" panose="020B0604020202090204"/>
              </a:rPr>
              <a:t>RDKit parse</a:t>
            </a:r>
            <a:endParaRPr sz="95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2854A2"/>
                </a:solidFill>
                <a:latin typeface="Arial" panose="020B0604020202090204"/>
              </a:rPr>
              <a:t>atoms · bonds</a:t>
            </a:r>
            <a:endParaRPr sz="95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491999" y="2358000"/>
            <a:ext cx="1296000" cy="612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2854A2"/>
                </a:solidFill>
                <a:latin typeface="Arial" panose="020B0604020202090204"/>
              </a:rPr>
              <a:t>Canonical atom/bond</a:t>
            </a:r>
            <a:endParaRPr sz="950" b="1">
              <a:solidFill>
                <a:srgbClr val="2854A2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2854A2"/>
                </a:solidFill>
                <a:latin typeface="Arial" panose="020B0604020202090204"/>
              </a:rPr>
              <a:t>featurizer → DGL graph</a:t>
            </a:r>
            <a:endParaRPr sz="950" b="1">
              <a:solidFill>
                <a:srgbClr val="2854A2"/>
              </a:solidFill>
              <a:latin typeface="Arial" panose="020B060402020209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40000" y="1962000"/>
            <a:ext cx="3240000" cy="1404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17" name="Freeform 16"/>
          <p:cNvSpPr/>
          <p:nvPr/>
        </p:nvSpPr>
        <p:spPr>
          <a:xfrm>
            <a:off x="1764000" y="2664000"/>
            <a:ext cx="251999" cy="0"/>
          </a:xfrm>
          <a:custGeom>
            <a:avLst/>
            <a:gdLst/>
            <a:ahLst/>
            <a:cxnLst/>
            <a:rect l="l" t="t" r="r" b="b"/>
            <a:pathLst>
              <a:path w="251999">
                <a:moveTo>
                  <a:pt x="0" y="0"/>
                </a:moveTo>
                <a:lnTo>
                  <a:pt x="251999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311999" y="2664000"/>
            <a:ext cx="180000" cy="0"/>
          </a:xfrm>
          <a:custGeom>
            <a:avLst/>
            <a:gdLst/>
            <a:ahLst/>
            <a:cxnLst/>
            <a:rect l="l" t="t" r="r" b="b"/>
            <a:pathLst>
              <a:path w="180000">
                <a:moveTo>
                  <a:pt x="0" y="0"/>
                </a:moveTo>
                <a:lnTo>
                  <a:pt x="180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787999" y="2664000"/>
            <a:ext cx="252001" cy="0"/>
          </a:xfrm>
          <a:custGeom>
            <a:avLst/>
            <a:gdLst/>
            <a:ahLst/>
            <a:cxnLst/>
            <a:rect l="l" t="t" r="r" b="b"/>
            <a:pathLst>
              <a:path w="252001">
                <a:moveTo>
                  <a:pt x="0" y="0"/>
                </a:moveTo>
                <a:lnTo>
                  <a:pt x="252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15999" y="3797999"/>
            <a:ext cx="252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00" b="1">
                <a:solidFill>
                  <a:srgbClr val="B06816"/>
                </a:solidFill>
                <a:latin typeface="Arial" panose="020B0604020202090204"/>
              </a:rPr>
              <a:t>③ 3D · Conformers</a:t>
            </a:r>
            <a:endParaRPr sz="90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015999" y="4050000"/>
            <a:ext cx="1296000" cy="612000"/>
          </a:xfrm>
          <a:prstGeom prst="roundRect">
            <a:avLst/>
          </a:prstGeom>
          <a:solidFill>
            <a:srgbClr val="FA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B06816"/>
                </a:solidFill>
                <a:latin typeface="Arial" panose="020B0604020202090204"/>
              </a:rPr>
              <a:t>AddHs + ETKDGv3</a:t>
            </a:r>
            <a:endParaRPr sz="950" b="1">
              <a:solidFill>
                <a:srgbClr val="B06816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B06816"/>
                </a:solidFill>
                <a:latin typeface="Arial" panose="020B0604020202090204"/>
              </a:rPr>
              <a:t>embed K confs</a:t>
            </a:r>
            <a:endParaRPr sz="95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491999" y="4050000"/>
            <a:ext cx="1296000" cy="612000"/>
          </a:xfrm>
          <a:prstGeom prst="roundRect">
            <a:avLst/>
          </a:prstGeom>
          <a:solidFill>
            <a:srgbClr val="FA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r>
              <a:rPr sz="950" b="1">
                <a:solidFill>
                  <a:srgbClr val="B06816"/>
                </a:solidFill>
                <a:latin typeface="Arial" panose="020B0604020202090204"/>
              </a:rPr>
              <a:t>UFF optimize</a:t>
            </a:r>
            <a:endParaRPr sz="950" b="1">
              <a:solidFill>
                <a:srgbClr val="B06816"/>
              </a:solidFill>
              <a:latin typeface="Arial" panose="020B0604020202090204"/>
            </a:endParaRPr>
          </a:p>
          <a:p>
            <a:pPr algn="ctr"/>
            <a:r>
              <a:rPr sz="950" b="1">
                <a:solidFill>
                  <a:srgbClr val="B06816"/>
                </a:solidFill>
                <a:latin typeface="Arial" panose="020B0604020202090204"/>
              </a:rPr>
              <a:t>+ energy</a:t>
            </a:r>
            <a:endParaRPr sz="950" b="1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40000" y="3654000"/>
            <a:ext cx="3240000" cy="1404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24" name="Freeform 23"/>
          <p:cNvSpPr/>
          <p:nvPr/>
        </p:nvSpPr>
        <p:spPr>
          <a:xfrm>
            <a:off x="1764000" y="2664000"/>
            <a:ext cx="251999" cy="1692000"/>
          </a:xfrm>
          <a:custGeom>
            <a:avLst/>
            <a:gdLst/>
            <a:ahLst/>
            <a:cxnLst/>
            <a:rect l="l" t="t" r="r" b="b"/>
            <a:pathLst>
              <a:path w="251999" h="1692000">
                <a:moveTo>
                  <a:pt x="0" y="0"/>
                </a:moveTo>
                <a:lnTo>
                  <a:pt x="63000" y="0"/>
                </a:lnTo>
                <a:lnTo>
                  <a:pt x="77765" y="984"/>
                </a:lnTo>
                <a:lnTo>
                  <a:pt x="90562" y="3937"/>
                </a:lnTo>
                <a:lnTo>
                  <a:pt x="101390" y="8859"/>
                </a:lnTo>
                <a:lnTo>
                  <a:pt x="110250" y="15750"/>
                </a:lnTo>
                <a:lnTo>
                  <a:pt x="117140" y="24609"/>
                </a:lnTo>
                <a:lnTo>
                  <a:pt x="122062" y="35437"/>
                </a:lnTo>
                <a:lnTo>
                  <a:pt x="125015" y="48234"/>
                </a:lnTo>
                <a:lnTo>
                  <a:pt x="125999" y="63000"/>
                </a:lnTo>
                <a:lnTo>
                  <a:pt x="125999" y="1629000"/>
                </a:lnTo>
                <a:lnTo>
                  <a:pt x="126984" y="1643766"/>
                </a:lnTo>
                <a:lnTo>
                  <a:pt x="129937" y="1656563"/>
                </a:lnTo>
                <a:lnTo>
                  <a:pt x="134859" y="1667391"/>
                </a:lnTo>
                <a:lnTo>
                  <a:pt x="141749" y="1676250"/>
                </a:lnTo>
                <a:lnTo>
                  <a:pt x="150609" y="1683141"/>
                </a:lnTo>
                <a:lnTo>
                  <a:pt x="161437" y="1688063"/>
                </a:lnTo>
                <a:lnTo>
                  <a:pt x="174234" y="1691016"/>
                </a:lnTo>
                <a:lnTo>
                  <a:pt x="188999" y="1692000"/>
                </a:lnTo>
                <a:lnTo>
                  <a:pt x="251999" y="1692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3311999" y="4356000"/>
            <a:ext cx="180000" cy="0"/>
          </a:xfrm>
          <a:custGeom>
            <a:avLst/>
            <a:gdLst/>
            <a:ahLst/>
            <a:cxnLst/>
            <a:rect l="l" t="t" r="r" b="b"/>
            <a:pathLst>
              <a:path w="180000">
                <a:moveTo>
                  <a:pt x="0" y="0"/>
                </a:moveTo>
                <a:lnTo>
                  <a:pt x="180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787999" y="4356000"/>
            <a:ext cx="252001" cy="0"/>
          </a:xfrm>
          <a:custGeom>
            <a:avLst/>
            <a:gdLst/>
            <a:ahLst/>
            <a:cxnLst/>
            <a:rect l="l" t="t" r="r" b="b"/>
            <a:pathLst>
              <a:path w="252001">
                <a:moveTo>
                  <a:pt x="0" y="0"/>
                </a:moveTo>
                <a:lnTo>
                  <a:pt x="252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000" y="342000"/>
            <a:ext cx="216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50" b="1">
                <a:solidFill>
                  <a:srgbClr val="266E46"/>
                </a:solidFill>
                <a:latin typeface="Arial" panose="020B0604020202090204"/>
              </a:rPr>
              <a:t>1D Semantic Tokens</a:t>
            </a:r>
            <a:endParaRPr sz="950" b="1">
              <a:solidFill>
                <a:srgbClr val="266E46"/>
              </a:solidFill>
              <a:latin typeface="Arial" panose="020B060402020209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544000" y="612000"/>
            <a:ext cx="85846" cy="65250"/>
          </a:xfrm>
          <a:prstGeom prst="rect">
            <a:avLst/>
          </a:prstGeom>
          <a:solidFill>
            <a:srgbClr val="BEE0C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29846" y="612000"/>
            <a:ext cx="85846" cy="65250"/>
          </a:xfrm>
          <a:prstGeom prst="rect">
            <a:avLst/>
          </a:prstGeom>
          <a:solidFill>
            <a:srgbClr val="D6EC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15692" y="612000"/>
            <a:ext cx="85846" cy="65250"/>
          </a:xfrm>
          <a:prstGeom prst="rect">
            <a:avLst/>
          </a:prstGeom>
          <a:solidFill>
            <a:srgbClr val="90CBA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01538" y="612000"/>
            <a:ext cx="85846" cy="65250"/>
          </a:xfrm>
          <a:prstGeom prst="rect">
            <a:avLst/>
          </a:prstGeom>
          <a:solidFill>
            <a:srgbClr val="E1F1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87384" y="612000"/>
            <a:ext cx="85846" cy="65250"/>
          </a:xfrm>
          <a:prstGeom prst="rect">
            <a:avLst/>
          </a:prstGeom>
          <a:solidFill>
            <a:srgbClr val="A0D2B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73230" y="612000"/>
            <a:ext cx="85846" cy="65250"/>
          </a:xfrm>
          <a:prstGeom prst="rect">
            <a:avLst/>
          </a:prstGeom>
          <a:solidFill>
            <a:srgbClr val="B8DD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59076" y="612000"/>
            <a:ext cx="85846" cy="65250"/>
          </a:xfrm>
          <a:prstGeom prst="rect">
            <a:avLst/>
          </a:prstGeom>
          <a:solidFill>
            <a:srgbClr val="E3F2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44923" y="612000"/>
            <a:ext cx="85846" cy="65250"/>
          </a:xfrm>
          <a:prstGeom prst="rect">
            <a:avLst/>
          </a:prstGeom>
          <a:solidFill>
            <a:srgbClr val="A4D4B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0769" y="612000"/>
            <a:ext cx="85846" cy="65250"/>
          </a:xfrm>
          <a:prstGeom prst="rect">
            <a:avLst/>
          </a:prstGeom>
          <a:solidFill>
            <a:srgbClr val="E6F3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16615" y="612000"/>
            <a:ext cx="85846" cy="65250"/>
          </a:xfrm>
          <a:prstGeom prst="rect">
            <a:avLst/>
          </a:prstGeom>
          <a:solidFill>
            <a:srgbClr val="AED9C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2461" y="612000"/>
            <a:ext cx="85846" cy="65250"/>
          </a:xfrm>
          <a:prstGeom prst="rect">
            <a:avLst/>
          </a:prstGeom>
          <a:solidFill>
            <a:srgbClr val="E1F1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88307" y="612000"/>
            <a:ext cx="85846" cy="65250"/>
          </a:xfrm>
          <a:prstGeom prst="rect">
            <a:avLst/>
          </a:prstGeom>
          <a:solidFill>
            <a:srgbClr val="DFF0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74153" y="612000"/>
            <a:ext cx="85846" cy="65250"/>
          </a:xfrm>
          <a:prstGeom prst="rect">
            <a:avLst/>
          </a:prstGeom>
          <a:solidFill>
            <a:srgbClr val="B0D9C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60000" y="612000"/>
            <a:ext cx="85846" cy="65250"/>
          </a:xfrm>
          <a:prstGeom prst="rect">
            <a:avLst/>
          </a:prstGeom>
          <a:solidFill>
            <a:srgbClr val="77BF9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745846" y="612000"/>
            <a:ext cx="85846" cy="65250"/>
          </a:xfrm>
          <a:prstGeom prst="rect">
            <a:avLst/>
          </a:prstGeom>
          <a:solidFill>
            <a:srgbClr val="DAED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31692" y="612000"/>
            <a:ext cx="85846" cy="65250"/>
          </a:xfrm>
          <a:prstGeom prst="rect">
            <a:avLst/>
          </a:prstGeom>
          <a:solidFill>
            <a:srgbClr val="CCE7D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17538" y="612000"/>
            <a:ext cx="85846" cy="65250"/>
          </a:xfrm>
          <a:prstGeom prst="rect">
            <a:avLst/>
          </a:prstGeom>
          <a:solidFill>
            <a:srgbClr val="93CCA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03384" y="612000"/>
            <a:ext cx="85846" cy="65250"/>
          </a:xfrm>
          <a:prstGeom prst="rect">
            <a:avLst/>
          </a:prstGeom>
          <a:solidFill>
            <a:srgbClr val="66B78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89230" y="612000"/>
            <a:ext cx="85846" cy="65250"/>
          </a:xfrm>
          <a:prstGeom prst="rect">
            <a:avLst/>
          </a:prstGeom>
          <a:solidFill>
            <a:srgbClr val="9ACFB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75076" y="612000"/>
            <a:ext cx="85846" cy="65250"/>
          </a:xfrm>
          <a:prstGeom prst="rect">
            <a:avLst/>
          </a:prstGeom>
          <a:solidFill>
            <a:srgbClr val="B3DBC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60923" y="612000"/>
            <a:ext cx="85846" cy="65250"/>
          </a:xfrm>
          <a:prstGeom prst="rect">
            <a:avLst/>
          </a:prstGeom>
          <a:solidFill>
            <a:srgbClr val="62B58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46769" y="612000"/>
            <a:ext cx="85846" cy="65250"/>
          </a:xfrm>
          <a:prstGeom prst="rect">
            <a:avLst/>
          </a:prstGeom>
          <a:solidFill>
            <a:srgbClr val="E5F2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432615" y="612000"/>
            <a:ext cx="85846" cy="65250"/>
          </a:xfrm>
          <a:prstGeom prst="rect">
            <a:avLst/>
          </a:prstGeom>
          <a:solidFill>
            <a:srgbClr val="72BD9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518461" y="612000"/>
            <a:ext cx="85846" cy="65250"/>
          </a:xfrm>
          <a:prstGeom prst="rect">
            <a:avLst/>
          </a:prstGeom>
          <a:solidFill>
            <a:srgbClr val="C3E2D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04307" y="612000"/>
            <a:ext cx="85846" cy="65250"/>
          </a:xfrm>
          <a:prstGeom prst="rect">
            <a:avLst/>
          </a:prstGeom>
          <a:solidFill>
            <a:srgbClr val="D7EC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90153" y="612000"/>
            <a:ext cx="85846" cy="65250"/>
          </a:xfrm>
          <a:prstGeom prst="rect">
            <a:avLst/>
          </a:prstGeom>
          <a:solidFill>
            <a:srgbClr val="DBEE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544000" y="677250"/>
            <a:ext cx="85846" cy="65250"/>
          </a:xfrm>
          <a:prstGeom prst="rect">
            <a:avLst/>
          </a:prstGeom>
          <a:solidFill>
            <a:srgbClr val="C0E1D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29846" y="677250"/>
            <a:ext cx="85846" cy="65250"/>
          </a:xfrm>
          <a:prstGeom prst="rect">
            <a:avLst/>
          </a:prstGeom>
          <a:solidFill>
            <a:srgbClr val="78C09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15692" y="677250"/>
            <a:ext cx="85846" cy="65250"/>
          </a:xfrm>
          <a:prstGeom prst="rect">
            <a:avLst/>
          </a:prstGeom>
          <a:solidFill>
            <a:srgbClr val="D2EA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01538" y="677250"/>
            <a:ext cx="85846" cy="65250"/>
          </a:xfrm>
          <a:prstGeom prst="rect">
            <a:avLst/>
          </a:prstGeom>
          <a:solidFill>
            <a:srgbClr val="99CFB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887384" y="677250"/>
            <a:ext cx="85846" cy="65250"/>
          </a:xfrm>
          <a:prstGeom prst="rect">
            <a:avLst/>
          </a:prstGeom>
          <a:solidFill>
            <a:srgbClr val="91CBA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73230" y="677250"/>
            <a:ext cx="85846" cy="65250"/>
          </a:xfrm>
          <a:prstGeom prst="rect">
            <a:avLst/>
          </a:prstGeom>
          <a:solidFill>
            <a:srgbClr val="B7DD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59076" y="677250"/>
            <a:ext cx="85846" cy="65250"/>
          </a:xfrm>
          <a:prstGeom prst="rect">
            <a:avLst/>
          </a:prstGeom>
          <a:solidFill>
            <a:srgbClr val="9ED1B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44923" y="677250"/>
            <a:ext cx="85846" cy="65250"/>
          </a:xfrm>
          <a:prstGeom prst="rect">
            <a:avLst/>
          </a:prstGeom>
          <a:solidFill>
            <a:srgbClr val="E2F1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30769" y="677250"/>
            <a:ext cx="85846" cy="65250"/>
          </a:xfrm>
          <a:prstGeom prst="rect">
            <a:avLst/>
          </a:prstGeom>
          <a:solidFill>
            <a:srgbClr val="E3F2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16615" y="677250"/>
            <a:ext cx="85846" cy="65250"/>
          </a:xfrm>
          <a:prstGeom prst="rect">
            <a:avLst/>
          </a:prstGeom>
          <a:solidFill>
            <a:srgbClr val="CEE8D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402461" y="677250"/>
            <a:ext cx="85846" cy="65250"/>
          </a:xfrm>
          <a:prstGeom prst="rect">
            <a:avLst/>
          </a:prstGeom>
          <a:solidFill>
            <a:srgbClr val="8BC9A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88307" y="677250"/>
            <a:ext cx="85846" cy="65250"/>
          </a:xfrm>
          <a:prstGeom prst="rect">
            <a:avLst/>
          </a:prstGeom>
          <a:solidFill>
            <a:srgbClr val="AFD9C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574153" y="677250"/>
            <a:ext cx="85846" cy="65250"/>
          </a:xfrm>
          <a:prstGeom prst="rect">
            <a:avLst/>
          </a:prstGeom>
          <a:solidFill>
            <a:srgbClr val="BFE1C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660000" y="677250"/>
            <a:ext cx="85846" cy="65250"/>
          </a:xfrm>
          <a:prstGeom prst="rect">
            <a:avLst/>
          </a:prstGeom>
          <a:solidFill>
            <a:srgbClr val="99CFB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745846" y="677250"/>
            <a:ext cx="85846" cy="65250"/>
          </a:xfrm>
          <a:prstGeom prst="rect">
            <a:avLst/>
          </a:prstGeom>
          <a:solidFill>
            <a:srgbClr val="ABD8C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31692" y="677250"/>
            <a:ext cx="85846" cy="65250"/>
          </a:xfrm>
          <a:prstGeom prst="rect">
            <a:avLst/>
          </a:prstGeom>
          <a:solidFill>
            <a:srgbClr val="C1E2D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17538" y="677250"/>
            <a:ext cx="85846" cy="65250"/>
          </a:xfrm>
          <a:prstGeom prst="rect">
            <a:avLst/>
          </a:prstGeom>
          <a:solidFill>
            <a:srgbClr val="7BC19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03384" y="677250"/>
            <a:ext cx="85846" cy="65250"/>
          </a:xfrm>
          <a:prstGeom prst="rect">
            <a:avLst/>
          </a:prstGeom>
          <a:solidFill>
            <a:srgbClr val="89C7A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089230" y="677250"/>
            <a:ext cx="85846" cy="65250"/>
          </a:xfrm>
          <a:prstGeom prst="rect">
            <a:avLst/>
          </a:prstGeom>
          <a:solidFill>
            <a:srgbClr val="C9E5D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75076" y="677250"/>
            <a:ext cx="85846" cy="65250"/>
          </a:xfrm>
          <a:prstGeom prst="rect">
            <a:avLst/>
          </a:prstGeom>
          <a:solidFill>
            <a:srgbClr val="9AD0B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260923" y="677250"/>
            <a:ext cx="85846" cy="65250"/>
          </a:xfrm>
          <a:prstGeom prst="rect">
            <a:avLst/>
          </a:prstGeom>
          <a:solidFill>
            <a:srgbClr val="A1D3B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46769" y="677250"/>
            <a:ext cx="85846" cy="65250"/>
          </a:xfrm>
          <a:prstGeom prst="rect">
            <a:avLst/>
          </a:prstGeom>
          <a:solidFill>
            <a:srgbClr val="70BC9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32615" y="677250"/>
            <a:ext cx="85846" cy="65250"/>
          </a:xfrm>
          <a:prstGeom prst="rect">
            <a:avLst/>
          </a:prstGeom>
          <a:solidFill>
            <a:srgbClr val="85C5A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518461" y="677250"/>
            <a:ext cx="85846" cy="65250"/>
          </a:xfrm>
          <a:prstGeom prst="rect">
            <a:avLst/>
          </a:prstGeom>
          <a:solidFill>
            <a:srgbClr val="C3E2D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604307" y="677250"/>
            <a:ext cx="85846" cy="65250"/>
          </a:xfrm>
          <a:prstGeom prst="rect">
            <a:avLst/>
          </a:prstGeom>
          <a:solidFill>
            <a:srgbClr val="61B58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690153" y="677250"/>
            <a:ext cx="85846" cy="65250"/>
          </a:xfrm>
          <a:prstGeom prst="rect">
            <a:avLst/>
          </a:prstGeom>
          <a:solidFill>
            <a:srgbClr val="DBEE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544000" y="742500"/>
            <a:ext cx="85846" cy="65250"/>
          </a:xfrm>
          <a:prstGeom prst="rect">
            <a:avLst/>
          </a:prstGeom>
          <a:solidFill>
            <a:srgbClr val="B0DA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629846" y="742500"/>
            <a:ext cx="85846" cy="65250"/>
          </a:xfrm>
          <a:prstGeom prst="rect">
            <a:avLst/>
          </a:prstGeom>
          <a:solidFill>
            <a:srgbClr val="81C4A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715692" y="742500"/>
            <a:ext cx="85846" cy="65250"/>
          </a:xfrm>
          <a:prstGeom prst="rect">
            <a:avLst/>
          </a:prstGeom>
          <a:solidFill>
            <a:srgbClr val="D6EB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801538" y="742500"/>
            <a:ext cx="85846" cy="65250"/>
          </a:xfrm>
          <a:prstGeom prst="rect">
            <a:avLst/>
          </a:prstGeom>
          <a:solidFill>
            <a:srgbClr val="A6D5B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887384" y="742500"/>
            <a:ext cx="85846" cy="65250"/>
          </a:xfrm>
          <a:prstGeom prst="rect">
            <a:avLst/>
          </a:prstGeom>
          <a:solidFill>
            <a:srgbClr val="E6F3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973230" y="742500"/>
            <a:ext cx="85846" cy="65250"/>
          </a:xfrm>
          <a:prstGeom prst="rect">
            <a:avLst/>
          </a:prstGeom>
          <a:solidFill>
            <a:srgbClr val="8DC9A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059076" y="742500"/>
            <a:ext cx="85846" cy="65250"/>
          </a:xfrm>
          <a:prstGeom prst="rect">
            <a:avLst/>
          </a:prstGeom>
          <a:solidFill>
            <a:srgbClr val="80C39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44923" y="742500"/>
            <a:ext cx="85846" cy="65250"/>
          </a:xfrm>
          <a:prstGeom prst="rect">
            <a:avLst/>
          </a:prstGeom>
          <a:solidFill>
            <a:srgbClr val="9BD0B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230769" y="742500"/>
            <a:ext cx="85846" cy="65250"/>
          </a:xfrm>
          <a:prstGeom prst="rect">
            <a:avLst/>
          </a:prstGeom>
          <a:solidFill>
            <a:srgbClr val="70BC9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16615" y="742500"/>
            <a:ext cx="85846" cy="65250"/>
          </a:xfrm>
          <a:prstGeom prst="rect">
            <a:avLst/>
          </a:prstGeom>
          <a:solidFill>
            <a:srgbClr val="BFE1C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02461" y="742500"/>
            <a:ext cx="85846" cy="65250"/>
          </a:xfrm>
          <a:prstGeom prst="rect">
            <a:avLst/>
          </a:prstGeom>
          <a:solidFill>
            <a:srgbClr val="89C8A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88307" y="742500"/>
            <a:ext cx="85846" cy="65250"/>
          </a:xfrm>
          <a:prstGeom prst="rect">
            <a:avLst/>
          </a:prstGeom>
          <a:solidFill>
            <a:srgbClr val="98CEB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574153" y="742500"/>
            <a:ext cx="85846" cy="65250"/>
          </a:xfrm>
          <a:prstGeom prst="rect">
            <a:avLst/>
          </a:prstGeom>
          <a:solidFill>
            <a:srgbClr val="9ACFB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660000" y="742500"/>
            <a:ext cx="85846" cy="65250"/>
          </a:xfrm>
          <a:prstGeom prst="rect">
            <a:avLst/>
          </a:prstGeom>
          <a:solidFill>
            <a:srgbClr val="ABD7C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745846" y="742500"/>
            <a:ext cx="85846" cy="65250"/>
          </a:xfrm>
          <a:prstGeom prst="rect">
            <a:avLst/>
          </a:prstGeom>
          <a:solidFill>
            <a:srgbClr val="75BE9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831692" y="742500"/>
            <a:ext cx="85846" cy="65250"/>
          </a:xfrm>
          <a:prstGeom prst="rect">
            <a:avLst/>
          </a:prstGeom>
          <a:solidFill>
            <a:srgbClr val="66B78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917538" y="742500"/>
            <a:ext cx="85846" cy="65250"/>
          </a:xfrm>
          <a:prstGeom prst="rect">
            <a:avLst/>
          </a:prstGeom>
          <a:solidFill>
            <a:srgbClr val="A9D6B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03384" y="742500"/>
            <a:ext cx="85846" cy="65250"/>
          </a:xfrm>
          <a:prstGeom prst="rect">
            <a:avLst/>
          </a:prstGeom>
          <a:solidFill>
            <a:srgbClr val="8ECAA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089230" y="742500"/>
            <a:ext cx="85846" cy="65250"/>
          </a:xfrm>
          <a:prstGeom prst="rect">
            <a:avLst/>
          </a:prstGeom>
          <a:solidFill>
            <a:srgbClr val="E3F1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175076" y="742500"/>
            <a:ext cx="85846" cy="65250"/>
          </a:xfrm>
          <a:prstGeom prst="rect">
            <a:avLst/>
          </a:prstGeom>
          <a:solidFill>
            <a:srgbClr val="89C7A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260923" y="742500"/>
            <a:ext cx="85846" cy="65250"/>
          </a:xfrm>
          <a:prstGeom prst="rect">
            <a:avLst/>
          </a:prstGeom>
          <a:solidFill>
            <a:srgbClr val="90CBA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346769" y="742500"/>
            <a:ext cx="85846" cy="65250"/>
          </a:xfrm>
          <a:prstGeom prst="rect">
            <a:avLst/>
          </a:prstGeom>
          <a:solidFill>
            <a:srgbClr val="5FB48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32615" y="742500"/>
            <a:ext cx="85846" cy="65250"/>
          </a:xfrm>
          <a:prstGeom prst="rect">
            <a:avLst/>
          </a:prstGeom>
          <a:solidFill>
            <a:srgbClr val="78BF9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518461" y="742500"/>
            <a:ext cx="85846" cy="65250"/>
          </a:xfrm>
          <a:prstGeom prst="rect">
            <a:avLst/>
          </a:prstGeom>
          <a:solidFill>
            <a:srgbClr val="C3E3D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604307" y="742500"/>
            <a:ext cx="85846" cy="65250"/>
          </a:xfrm>
          <a:prstGeom prst="rect">
            <a:avLst/>
          </a:prstGeom>
          <a:solidFill>
            <a:srgbClr val="B5DC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690153" y="742500"/>
            <a:ext cx="85846" cy="65250"/>
          </a:xfrm>
          <a:prstGeom prst="rect">
            <a:avLst/>
          </a:prstGeom>
          <a:solidFill>
            <a:srgbClr val="8DC9A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44000" y="807750"/>
            <a:ext cx="85846" cy="65250"/>
          </a:xfrm>
          <a:prstGeom prst="rect">
            <a:avLst/>
          </a:prstGeom>
          <a:solidFill>
            <a:srgbClr val="E8F4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629846" y="807750"/>
            <a:ext cx="85846" cy="65250"/>
          </a:xfrm>
          <a:prstGeom prst="rect">
            <a:avLst/>
          </a:prstGeom>
          <a:solidFill>
            <a:srgbClr val="AAD7B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715692" y="807750"/>
            <a:ext cx="85846" cy="65250"/>
          </a:xfrm>
          <a:prstGeom prst="rect">
            <a:avLst/>
          </a:prstGeom>
          <a:solidFill>
            <a:srgbClr val="D4EA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801538" y="807750"/>
            <a:ext cx="85846" cy="65250"/>
          </a:xfrm>
          <a:prstGeom prst="rect">
            <a:avLst/>
          </a:prstGeom>
          <a:solidFill>
            <a:srgbClr val="DBEE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887384" y="807750"/>
            <a:ext cx="85846" cy="65250"/>
          </a:xfrm>
          <a:prstGeom prst="rect">
            <a:avLst/>
          </a:prstGeom>
          <a:solidFill>
            <a:srgbClr val="E3F2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973230" y="807750"/>
            <a:ext cx="85846" cy="65250"/>
          </a:xfrm>
          <a:prstGeom prst="rect">
            <a:avLst/>
          </a:prstGeom>
          <a:solidFill>
            <a:srgbClr val="7FC39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059076" y="807750"/>
            <a:ext cx="85846" cy="65250"/>
          </a:xfrm>
          <a:prstGeom prst="rect">
            <a:avLst/>
          </a:prstGeom>
          <a:solidFill>
            <a:srgbClr val="D9EDE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144923" y="807750"/>
            <a:ext cx="85846" cy="65250"/>
          </a:xfrm>
          <a:prstGeom prst="rect">
            <a:avLst/>
          </a:prstGeom>
          <a:solidFill>
            <a:srgbClr val="C8E5D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230769" y="807750"/>
            <a:ext cx="85846" cy="65250"/>
          </a:xfrm>
          <a:prstGeom prst="rect">
            <a:avLst/>
          </a:prstGeom>
          <a:solidFill>
            <a:srgbClr val="B4DC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316615" y="807750"/>
            <a:ext cx="85846" cy="65250"/>
          </a:xfrm>
          <a:prstGeom prst="rect">
            <a:avLst/>
          </a:prstGeom>
          <a:solidFill>
            <a:srgbClr val="71BC9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2461" y="807750"/>
            <a:ext cx="85846" cy="65250"/>
          </a:xfrm>
          <a:prstGeom prst="rect">
            <a:avLst/>
          </a:prstGeom>
          <a:solidFill>
            <a:srgbClr val="E0F0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488307" y="807750"/>
            <a:ext cx="85846" cy="65250"/>
          </a:xfrm>
          <a:prstGeom prst="rect">
            <a:avLst/>
          </a:prstGeom>
          <a:solidFill>
            <a:srgbClr val="ACD8C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574153" y="807750"/>
            <a:ext cx="85846" cy="65250"/>
          </a:xfrm>
          <a:prstGeom prst="rect">
            <a:avLst/>
          </a:prstGeom>
          <a:solidFill>
            <a:srgbClr val="9ED1B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660000" y="807750"/>
            <a:ext cx="85846" cy="65250"/>
          </a:xfrm>
          <a:prstGeom prst="rect">
            <a:avLst/>
          </a:prstGeom>
          <a:solidFill>
            <a:srgbClr val="6FBB9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745846" y="807750"/>
            <a:ext cx="85846" cy="65250"/>
          </a:xfrm>
          <a:prstGeom prst="rect">
            <a:avLst/>
          </a:prstGeom>
          <a:solidFill>
            <a:srgbClr val="78BF9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831692" y="807750"/>
            <a:ext cx="85846" cy="65250"/>
          </a:xfrm>
          <a:prstGeom prst="rect">
            <a:avLst/>
          </a:prstGeom>
          <a:solidFill>
            <a:srgbClr val="72BC9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917538" y="807750"/>
            <a:ext cx="85846" cy="65250"/>
          </a:xfrm>
          <a:prstGeom prst="rect">
            <a:avLst/>
          </a:prstGeom>
          <a:solidFill>
            <a:srgbClr val="C4E3D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003384" y="807750"/>
            <a:ext cx="85846" cy="65250"/>
          </a:xfrm>
          <a:prstGeom prst="rect">
            <a:avLst/>
          </a:prstGeom>
          <a:solidFill>
            <a:srgbClr val="B1DA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089230" y="807750"/>
            <a:ext cx="85846" cy="65250"/>
          </a:xfrm>
          <a:prstGeom prst="rect">
            <a:avLst/>
          </a:prstGeom>
          <a:solidFill>
            <a:srgbClr val="B9DE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75076" y="807750"/>
            <a:ext cx="85846" cy="65250"/>
          </a:xfrm>
          <a:prstGeom prst="rect">
            <a:avLst/>
          </a:prstGeom>
          <a:solidFill>
            <a:srgbClr val="6FBB9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60923" y="807750"/>
            <a:ext cx="85846" cy="65250"/>
          </a:xfrm>
          <a:prstGeom prst="rect">
            <a:avLst/>
          </a:prstGeom>
          <a:solidFill>
            <a:srgbClr val="64B68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346769" y="807750"/>
            <a:ext cx="85846" cy="65250"/>
          </a:xfrm>
          <a:prstGeom prst="rect">
            <a:avLst/>
          </a:prstGeom>
          <a:solidFill>
            <a:srgbClr val="D6EC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32615" y="807750"/>
            <a:ext cx="85846" cy="65250"/>
          </a:xfrm>
          <a:prstGeom prst="rect">
            <a:avLst/>
          </a:prstGeom>
          <a:solidFill>
            <a:srgbClr val="D2EA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7518461" y="807750"/>
            <a:ext cx="85846" cy="65250"/>
          </a:xfrm>
          <a:prstGeom prst="rect">
            <a:avLst/>
          </a:prstGeom>
          <a:solidFill>
            <a:srgbClr val="CBE6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04307" y="807750"/>
            <a:ext cx="85846" cy="65250"/>
          </a:xfrm>
          <a:prstGeom prst="rect">
            <a:avLst/>
          </a:prstGeom>
          <a:solidFill>
            <a:srgbClr val="CAE6D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690153" y="807750"/>
            <a:ext cx="85846" cy="65250"/>
          </a:xfrm>
          <a:prstGeom prst="rect">
            <a:avLst/>
          </a:prstGeom>
          <a:solidFill>
            <a:srgbClr val="A7D5B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544000" y="873000"/>
            <a:ext cx="85846" cy="65250"/>
          </a:xfrm>
          <a:prstGeom prst="rect">
            <a:avLst/>
          </a:prstGeom>
          <a:solidFill>
            <a:srgbClr val="98CFB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29846" y="873000"/>
            <a:ext cx="85846" cy="65250"/>
          </a:xfrm>
          <a:prstGeom prst="rect">
            <a:avLst/>
          </a:prstGeom>
          <a:solidFill>
            <a:srgbClr val="C6E4D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715692" y="873000"/>
            <a:ext cx="85846" cy="65250"/>
          </a:xfrm>
          <a:prstGeom prst="rect">
            <a:avLst/>
          </a:prstGeom>
          <a:solidFill>
            <a:srgbClr val="EBF5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801538" y="873000"/>
            <a:ext cx="85846" cy="65250"/>
          </a:xfrm>
          <a:prstGeom prst="rect">
            <a:avLst/>
          </a:prstGeom>
          <a:solidFill>
            <a:srgbClr val="B0DA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887384" y="873000"/>
            <a:ext cx="85846" cy="65250"/>
          </a:xfrm>
          <a:prstGeom prst="rect">
            <a:avLst/>
          </a:prstGeom>
          <a:solidFill>
            <a:srgbClr val="B7DD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973230" y="873000"/>
            <a:ext cx="85846" cy="65250"/>
          </a:xfrm>
          <a:prstGeom prst="rect">
            <a:avLst/>
          </a:prstGeom>
          <a:solidFill>
            <a:srgbClr val="9CD0B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059076" y="873000"/>
            <a:ext cx="85846" cy="65250"/>
          </a:xfrm>
          <a:prstGeom prst="rect">
            <a:avLst/>
          </a:prstGeom>
          <a:solidFill>
            <a:srgbClr val="65B78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144923" y="873000"/>
            <a:ext cx="85846" cy="65250"/>
          </a:xfrm>
          <a:prstGeom prst="rect">
            <a:avLst/>
          </a:prstGeom>
          <a:solidFill>
            <a:srgbClr val="8AC8A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230769" y="873000"/>
            <a:ext cx="85846" cy="65250"/>
          </a:xfrm>
          <a:prstGeom prst="rect">
            <a:avLst/>
          </a:prstGeom>
          <a:solidFill>
            <a:srgbClr val="A3D3B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316615" y="873000"/>
            <a:ext cx="85846" cy="65250"/>
          </a:xfrm>
          <a:prstGeom prst="rect">
            <a:avLst/>
          </a:prstGeom>
          <a:solidFill>
            <a:srgbClr val="94CDA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402461" y="873000"/>
            <a:ext cx="85846" cy="65250"/>
          </a:xfrm>
          <a:prstGeom prst="rect">
            <a:avLst/>
          </a:prstGeom>
          <a:solidFill>
            <a:srgbClr val="8CC9A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488307" y="873000"/>
            <a:ext cx="85846" cy="65250"/>
          </a:xfrm>
          <a:prstGeom prst="rect">
            <a:avLst/>
          </a:prstGeom>
          <a:solidFill>
            <a:srgbClr val="E4F2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6574153" y="873000"/>
            <a:ext cx="85846" cy="65250"/>
          </a:xfrm>
          <a:prstGeom prst="rect">
            <a:avLst/>
          </a:prstGeom>
          <a:solidFill>
            <a:srgbClr val="6DBA9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660000" y="873000"/>
            <a:ext cx="85846" cy="65250"/>
          </a:xfrm>
          <a:prstGeom prst="rect">
            <a:avLst/>
          </a:prstGeom>
          <a:solidFill>
            <a:srgbClr val="7DC29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745846" y="873000"/>
            <a:ext cx="85846" cy="65250"/>
          </a:xfrm>
          <a:prstGeom prst="rect">
            <a:avLst/>
          </a:prstGeom>
          <a:solidFill>
            <a:srgbClr val="70BC9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831692" y="873000"/>
            <a:ext cx="85846" cy="65250"/>
          </a:xfrm>
          <a:prstGeom prst="rect">
            <a:avLst/>
          </a:prstGeom>
          <a:solidFill>
            <a:srgbClr val="7BC19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917538" y="873000"/>
            <a:ext cx="85846" cy="65250"/>
          </a:xfrm>
          <a:prstGeom prst="rect">
            <a:avLst/>
          </a:prstGeom>
          <a:solidFill>
            <a:srgbClr val="B4DC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003384" y="873000"/>
            <a:ext cx="85846" cy="65250"/>
          </a:xfrm>
          <a:prstGeom prst="rect">
            <a:avLst/>
          </a:prstGeom>
          <a:solidFill>
            <a:srgbClr val="B3DBC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089230" y="873000"/>
            <a:ext cx="85846" cy="65250"/>
          </a:xfrm>
          <a:prstGeom prst="rect">
            <a:avLst/>
          </a:prstGeom>
          <a:solidFill>
            <a:srgbClr val="DDEFE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175076" y="873000"/>
            <a:ext cx="85846" cy="65250"/>
          </a:xfrm>
          <a:prstGeom prst="rect">
            <a:avLst/>
          </a:prstGeom>
          <a:solidFill>
            <a:srgbClr val="92CCA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260923" y="873000"/>
            <a:ext cx="85846" cy="65250"/>
          </a:xfrm>
          <a:prstGeom prst="rect">
            <a:avLst/>
          </a:prstGeom>
          <a:solidFill>
            <a:srgbClr val="E3F1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7346769" y="873000"/>
            <a:ext cx="85846" cy="65250"/>
          </a:xfrm>
          <a:prstGeom prst="rect">
            <a:avLst/>
          </a:prstGeom>
          <a:solidFill>
            <a:srgbClr val="E2F1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432615" y="873000"/>
            <a:ext cx="85846" cy="65250"/>
          </a:xfrm>
          <a:prstGeom prst="rect">
            <a:avLst/>
          </a:prstGeom>
          <a:solidFill>
            <a:srgbClr val="CEE8D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518461" y="873000"/>
            <a:ext cx="85846" cy="65250"/>
          </a:xfrm>
          <a:prstGeom prst="rect">
            <a:avLst/>
          </a:prstGeom>
          <a:solidFill>
            <a:srgbClr val="D4EBD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604307" y="873000"/>
            <a:ext cx="85846" cy="65250"/>
          </a:xfrm>
          <a:prstGeom prst="rect">
            <a:avLst/>
          </a:prstGeom>
          <a:solidFill>
            <a:srgbClr val="BBDF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7690153" y="873000"/>
            <a:ext cx="85846" cy="65250"/>
          </a:xfrm>
          <a:prstGeom prst="rect">
            <a:avLst/>
          </a:prstGeom>
          <a:solidFill>
            <a:srgbClr val="E4F2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544000" y="938250"/>
            <a:ext cx="85846" cy="65250"/>
          </a:xfrm>
          <a:prstGeom prst="rect">
            <a:avLst/>
          </a:prstGeom>
          <a:solidFill>
            <a:srgbClr val="EBF5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629846" y="938250"/>
            <a:ext cx="85846" cy="65250"/>
          </a:xfrm>
          <a:prstGeom prst="rect">
            <a:avLst/>
          </a:prstGeom>
          <a:solidFill>
            <a:srgbClr val="D6EC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715692" y="938250"/>
            <a:ext cx="85846" cy="65250"/>
          </a:xfrm>
          <a:prstGeom prst="rect">
            <a:avLst/>
          </a:prstGeom>
          <a:solidFill>
            <a:srgbClr val="DDEFE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801538" y="938250"/>
            <a:ext cx="85846" cy="65250"/>
          </a:xfrm>
          <a:prstGeom prst="rect">
            <a:avLst/>
          </a:prstGeom>
          <a:solidFill>
            <a:srgbClr val="B8DE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887384" y="938250"/>
            <a:ext cx="85846" cy="65250"/>
          </a:xfrm>
          <a:prstGeom prst="rect">
            <a:avLst/>
          </a:prstGeom>
          <a:solidFill>
            <a:srgbClr val="E8F4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973230" y="938250"/>
            <a:ext cx="85846" cy="65250"/>
          </a:xfrm>
          <a:prstGeom prst="rect">
            <a:avLst/>
          </a:prstGeom>
          <a:solidFill>
            <a:srgbClr val="70BC9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6059076" y="938250"/>
            <a:ext cx="85846" cy="65250"/>
          </a:xfrm>
          <a:prstGeom prst="rect">
            <a:avLst/>
          </a:prstGeom>
          <a:solidFill>
            <a:srgbClr val="95CDA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44923" y="938250"/>
            <a:ext cx="85846" cy="65250"/>
          </a:xfrm>
          <a:prstGeom prst="rect">
            <a:avLst/>
          </a:prstGeom>
          <a:solidFill>
            <a:srgbClr val="D6EC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230769" y="938250"/>
            <a:ext cx="85846" cy="65250"/>
          </a:xfrm>
          <a:prstGeom prst="rect">
            <a:avLst/>
          </a:prstGeom>
          <a:solidFill>
            <a:srgbClr val="C8E5D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316615" y="938250"/>
            <a:ext cx="85846" cy="65250"/>
          </a:xfrm>
          <a:prstGeom prst="rect">
            <a:avLst/>
          </a:prstGeom>
          <a:solidFill>
            <a:srgbClr val="BADF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402461" y="938250"/>
            <a:ext cx="85846" cy="65250"/>
          </a:xfrm>
          <a:prstGeom prst="rect">
            <a:avLst/>
          </a:prstGeom>
          <a:solidFill>
            <a:srgbClr val="B8DD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488307" y="938250"/>
            <a:ext cx="85846" cy="65250"/>
          </a:xfrm>
          <a:prstGeom prst="rect">
            <a:avLst/>
          </a:prstGeom>
          <a:solidFill>
            <a:srgbClr val="DAED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574153" y="938250"/>
            <a:ext cx="85846" cy="65250"/>
          </a:xfrm>
          <a:prstGeom prst="rect">
            <a:avLst/>
          </a:prstGeom>
          <a:solidFill>
            <a:srgbClr val="74BD9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60000" y="938250"/>
            <a:ext cx="85846" cy="65250"/>
          </a:xfrm>
          <a:prstGeom prst="rect">
            <a:avLst/>
          </a:prstGeom>
          <a:solidFill>
            <a:srgbClr val="5FB48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745846" y="938250"/>
            <a:ext cx="85846" cy="65250"/>
          </a:xfrm>
          <a:prstGeom prst="rect">
            <a:avLst/>
          </a:prstGeom>
          <a:solidFill>
            <a:srgbClr val="AAD7B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31692" y="938250"/>
            <a:ext cx="85846" cy="65250"/>
          </a:xfrm>
          <a:prstGeom prst="rect">
            <a:avLst/>
          </a:prstGeom>
          <a:solidFill>
            <a:srgbClr val="A7D6B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917538" y="938250"/>
            <a:ext cx="85846" cy="65250"/>
          </a:xfrm>
          <a:prstGeom prst="rect">
            <a:avLst/>
          </a:prstGeom>
          <a:solidFill>
            <a:srgbClr val="DFF0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003384" y="938250"/>
            <a:ext cx="85846" cy="65250"/>
          </a:xfrm>
          <a:prstGeom prst="rect">
            <a:avLst/>
          </a:prstGeom>
          <a:solidFill>
            <a:srgbClr val="DDEFE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089230" y="938250"/>
            <a:ext cx="85846" cy="65250"/>
          </a:xfrm>
          <a:prstGeom prst="rect">
            <a:avLst/>
          </a:prstGeom>
          <a:solidFill>
            <a:srgbClr val="BBDFC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175076" y="938250"/>
            <a:ext cx="85846" cy="65250"/>
          </a:xfrm>
          <a:prstGeom prst="rect">
            <a:avLst/>
          </a:prstGeom>
          <a:solidFill>
            <a:srgbClr val="C6E4D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260923" y="938250"/>
            <a:ext cx="85846" cy="65250"/>
          </a:xfrm>
          <a:prstGeom prst="rect">
            <a:avLst/>
          </a:prstGeom>
          <a:solidFill>
            <a:srgbClr val="77BF9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346769" y="938250"/>
            <a:ext cx="85846" cy="65250"/>
          </a:xfrm>
          <a:prstGeom prst="rect">
            <a:avLst/>
          </a:prstGeom>
          <a:solidFill>
            <a:srgbClr val="D5EBD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432615" y="938250"/>
            <a:ext cx="85846" cy="65250"/>
          </a:xfrm>
          <a:prstGeom prst="rect">
            <a:avLst/>
          </a:prstGeom>
          <a:solidFill>
            <a:srgbClr val="E8F4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518461" y="938250"/>
            <a:ext cx="85846" cy="65250"/>
          </a:xfrm>
          <a:prstGeom prst="rect">
            <a:avLst/>
          </a:prstGeom>
          <a:solidFill>
            <a:srgbClr val="65B78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7604307" y="938250"/>
            <a:ext cx="85846" cy="65250"/>
          </a:xfrm>
          <a:prstGeom prst="rect">
            <a:avLst/>
          </a:prstGeom>
          <a:solidFill>
            <a:srgbClr val="A1D3B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690153" y="938250"/>
            <a:ext cx="85846" cy="65250"/>
          </a:xfrm>
          <a:prstGeom prst="rect">
            <a:avLst/>
          </a:prstGeom>
          <a:solidFill>
            <a:srgbClr val="D7EC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544000" y="1003500"/>
            <a:ext cx="85846" cy="65250"/>
          </a:xfrm>
          <a:prstGeom prst="rect">
            <a:avLst/>
          </a:prstGeom>
          <a:solidFill>
            <a:srgbClr val="9FD2B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629846" y="1003500"/>
            <a:ext cx="85846" cy="65250"/>
          </a:xfrm>
          <a:prstGeom prst="rect">
            <a:avLst/>
          </a:prstGeom>
          <a:solidFill>
            <a:srgbClr val="E7F4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715692" y="1003500"/>
            <a:ext cx="85846" cy="65250"/>
          </a:xfrm>
          <a:prstGeom prst="rect">
            <a:avLst/>
          </a:prstGeom>
          <a:solidFill>
            <a:srgbClr val="A1D3B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801538" y="1003500"/>
            <a:ext cx="85846" cy="65250"/>
          </a:xfrm>
          <a:prstGeom prst="rect">
            <a:avLst/>
          </a:prstGeom>
          <a:solidFill>
            <a:srgbClr val="62B58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887384" y="1003500"/>
            <a:ext cx="85846" cy="65250"/>
          </a:xfrm>
          <a:prstGeom prst="rect">
            <a:avLst/>
          </a:prstGeom>
          <a:solidFill>
            <a:srgbClr val="72BD9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73230" y="1003500"/>
            <a:ext cx="85846" cy="65250"/>
          </a:xfrm>
          <a:prstGeom prst="rect">
            <a:avLst/>
          </a:prstGeom>
          <a:solidFill>
            <a:srgbClr val="89C8A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6059076" y="1003500"/>
            <a:ext cx="85846" cy="65250"/>
          </a:xfrm>
          <a:prstGeom prst="rect">
            <a:avLst/>
          </a:prstGeom>
          <a:solidFill>
            <a:srgbClr val="C7E4D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6144923" y="1003500"/>
            <a:ext cx="85846" cy="65250"/>
          </a:xfrm>
          <a:prstGeom prst="rect">
            <a:avLst/>
          </a:prstGeom>
          <a:solidFill>
            <a:srgbClr val="B8DD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230769" y="1003500"/>
            <a:ext cx="85846" cy="65250"/>
          </a:xfrm>
          <a:prstGeom prst="rect">
            <a:avLst/>
          </a:prstGeom>
          <a:solidFill>
            <a:srgbClr val="D4EA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316615" y="1003500"/>
            <a:ext cx="85846" cy="65250"/>
          </a:xfrm>
          <a:prstGeom prst="rect">
            <a:avLst/>
          </a:prstGeom>
          <a:solidFill>
            <a:srgbClr val="7FC39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402461" y="1003500"/>
            <a:ext cx="85846" cy="65250"/>
          </a:xfrm>
          <a:prstGeom prst="rect">
            <a:avLst/>
          </a:prstGeom>
          <a:solidFill>
            <a:srgbClr val="A0D2B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488307" y="1003500"/>
            <a:ext cx="85846" cy="65250"/>
          </a:xfrm>
          <a:prstGeom prst="rect">
            <a:avLst/>
          </a:prstGeom>
          <a:solidFill>
            <a:srgbClr val="7EC29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574153" y="1003500"/>
            <a:ext cx="85846" cy="65250"/>
          </a:xfrm>
          <a:prstGeom prst="rect">
            <a:avLst/>
          </a:prstGeom>
          <a:solidFill>
            <a:srgbClr val="BDE0C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660000" y="1003500"/>
            <a:ext cx="85846" cy="65250"/>
          </a:xfrm>
          <a:prstGeom prst="rect">
            <a:avLst/>
          </a:prstGeom>
          <a:solidFill>
            <a:srgbClr val="CCE7D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745846" y="1003500"/>
            <a:ext cx="85846" cy="65250"/>
          </a:xfrm>
          <a:prstGeom prst="rect">
            <a:avLst/>
          </a:prstGeom>
          <a:solidFill>
            <a:srgbClr val="79C09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831692" y="1003500"/>
            <a:ext cx="85846" cy="65250"/>
          </a:xfrm>
          <a:prstGeom prst="rect">
            <a:avLst/>
          </a:prstGeom>
          <a:solidFill>
            <a:srgbClr val="61B48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917538" y="1003500"/>
            <a:ext cx="85846" cy="65250"/>
          </a:xfrm>
          <a:prstGeom prst="rect">
            <a:avLst/>
          </a:prstGeom>
          <a:solidFill>
            <a:srgbClr val="73BD9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003384" y="1003500"/>
            <a:ext cx="85846" cy="65250"/>
          </a:xfrm>
          <a:prstGeom prst="rect">
            <a:avLst/>
          </a:prstGeom>
          <a:solidFill>
            <a:srgbClr val="7AC09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230" y="1003500"/>
            <a:ext cx="85846" cy="65250"/>
          </a:xfrm>
          <a:prstGeom prst="rect">
            <a:avLst/>
          </a:prstGeom>
          <a:solidFill>
            <a:srgbClr val="78BF9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175076" y="1003500"/>
            <a:ext cx="85846" cy="65250"/>
          </a:xfrm>
          <a:prstGeom prst="rect">
            <a:avLst/>
          </a:prstGeom>
          <a:solidFill>
            <a:srgbClr val="83C5A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260923" y="1003500"/>
            <a:ext cx="85846" cy="65250"/>
          </a:xfrm>
          <a:prstGeom prst="rect">
            <a:avLst/>
          </a:prstGeom>
          <a:solidFill>
            <a:srgbClr val="CBE7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346769" y="1003500"/>
            <a:ext cx="85846" cy="65250"/>
          </a:xfrm>
          <a:prstGeom prst="rect">
            <a:avLst/>
          </a:prstGeom>
          <a:solidFill>
            <a:srgbClr val="A2D3B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432615" y="1003500"/>
            <a:ext cx="85846" cy="65250"/>
          </a:xfrm>
          <a:prstGeom prst="rect">
            <a:avLst/>
          </a:prstGeom>
          <a:solidFill>
            <a:srgbClr val="B9DE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518461" y="1003500"/>
            <a:ext cx="85846" cy="65250"/>
          </a:xfrm>
          <a:prstGeom prst="rect">
            <a:avLst/>
          </a:prstGeom>
          <a:solidFill>
            <a:srgbClr val="E7F4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604307" y="1003500"/>
            <a:ext cx="85846" cy="65250"/>
          </a:xfrm>
          <a:prstGeom prst="rect">
            <a:avLst/>
          </a:prstGeom>
          <a:solidFill>
            <a:srgbClr val="E7F4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690153" y="1003500"/>
            <a:ext cx="85846" cy="65250"/>
          </a:xfrm>
          <a:prstGeom prst="rect">
            <a:avLst/>
          </a:prstGeom>
          <a:solidFill>
            <a:srgbClr val="C4E3D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5544000" y="1068750"/>
            <a:ext cx="85846" cy="65250"/>
          </a:xfrm>
          <a:prstGeom prst="rect">
            <a:avLst/>
          </a:prstGeom>
          <a:solidFill>
            <a:srgbClr val="C7E4D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629846" y="1068750"/>
            <a:ext cx="85846" cy="65250"/>
          </a:xfrm>
          <a:prstGeom prst="rect">
            <a:avLst/>
          </a:prstGeom>
          <a:solidFill>
            <a:srgbClr val="8AC8A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5715692" y="1068750"/>
            <a:ext cx="85846" cy="65250"/>
          </a:xfrm>
          <a:prstGeom prst="rect">
            <a:avLst/>
          </a:prstGeom>
          <a:solidFill>
            <a:srgbClr val="65B68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801538" y="1068750"/>
            <a:ext cx="85846" cy="65250"/>
          </a:xfrm>
          <a:prstGeom prst="rect">
            <a:avLst/>
          </a:prstGeom>
          <a:solidFill>
            <a:srgbClr val="ACD8C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887384" y="1068750"/>
            <a:ext cx="85846" cy="65250"/>
          </a:xfrm>
          <a:prstGeom prst="rect">
            <a:avLst/>
          </a:prstGeom>
          <a:solidFill>
            <a:srgbClr val="67B88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973230" y="1068750"/>
            <a:ext cx="85846" cy="65250"/>
          </a:xfrm>
          <a:prstGeom prst="rect">
            <a:avLst/>
          </a:prstGeom>
          <a:solidFill>
            <a:srgbClr val="60B48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059076" y="1068750"/>
            <a:ext cx="85846" cy="65250"/>
          </a:xfrm>
          <a:prstGeom prst="rect">
            <a:avLst/>
          </a:prstGeom>
          <a:solidFill>
            <a:srgbClr val="65B68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144923" y="1068750"/>
            <a:ext cx="85846" cy="65250"/>
          </a:xfrm>
          <a:prstGeom prst="rect">
            <a:avLst/>
          </a:prstGeom>
          <a:solidFill>
            <a:srgbClr val="B8DD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230769" y="1068750"/>
            <a:ext cx="85846" cy="65250"/>
          </a:xfrm>
          <a:prstGeom prst="rect">
            <a:avLst/>
          </a:prstGeom>
          <a:solidFill>
            <a:srgbClr val="CCE7D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16615" y="1068750"/>
            <a:ext cx="85846" cy="65250"/>
          </a:xfrm>
          <a:prstGeom prst="rect">
            <a:avLst/>
          </a:prstGeom>
          <a:solidFill>
            <a:srgbClr val="CBE7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402461" y="1068750"/>
            <a:ext cx="85846" cy="65250"/>
          </a:xfrm>
          <a:prstGeom prst="rect">
            <a:avLst/>
          </a:prstGeom>
          <a:solidFill>
            <a:srgbClr val="D0E9D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88307" y="1068750"/>
            <a:ext cx="85846" cy="65250"/>
          </a:xfrm>
          <a:prstGeom prst="rect">
            <a:avLst/>
          </a:prstGeom>
          <a:solidFill>
            <a:srgbClr val="CFE8D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574153" y="1068750"/>
            <a:ext cx="85846" cy="65250"/>
          </a:xfrm>
          <a:prstGeom prst="rect">
            <a:avLst/>
          </a:prstGeom>
          <a:solidFill>
            <a:srgbClr val="93CCA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660000" y="1068750"/>
            <a:ext cx="85846" cy="65250"/>
          </a:xfrm>
          <a:prstGeom prst="rect">
            <a:avLst/>
          </a:prstGeom>
          <a:solidFill>
            <a:srgbClr val="6DBA9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745846" y="1068750"/>
            <a:ext cx="85846" cy="65250"/>
          </a:xfrm>
          <a:prstGeom prst="rect">
            <a:avLst/>
          </a:prstGeom>
          <a:solidFill>
            <a:srgbClr val="75BE9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831692" y="1068750"/>
            <a:ext cx="85846" cy="65250"/>
          </a:xfrm>
          <a:prstGeom prst="rect">
            <a:avLst/>
          </a:prstGeom>
          <a:solidFill>
            <a:srgbClr val="A8D6B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917538" y="1068750"/>
            <a:ext cx="85846" cy="65250"/>
          </a:xfrm>
          <a:prstGeom prst="rect">
            <a:avLst/>
          </a:prstGeom>
          <a:solidFill>
            <a:srgbClr val="8FCAA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003384" y="1068750"/>
            <a:ext cx="85846" cy="65250"/>
          </a:xfrm>
          <a:prstGeom prst="rect">
            <a:avLst/>
          </a:prstGeom>
          <a:solidFill>
            <a:srgbClr val="7BC19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089230" y="1068750"/>
            <a:ext cx="85846" cy="65250"/>
          </a:xfrm>
          <a:prstGeom prst="rect">
            <a:avLst/>
          </a:prstGeom>
          <a:solidFill>
            <a:srgbClr val="DFF0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7175076" y="1068750"/>
            <a:ext cx="85846" cy="65250"/>
          </a:xfrm>
          <a:prstGeom prst="rect">
            <a:avLst/>
          </a:prstGeom>
          <a:solidFill>
            <a:srgbClr val="8ECAA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260923" y="1068750"/>
            <a:ext cx="85846" cy="65250"/>
          </a:xfrm>
          <a:prstGeom prst="rect">
            <a:avLst/>
          </a:prstGeom>
          <a:solidFill>
            <a:srgbClr val="6BB99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346769" y="1068750"/>
            <a:ext cx="85846" cy="65250"/>
          </a:xfrm>
          <a:prstGeom prst="rect">
            <a:avLst/>
          </a:prstGeom>
          <a:solidFill>
            <a:srgbClr val="7DC2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432615" y="1068750"/>
            <a:ext cx="85846" cy="65250"/>
          </a:xfrm>
          <a:prstGeom prst="rect">
            <a:avLst/>
          </a:prstGeom>
          <a:solidFill>
            <a:srgbClr val="82C4A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518461" y="1068750"/>
            <a:ext cx="85846" cy="65250"/>
          </a:xfrm>
          <a:prstGeom prst="rect">
            <a:avLst/>
          </a:prstGeom>
          <a:solidFill>
            <a:srgbClr val="A8D6B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604307" y="1068750"/>
            <a:ext cx="85846" cy="65250"/>
          </a:xfrm>
          <a:prstGeom prst="rect">
            <a:avLst/>
          </a:prstGeom>
          <a:solidFill>
            <a:srgbClr val="D2EA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7690153" y="1068750"/>
            <a:ext cx="85846" cy="65250"/>
          </a:xfrm>
          <a:prstGeom prst="rect">
            <a:avLst/>
          </a:prstGeom>
          <a:solidFill>
            <a:srgbClr val="7CC19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544000" y="1188000"/>
            <a:ext cx="2232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900" b="1">
                <a:solidFill>
                  <a:srgbClr val="266E46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Semantic tokens   [ 354 × 128 ]</a:t>
            </a:r>
            <a:endParaRPr sz="900" b="1">
              <a:solidFill>
                <a:srgbClr val="266E46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37" name="Rectangle 236"/>
          <p:cNvSpPr/>
          <p:nvPr/>
        </p:nvSpPr>
        <p:spPr>
          <a:xfrm>
            <a:off x="5544000" y="1342800"/>
            <a:ext cx="2232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700" b="0">
                <a:solidFill>
                  <a:srgbClr val="5F5F5F"/>
                </a:solidFill>
                <a:latin typeface="Arial" panose="020B0604020202090204"/>
              </a:rPr>
              <a:t>special tokens removed · adaptive-pooled</a:t>
            </a:r>
            <a:endParaRPr sz="700" b="0">
              <a:solidFill>
                <a:srgbClr val="5F5F5F"/>
              </a:solidFill>
              <a:latin typeface="Arial" panose="020B0604020202090204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5165725" y="2033905"/>
            <a:ext cx="2474595" cy="1797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50" b="1">
                <a:solidFill>
                  <a:srgbClr val="2854A2"/>
                </a:solidFill>
                <a:latin typeface="Arial" panose="020B0604020202090204"/>
              </a:rPr>
              <a:t>2D Molecular Graph</a:t>
            </a:r>
            <a:endParaRPr sz="950" b="1">
              <a:solidFill>
                <a:srgbClr val="2854A2"/>
              </a:solidFill>
              <a:latin typeface="Arial" panose="020B0604020202090204"/>
            </a:endParaRPr>
          </a:p>
        </p:txBody>
      </p:sp>
      <p:cxnSp>
        <p:nvCxnSpPr>
          <p:cNvPr id="239" name="Connector 238"/>
          <p:cNvCxnSpPr/>
          <p:nvPr/>
        </p:nvCxnSpPr>
        <p:spPr>
          <a:xfrm flipV="1">
            <a:off x="5329440" y="2359080"/>
            <a:ext cx="205200" cy="10440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534640" y="2359080"/>
            <a:ext cx="218880" cy="8352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5753520" y="2442600"/>
            <a:ext cx="54720" cy="18792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H="1">
            <a:off x="5616720" y="2630520"/>
            <a:ext cx="191520" cy="10440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H="1" flipV="1">
            <a:off x="5397840" y="2672280"/>
            <a:ext cx="218880" cy="6264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 flipV="1">
            <a:off x="5329440" y="2463480"/>
            <a:ext cx="68400" cy="20880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H="1" flipV="1">
            <a:off x="5534640" y="2359080"/>
            <a:ext cx="27360" cy="18792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5562000" y="2547000"/>
            <a:ext cx="246240" cy="8352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H="1">
            <a:off x="5397840" y="2547000"/>
            <a:ext cx="164160" cy="125280"/>
          </a:xfrm>
          <a:prstGeom prst="line">
            <a:avLst/>
          </a:prstGeom>
          <a:ln w="20320">
            <a:solidFill>
              <a:srgbClr val="96A8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Oval 247"/>
          <p:cNvSpPr/>
          <p:nvPr/>
        </p:nvSpPr>
        <p:spPr>
          <a:xfrm>
            <a:off x="5271840" y="2405880"/>
            <a:ext cx="115200" cy="115200"/>
          </a:xfrm>
          <a:prstGeom prst="ellipse">
            <a:avLst/>
          </a:prstGeom>
          <a:solidFill>
            <a:srgbClr val="6C91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5477040" y="2301480"/>
            <a:ext cx="115200" cy="115200"/>
          </a:xfrm>
          <a:prstGeom prst="ellipse">
            <a:avLst/>
          </a:prstGeom>
          <a:solidFill>
            <a:srgbClr val="6C91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695920" y="2385000"/>
            <a:ext cx="115200" cy="115200"/>
          </a:xfrm>
          <a:prstGeom prst="ellipse">
            <a:avLst/>
          </a:prstGeom>
          <a:solidFill>
            <a:srgbClr val="E17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5750640" y="2572920"/>
            <a:ext cx="115200" cy="115200"/>
          </a:xfrm>
          <a:prstGeom prst="ellipse">
            <a:avLst/>
          </a:prstGeom>
          <a:solidFill>
            <a:srgbClr val="6C91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5559120" y="2677320"/>
            <a:ext cx="115200" cy="115200"/>
          </a:xfrm>
          <a:prstGeom prst="ellipse">
            <a:avLst/>
          </a:prstGeom>
          <a:solidFill>
            <a:srgbClr val="E17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5340240" y="2614680"/>
            <a:ext cx="115200" cy="115200"/>
          </a:xfrm>
          <a:prstGeom prst="ellipse">
            <a:avLst/>
          </a:prstGeom>
          <a:solidFill>
            <a:srgbClr val="6C91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5504400" y="2489400"/>
            <a:ext cx="115200" cy="115200"/>
          </a:xfrm>
          <a:prstGeom prst="ellipse">
            <a:avLst/>
          </a:prstGeom>
          <a:solidFill>
            <a:srgbClr val="6C91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148000" y="2844000"/>
            <a:ext cx="827999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54A2"/>
                </a:solidFill>
                <a:latin typeface="Times New Roman Bold" panose="02020503050405090304" charset="0"/>
                <a:cs typeface="Times New Roman Bold" panose="02020503050405090304" charset="0"/>
              </a:rPr>
              <a:t>Molecular graph</a:t>
            </a:r>
            <a:endParaRPr sz="780" b="1">
              <a:solidFill>
                <a:srgbClr val="2854A2"/>
              </a:solidFill>
              <a:latin typeface="Times New Roman Bold" panose="02020503050405090304" charset="0"/>
              <a:cs typeface="Times New Roman Bold" panose="0202050305040509030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2828"/>
                </a:solidFill>
                <a:latin typeface="Times New Roman Bold" panose="02020503050405090304" charset="0"/>
                <a:cs typeface="Times New Roman Bold" panose="02020503050405090304" charset="0"/>
              </a:rPr>
              <a:t>nodes + edges</a:t>
            </a:r>
            <a:endParaRPr sz="780" b="1">
              <a:solidFill>
                <a:srgbClr val="282828"/>
              </a:solidFill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6030000" y="2286000"/>
            <a:ext cx="90000" cy="52200"/>
          </a:xfrm>
          <a:prstGeom prst="rect">
            <a:avLst/>
          </a:prstGeom>
          <a:solidFill>
            <a:srgbClr val="C2D1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6120000" y="2286000"/>
            <a:ext cx="90000" cy="52200"/>
          </a:xfrm>
          <a:prstGeom prst="rect">
            <a:avLst/>
          </a:prstGeom>
          <a:solidFill>
            <a:srgbClr val="85A4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6210000" y="2286000"/>
            <a:ext cx="90000" cy="52200"/>
          </a:xfrm>
          <a:prstGeom prst="rect">
            <a:avLst/>
          </a:prstGeom>
          <a:solidFill>
            <a:srgbClr val="6F93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6300000" y="2286000"/>
            <a:ext cx="90000" cy="52200"/>
          </a:xfrm>
          <a:prstGeom prst="rect">
            <a:avLst/>
          </a:prstGeom>
          <a:solidFill>
            <a:srgbClr val="BACB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390000" y="2286000"/>
            <a:ext cx="90000" cy="52200"/>
          </a:xfrm>
          <a:prstGeom prst="rect">
            <a:avLst/>
          </a:prstGeom>
          <a:solidFill>
            <a:srgbClr val="B9CA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480000" y="2286000"/>
            <a:ext cx="90000" cy="52200"/>
          </a:xfrm>
          <a:prstGeom prst="rect">
            <a:avLst/>
          </a:prstGeom>
          <a:solidFill>
            <a:srgbClr val="7296D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030000" y="2338200"/>
            <a:ext cx="90000" cy="52200"/>
          </a:xfrm>
          <a:prstGeom prst="rect">
            <a:avLst/>
          </a:prstGeom>
          <a:solidFill>
            <a:srgbClr val="8FAB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120000" y="2338200"/>
            <a:ext cx="90000" cy="52200"/>
          </a:xfrm>
          <a:prstGeom prst="rect">
            <a:avLst/>
          </a:prstGeom>
          <a:solidFill>
            <a:srgbClr val="D7E1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210000" y="2338200"/>
            <a:ext cx="90000" cy="52200"/>
          </a:xfrm>
          <a:prstGeom prst="rect">
            <a:avLst/>
          </a:prstGeom>
          <a:solidFill>
            <a:srgbClr val="DCE5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300000" y="2338200"/>
            <a:ext cx="90000" cy="52200"/>
          </a:xfrm>
          <a:prstGeom prst="rect">
            <a:avLst/>
          </a:prstGeom>
          <a:solidFill>
            <a:srgbClr val="D9E3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90000" y="2338200"/>
            <a:ext cx="90000" cy="52200"/>
          </a:xfrm>
          <a:prstGeom prst="rect">
            <a:avLst/>
          </a:prstGeom>
          <a:solidFill>
            <a:srgbClr val="789AD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480000" y="2338200"/>
            <a:ext cx="90000" cy="52200"/>
          </a:xfrm>
          <a:prstGeom prst="rect">
            <a:avLst/>
          </a:prstGeom>
          <a:solidFill>
            <a:srgbClr val="85A3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030000" y="2390400"/>
            <a:ext cx="90000" cy="52200"/>
          </a:xfrm>
          <a:prstGeom prst="rect">
            <a:avLst/>
          </a:prstGeom>
          <a:solidFill>
            <a:srgbClr val="DAE3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120000" y="2390400"/>
            <a:ext cx="90000" cy="52200"/>
          </a:xfrm>
          <a:prstGeom prst="rect">
            <a:avLst/>
          </a:prstGeom>
          <a:solidFill>
            <a:srgbClr val="82A1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2390400"/>
            <a:ext cx="90000" cy="52200"/>
          </a:xfrm>
          <a:prstGeom prst="rect">
            <a:avLst/>
          </a:prstGeom>
          <a:solidFill>
            <a:srgbClr val="6E92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300000" y="2390400"/>
            <a:ext cx="90000" cy="52200"/>
          </a:xfrm>
          <a:prstGeom prst="rect">
            <a:avLst/>
          </a:prstGeom>
          <a:solidFill>
            <a:srgbClr val="98B2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390000" y="2390400"/>
            <a:ext cx="90000" cy="52200"/>
          </a:xfrm>
          <a:prstGeom prst="rect">
            <a:avLst/>
          </a:prstGeom>
          <a:solidFill>
            <a:srgbClr val="C0CF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480000" y="2390400"/>
            <a:ext cx="90000" cy="52200"/>
          </a:xfrm>
          <a:prstGeom prst="rect">
            <a:avLst/>
          </a:prstGeom>
          <a:solidFill>
            <a:srgbClr val="A6BC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030000" y="2442600"/>
            <a:ext cx="90000" cy="52200"/>
          </a:xfrm>
          <a:prstGeom prst="rect">
            <a:avLst/>
          </a:prstGeom>
          <a:solidFill>
            <a:srgbClr val="DCE5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120000" y="2442600"/>
            <a:ext cx="90000" cy="52200"/>
          </a:xfrm>
          <a:prstGeom prst="rect">
            <a:avLst/>
          </a:prstGeom>
          <a:solidFill>
            <a:srgbClr val="EBF0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210000" y="2442600"/>
            <a:ext cx="90000" cy="52200"/>
          </a:xfrm>
          <a:prstGeom prst="rect">
            <a:avLst/>
          </a:prstGeom>
          <a:solidFill>
            <a:srgbClr val="6F93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300000" y="2442600"/>
            <a:ext cx="90000" cy="52200"/>
          </a:xfrm>
          <a:prstGeom prst="rect">
            <a:avLst/>
          </a:prstGeom>
          <a:solidFill>
            <a:srgbClr val="99B2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90000" y="2442600"/>
            <a:ext cx="90000" cy="52200"/>
          </a:xfrm>
          <a:prstGeom prst="rect">
            <a:avLst/>
          </a:prstGeom>
          <a:solidFill>
            <a:srgbClr val="A9BE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480000" y="2442600"/>
            <a:ext cx="90000" cy="52200"/>
          </a:xfrm>
          <a:prstGeom prst="rect">
            <a:avLst/>
          </a:prstGeom>
          <a:solidFill>
            <a:srgbClr val="7497D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030000" y="2494800"/>
            <a:ext cx="90000" cy="52200"/>
          </a:xfrm>
          <a:prstGeom prst="rect">
            <a:avLst/>
          </a:prstGeom>
          <a:solidFill>
            <a:srgbClr val="B5C7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120000" y="2494800"/>
            <a:ext cx="90000" cy="52200"/>
          </a:xfrm>
          <a:prstGeom prst="rect">
            <a:avLst/>
          </a:prstGeom>
          <a:solidFill>
            <a:srgbClr val="7C9DD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6210000" y="2494800"/>
            <a:ext cx="90000" cy="52200"/>
          </a:xfrm>
          <a:prstGeom prst="rect">
            <a:avLst/>
          </a:prstGeom>
          <a:solidFill>
            <a:srgbClr val="82A1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6300000" y="2494800"/>
            <a:ext cx="90000" cy="52200"/>
          </a:xfrm>
          <a:prstGeom prst="rect">
            <a:avLst/>
          </a:prstGeom>
          <a:solidFill>
            <a:srgbClr val="D2DDF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390000" y="2494800"/>
            <a:ext cx="90000" cy="52200"/>
          </a:xfrm>
          <a:prstGeom prst="rect">
            <a:avLst/>
          </a:prstGeom>
          <a:solidFill>
            <a:srgbClr val="CCD9F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6480000" y="2494800"/>
            <a:ext cx="90000" cy="52200"/>
          </a:xfrm>
          <a:prstGeom prst="rect">
            <a:avLst/>
          </a:prstGeom>
          <a:solidFill>
            <a:srgbClr val="C7D5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6030000" y="2547000"/>
            <a:ext cx="90000" cy="52200"/>
          </a:xfrm>
          <a:prstGeom prst="rect">
            <a:avLst/>
          </a:prstGeom>
          <a:solidFill>
            <a:srgbClr val="CEDA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6120000" y="2547000"/>
            <a:ext cx="90000" cy="52200"/>
          </a:xfrm>
          <a:prstGeom prst="rect">
            <a:avLst/>
          </a:prstGeom>
          <a:solidFill>
            <a:srgbClr val="A1B9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6210000" y="2547000"/>
            <a:ext cx="90000" cy="52200"/>
          </a:xfrm>
          <a:prstGeom prst="rect">
            <a:avLst/>
          </a:prstGeom>
          <a:solidFill>
            <a:srgbClr val="CBD8F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300000" y="2547000"/>
            <a:ext cx="90000" cy="52200"/>
          </a:xfrm>
          <a:prstGeom prst="rect">
            <a:avLst/>
          </a:prstGeom>
          <a:solidFill>
            <a:srgbClr val="B7C9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90000" y="2547000"/>
            <a:ext cx="90000" cy="52200"/>
          </a:xfrm>
          <a:prstGeom prst="rect">
            <a:avLst/>
          </a:prstGeom>
          <a:solidFill>
            <a:srgbClr val="DCE5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480000" y="2547000"/>
            <a:ext cx="90000" cy="52200"/>
          </a:xfrm>
          <a:prstGeom prst="rect">
            <a:avLst/>
          </a:prstGeom>
          <a:solidFill>
            <a:srgbClr val="7799D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030000" y="2599200"/>
            <a:ext cx="90000" cy="52200"/>
          </a:xfrm>
          <a:prstGeom prst="rect">
            <a:avLst/>
          </a:prstGeom>
          <a:solidFill>
            <a:srgbClr val="BFCF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120000" y="2599200"/>
            <a:ext cx="90000" cy="52200"/>
          </a:xfrm>
          <a:prstGeom prst="rect">
            <a:avLst/>
          </a:prstGeom>
          <a:solidFill>
            <a:srgbClr val="B2C5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6210000" y="2599200"/>
            <a:ext cx="90000" cy="52200"/>
          </a:xfrm>
          <a:prstGeom prst="rect">
            <a:avLst/>
          </a:prstGeom>
          <a:solidFill>
            <a:srgbClr val="A1B9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6300000" y="2599200"/>
            <a:ext cx="90000" cy="52200"/>
          </a:xfrm>
          <a:prstGeom prst="rect">
            <a:avLst/>
          </a:prstGeom>
          <a:solidFill>
            <a:srgbClr val="789AD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6390000" y="2599200"/>
            <a:ext cx="90000" cy="52200"/>
          </a:xfrm>
          <a:prstGeom prst="rect">
            <a:avLst/>
          </a:prstGeom>
          <a:solidFill>
            <a:srgbClr val="B6C9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6480000" y="2599200"/>
            <a:ext cx="90000" cy="52200"/>
          </a:xfrm>
          <a:prstGeom prst="rect">
            <a:avLst/>
          </a:prstGeom>
          <a:solidFill>
            <a:srgbClr val="7698D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6030000" y="2651400"/>
            <a:ext cx="90000" cy="52200"/>
          </a:xfrm>
          <a:prstGeom prst="rect">
            <a:avLst/>
          </a:prstGeom>
          <a:solidFill>
            <a:srgbClr val="ACC1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6120000" y="2651400"/>
            <a:ext cx="90000" cy="52200"/>
          </a:xfrm>
          <a:prstGeom prst="rect">
            <a:avLst/>
          </a:prstGeom>
          <a:solidFill>
            <a:srgbClr val="A8BE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6210000" y="2651400"/>
            <a:ext cx="90000" cy="52200"/>
          </a:xfrm>
          <a:prstGeom prst="rect">
            <a:avLst/>
          </a:prstGeom>
          <a:solidFill>
            <a:srgbClr val="A9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6300000" y="2651400"/>
            <a:ext cx="90000" cy="52200"/>
          </a:xfrm>
          <a:prstGeom prst="rect">
            <a:avLst/>
          </a:prstGeom>
          <a:solidFill>
            <a:srgbClr val="EAEF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6390000" y="2651400"/>
            <a:ext cx="90000" cy="52200"/>
          </a:xfrm>
          <a:prstGeom prst="rect">
            <a:avLst/>
          </a:prstGeom>
          <a:solidFill>
            <a:srgbClr val="B4C7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6480000" y="2651400"/>
            <a:ext cx="90000" cy="52200"/>
          </a:xfrm>
          <a:prstGeom prst="rect">
            <a:avLst/>
          </a:prstGeom>
          <a:solidFill>
            <a:srgbClr val="D5E0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030000" y="2703600"/>
            <a:ext cx="90000" cy="52200"/>
          </a:xfrm>
          <a:prstGeom prst="rect">
            <a:avLst/>
          </a:prstGeom>
          <a:solidFill>
            <a:srgbClr val="ECF1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6120000" y="2703600"/>
            <a:ext cx="90000" cy="52200"/>
          </a:xfrm>
          <a:prstGeom prst="rect">
            <a:avLst/>
          </a:prstGeom>
          <a:solidFill>
            <a:srgbClr val="85A4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6210000" y="2703600"/>
            <a:ext cx="90000" cy="52200"/>
          </a:xfrm>
          <a:prstGeom prst="rect">
            <a:avLst/>
          </a:prstGeom>
          <a:solidFill>
            <a:srgbClr val="D7E1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6300000" y="2703600"/>
            <a:ext cx="90000" cy="52200"/>
          </a:xfrm>
          <a:prstGeom prst="rect">
            <a:avLst/>
          </a:prstGeom>
          <a:solidFill>
            <a:srgbClr val="B0C3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6390000" y="2703600"/>
            <a:ext cx="90000" cy="52200"/>
          </a:xfrm>
          <a:prstGeom prst="rect">
            <a:avLst/>
          </a:prstGeom>
          <a:solidFill>
            <a:srgbClr val="8FAB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6480000" y="2703600"/>
            <a:ext cx="90000" cy="52200"/>
          </a:xfrm>
          <a:prstGeom prst="rect">
            <a:avLst/>
          </a:prstGeom>
          <a:solidFill>
            <a:srgbClr val="A5BB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6030000" y="2755800"/>
            <a:ext cx="90000" cy="52200"/>
          </a:xfrm>
          <a:prstGeom prst="rect">
            <a:avLst/>
          </a:prstGeom>
          <a:solidFill>
            <a:srgbClr val="C3D2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120000" y="2755800"/>
            <a:ext cx="90000" cy="52200"/>
          </a:xfrm>
          <a:prstGeom prst="rect">
            <a:avLst/>
          </a:prstGeom>
          <a:solidFill>
            <a:srgbClr val="AA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210000" y="2755800"/>
            <a:ext cx="90000" cy="52200"/>
          </a:xfrm>
          <a:prstGeom prst="rect">
            <a:avLst/>
          </a:prstGeom>
          <a:solidFill>
            <a:srgbClr val="A5BC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6300000" y="2755800"/>
            <a:ext cx="90000" cy="52200"/>
          </a:xfrm>
          <a:prstGeom prst="rect">
            <a:avLst/>
          </a:prstGeom>
          <a:solidFill>
            <a:srgbClr val="87A5D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6390000" y="2755800"/>
            <a:ext cx="90000" cy="52200"/>
          </a:xfrm>
          <a:prstGeom prst="rect">
            <a:avLst/>
          </a:prstGeom>
          <a:solidFill>
            <a:srgbClr val="DFE7F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480000" y="2755800"/>
            <a:ext cx="90000" cy="52200"/>
          </a:xfrm>
          <a:prstGeom prst="rect">
            <a:avLst/>
          </a:prstGeom>
          <a:solidFill>
            <a:srgbClr val="A4BB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5940000" y="2844000"/>
            <a:ext cx="72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54A2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Node feats  X</a:t>
            </a:r>
            <a:endParaRPr sz="780" b="1">
              <a:solidFill>
                <a:srgbClr val="2854A2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2828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[290 × 75]</a:t>
            </a:r>
            <a:endParaRPr sz="780" b="1">
              <a:solidFill>
                <a:srgbClr val="282828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317" name="Rectangle 316"/>
          <p:cNvSpPr/>
          <p:nvPr/>
        </p:nvSpPr>
        <p:spPr>
          <a:xfrm>
            <a:off x="6660000" y="2286000"/>
            <a:ext cx="108000" cy="43500"/>
          </a:xfrm>
          <a:prstGeom prst="rect">
            <a:avLst/>
          </a:prstGeom>
          <a:solidFill>
            <a:srgbClr val="D1DE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6768000" y="2286000"/>
            <a:ext cx="108000" cy="43500"/>
          </a:xfrm>
          <a:prstGeom prst="rect">
            <a:avLst/>
          </a:prstGeom>
          <a:solidFill>
            <a:srgbClr val="CDDBF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6876000" y="2286000"/>
            <a:ext cx="108000" cy="43500"/>
          </a:xfrm>
          <a:prstGeom prst="rect">
            <a:avLst/>
          </a:prstGeom>
          <a:solidFill>
            <a:srgbClr val="93B1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6983999" y="2286000"/>
            <a:ext cx="108000" cy="43500"/>
          </a:xfrm>
          <a:prstGeom prst="rect">
            <a:avLst/>
          </a:prstGeom>
          <a:solidFill>
            <a:srgbClr val="B2C8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092000" y="2286000"/>
            <a:ext cx="108000" cy="43500"/>
          </a:xfrm>
          <a:prstGeom prst="rect">
            <a:avLst/>
          </a:prstGeom>
          <a:solidFill>
            <a:srgbClr val="ACC3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6660000" y="2329500"/>
            <a:ext cx="108000" cy="43500"/>
          </a:xfrm>
          <a:prstGeom prst="rect">
            <a:avLst/>
          </a:prstGeom>
          <a:solidFill>
            <a:srgbClr val="94B2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768000" y="2329500"/>
            <a:ext cx="108000" cy="43500"/>
          </a:xfrm>
          <a:prstGeom prst="rect">
            <a:avLst/>
          </a:prstGeom>
          <a:solidFill>
            <a:srgbClr val="82A5E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876000" y="2329500"/>
            <a:ext cx="108000" cy="43500"/>
          </a:xfrm>
          <a:prstGeom prst="rect">
            <a:avLst/>
          </a:prstGeom>
          <a:solidFill>
            <a:srgbClr val="BACD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6983999" y="2329500"/>
            <a:ext cx="108000" cy="43500"/>
          </a:xfrm>
          <a:prstGeom prst="rect">
            <a:avLst/>
          </a:prstGeom>
          <a:solidFill>
            <a:srgbClr val="A6BF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092000" y="2329500"/>
            <a:ext cx="108000" cy="43500"/>
          </a:xfrm>
          <a:prstGeom prst="rect">
            <a:avLst/>
          </a:prstGeom>
          <a:solidFill>
            <a:srgbClr val="B2C8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6660000" y="2373000"/>
            <a:ext cx="108000" cy="43500"/>
          </a:xfrm>
          <a:prstGeom prst="rect">
            <a:avLst/>
          </a:prstGeom>
          <a:solidFill>
            <a:srgbClr val="B1C7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6768000" y="2373000"/>
            <a:ext cx="108000" cy="43500"/>
          </a:xfrm>
          <a:prstGeom prst="rect">
            <a:avLst/>
          </a:prstGeom>
          <a:solidFill>
            <a:srgbClr val="9CB8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6876000" y="2373000"/>
            <a:ext cx="108000" cy="43500"/>
          </a:xfrm>
          <a:prstGeom prst="rect">
            <a:avLst/>
          </a:prstGeom>
          <a:solidFill>
            <a:srgbClr val="B9CC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6983999" y="2373000"/>
            <a:ext cx="108000" cy="43500"/>
          </a:xfrm>
          <a:prstGeom prst="rect">
            <a:avLst/>
          </a:prstGeom>
          <a:solidFill>
            <a:srgbClr val="AFC5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7092000" y="2373000"/>
            <a:ext cx="108000" cy="43500"/>
          </a:xfrm>
          <a:prstGeom prst="rect">
            <a:avLst/>
          </a:prstGeom>
          <a:solidFill>
            <a:srgbClr val="B6CA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6660000" y="2416500"/>
            <a:ext cx="108000" cy="43500"/>
          </a:xfrm>
          <a:prstGeom prst="rect">
            <a:avLst/>
          </a:prstGeom>
          <a:solidFill>
            <a:srgbClr val="7EA2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6768000" y="2416500"/>
            <a:ext cx="108000" cy="43500"/>
          </a:xfrm>
          <a:prstGeom prst="rect">
            <a:avLst/>
          </a:prstGeom>
          <a:solidFill>
            <a:srgbClr val="9BB7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6876000" y="2416500"/>
            <a:ext cx="108000" cy="43500"/>
          </a:xfrm>
          <a:prstGeom prst="rect">
            <a:avLst/>
          </a:prstGeom>
          <a:solidFill>
            <a:srgbClr val="86A8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6983999" y="2416500"/>
            <a:ext cx="108000" cy="43500"/>
          </a:xfrm>
          <a:prstGeom prst="rect">
            <a:avLst/>
          </a:prstGeom>
          <a:solidFill>
            <a:srgbClr val="7EA2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7092000" y="2416500"/>
            <a:ext cx="108000" cy="43500"/>
          </a:xfrm>
          <a:prstGeom prst="rect">
            <a:avLst/>
          </a:prstGeom>
          <a:solidFill>
            <a:srgbClr val="CFDD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6660000" y="2460000"/>
            <a:ext cx="108000" cy="43500"/>
          </a:xfrm>
          <a:prstGeom prst="rect">
            <a:avLst/>
          </a:prstGeom>
          <a:solidFill>
            <a:srgbClr val="ACC3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768000" y="2460000"/>
            <a:ext cx="108000" cy="43500"/>
          </a:xfrm>
          <a:prstGeom prst="rect">
            <a:avLst/>
          </a:prstGeom>
          <a:solidFill>
            <a:srgbClr val="7EA2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876000" y="2460000"/>
            <a:ext cx="108000" cy="43500"/>
          </a:xfrm>
          <a:prstGeom prst="rect">
            <a:avLst/>
          </a:prstGeom>
          <a:solidFill>
            <a:srgbClr val="8BAB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983999" y="2460000"/>
            <a:ext cx="108000" cy="43500"/>
          </a:xfrm>
          <a:prstGeom prst="rect">
            <a:avLst/>
          </a:prstGeom>
          <a:solidFill>
            <a:srgbClr val="DEE7F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7092000" y="2460000"/>
            <a:ext cx="108000" cy="43500"/>
          </a:xfrm>
          <a:prstGeom prst="rect">
            <a:avLst/>
          </a:prstGeom>
          <a:solidFill>
            <a:srgbClr val="E0E8F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660000" y="2503500"/>
            <a:ext cx="108000" cy="43500"/>
          </a:xfrm>
          <a:prstGeom prst="rect">
            <a:avLst/>
          </a:prstGeom>
          <a:solidFill>
            <a:srgbClr val="BACD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768000" y="2503500"/>
            <a:ext cx="108000" cy="43500"/>
          </a:xfrm>
          <a:prstGeom prst="rect">
            <a:avLst/>
          </a:prstGeom>
          <a:solidFill>
            <a:srgbClr val="E6ED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876000" y="2503500"/>
            <a:ext cx="108000" cy="43500"/>
          </a:xfrm>
          <a:prstGeom prst="rect">
            <a:avLst/>
          </a:prstGeom>
          <a:solidFill>
            <a:srgbClr val="D2DEF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983999" y="2503500"/>
            <a:ext cx="108000" cy="43500"/>
          </a:xfrm>
          <a:prstGeom prst="rect">
            <a:avLst/>
          </a:prstGeom>
          <a:solidFill>
            <a:srgbClr val="E6ED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092000" y="2503500"/>
            <a:ext cx="108000" cy="43500"/>
          </a:xfrm>
          <a:prstGeom prst="rect">
            <a:avLst/>
          </a:prstGeom>
          <a:solidFill>
            <a:srgbClr val="9FBA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660000" y="2547000"/>
            <a:ext cx="108000" cy="43500"/>
          </a:xfrm>
          <a:prstGeom prst="rect">
            <a:avLst/>
          </a:prstGeom>
          <a:solidFill>
            <a:srgbClr val="91B0E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768000" y="2547000"/>
            <a:ext cx="108000" cy="43500"/>
          </a:xfrm>
          <a:prstGeom prst="rect">
            <a:avLst/>
          </a:prstGeom>
          <a:solidFill>
            <a:srgbClr val="84A6E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876000" y="2547000"/>
            <a:ext cx="108000" cy="43500"/>
          </a:xfrm>
          <a:prstGeom prst="rect">
            <a:avLst/>
          </a:prstGeom>
          <a:solidFill>
            <a:srgbClr val="DCE6F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6983999" y="2547000"/>
            <a:ext cx="108000" cy="43500"/>
          </a:xfrm>
          <a:prstGeom prst="rect">
            <a:avLst/>
          </a:prstGeom>
          <a:solidFill>
            <a:srgbClr val="99B6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092000" y="2547000"/>
            <a:ext cx="108000" cy="43500"/>
          </a:xfrm>
          <a:prstGeom prst="rect">
            <a:avLst/>
          </a:prstGeom>
          <a:solidFill>
            <a:srgbClr val="A0BB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660000" y="2590500"/>
            <a:ext cx="108000" cy="43500"/>
          </a:xfrm>
          <a:prstGeom prst="rect">
            <a:avLst/>
          </a:prstGeom>
          <a:solidFill>
            <a:srgbClr val="DDE7F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6768000" y="2590500"/>
            <a:ext cx="108000" cy="43500"/>
          </a:xfrm>
          <a:prstGeom prst="rect">
            <a:avLst/>
          </a:prstGeom>
          <a:solidFill>
            <a:srgbClr val="85A8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6876000" y="2590500"/>
            <a:ext cx="108000" cy="43500"/>
          </a:xfrm>
          <a:prstGeom prst="rect">
            <a:avLst/>
          </a:prstGeom>
          <a:solidFill>
            <a:srgbClr val="7BA0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6983999" y="2590500"/>
            <a:ext cx="108000" cy="43500"/>
          </a:xfrm>
          <a:prstGeom prst="rect">
            <a:avLst/>
          </a:prstGeom>
          <a:solidFill>
            <a:srgbClr val="D4E0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7092000" y="2590500"/>
            <a:ext cx="108000" cy="43500"/>
          </a:xfrm>
          <a:prstGeom prst="rect">
            <a:avLst/>
          </a:prstGeom>
          <a:solidFill>
            <a:srgbClr val="7DA2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660000" y="2634000"/>
            <a:ext cx="108000" cy="43500"/>
          </a:xfrm>
          <a:prstGeom prst="rect">
            <a:avLst/>
          </a:prstGeom>
          <a:solidFill>
            <a:srgbClr val="BFD1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6768000" y="2634000"/>
            <a:ext cx="108000" cy="43500"/>
          </a:xfrm>
          <a:prstGeom prst="rect">
            <a:avLst/>
          </a:prstGeom>
          <a:solidFill>
            <a:srgbClr val="B4C9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6876000" y="2634000"/>
            <a:ext cx="108000" cy="43500"/>
          </a:xfrm>
          <a:prstGeom prst="rect">
            <a:avLst/>
          </a:prstGeom>
          <a:solidFill>
            <a:srgbClr val="799E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6983999" y="2634000"/>
            <a:ext cx="108000" cy="43500"/>
          </a:xfrm>
          <a:prstGeom prst="rect">
            <a:avLst/>
          </a:prstGeom>
          <a:solidFill>
            <a:srgbClr val="8BAC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7092000" y="2634000"/>
            <a:ext cx="108000" cy="43500"/>
          </a:xfrm>
          <a:prstGeom prst="rect">
            <a:avLst/>
          </a:prstGeom>
          <a:solidFill>
            <a:srgbClr val="DBE5F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6660000" y="2677500"/>
            <a:ext cx="108000" cy="43500"/>
          </a:xfrm>
          <a:prstGeom prst="rect">
            <a:avLst/>
          </a:prstGeom>
          <a:solidFill>
            <a:srgbClr val="BBCE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768000" y="2677500"/>
            <a:ext cx="108000" cy="43500"/>
          </a:xfrm>
          <a:prstGeom prst="rect">
            <a:avLst/>
          </a:prstGeom>
          <a:solidFill>
            <a:srgbClr val="B1C7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6876000" y="2677500"/>
            <a:ext cx="108000" cy="43500"/>
          </a:xfrm>
          <a:prstGeom prst="rect">
            <a:avLst/>
          </a:prstGeom>
          <a:solidFill>
            <a:srgbClr val="C6D6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6983999" y="2677500"/>
            <a:ext cx="108000" cy="43500"/>
          </a:xfrm>
          <a:prstGeom prst="rect">
            <a:avLst/>
          </a:prstGeom>
          <a:solidFill>
            <a:srgbClr val="D7E2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7092000" y="2677500"/>
            <a:ext cx="108000" cy="43500"/>
          </a:xfrm>
          <a:prstGeom prst="rect">
            <a:avLst/>
          </a:prstGeom>
          <a:solidFill>
            <a:srgbClr val="C8D8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6660000" y="2721000"/>
            <a:ext cx="108000" cy="43500"/>
          </a:xfrm>
          <a:prstGeom prst="rect">
            <a:avLst/>
          </a:prstGeom>
          <a:solidFill>
            <a:srgbClr val="99B5E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6768000" y="2721000"/>
            <a:ext cx="108000" cy="43500"/>
          </a:xfrm>
          <a:prstGeom prst="rect">
            <a:avLst/>
          </a:prstGeom>
          <a:solidFill>
            <a:srgbClr val="ECF1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6876000" y="2721000"/>
            <a:ext cx="108000" cy="43500"/>
          </a:xfrm>
          <a:prstGeom prst="rect">
            <a:avLst/>
          </a:prstGeom>
          <a:solidFill>
            <a:srgbClr val="ACC4E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6983999" y="2721000"/>
            <a:ext cx="108000" cy="43500"/>
          </a:xfrm>
          <a:prstGeom prst="rect">
            <a:avLst/>
          </a:prstGeom>
          <a:solidFill>
            <a:srgbClr val="BACD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7092000" y="2721000"/>
            <a:ext cx="108000" cy="43500"/>
          </a:xfrm>
          <a:prstGeom prst="rect">
            <a:avLst/>
          </a:prstGeom>
          <a:solidFill>
            <a:srgbClr val="ECF1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660000" y="2764500"/>
            <a:ext cx="108000" cy="43500"/>
          </a:xfrm>
          <a:prstGeom prst="rect">
            <a:avLst/>
          </a:prstGeom>
          <a:solidFill>
            <a:srgbClr val="C7D7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6768000" y="2764500"/>
            <a:ext cx="108000" cy="43500"/>
          </a:xfrm>
          <a:prstGeom prst="rect">
            <a:avLst/>
          </a:prstGeom>
          <a:solidFill>
            <a:srgbClr val="A4BE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6876000" y="2764500"/>
            <a:ext cx="108000" cy="43500"/>
          </a:xfrm>
          <a:prstGeom prst="rect">
            <a:avLst/>
          </a:prstGeom>
          <a:solidFill>
            <a:srgbClr val="B1C7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983999" y="2764500"/>
            <a:ext cx="108000" cy="43500"/>
          </a:xfrm>
          <a:prstGeom prst="rect">
            <a:avLst/>
          </a:prstGeom>
          <a:solidFill>
            <a:srgbClr val="E7ED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092000" y="2764500"/>
            <a:ext cx="108000" cy="43500"/>
          </a:xfrm>
          <a:prstGeom prst="rect">
            <a:avLst/>
          </a:prstGeom>
          <a:solidFill>
            <a:srgbClr val="799F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6570000" y="2844000"/>
            <a:ext cx="72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54A2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Edge feats  E</a:t>
            </a:r>
            <a:endParaRPr sz="780" b="1">
              <a:solidFill>
                <a:srgbClr val="2854A2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2828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[E × 12]</a:t>
            </a:r>
            <a:endParaRPr sz="780" b="1">
              <a:solidFill>
                <a:srgbClr val="282828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378" name="Rectangle 377"/>
          <p:cNvSpPr/>
          <p:nvPr/>
        </p:nvSpPr>
        <p:spPr>
          <a:xfrm>
            <a:off x="7308000" y="228600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7355454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7402909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7450363" y="228600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7497818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7545272" y="228600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7592727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7640181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7687636" y="228600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7735090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7782545" y="228600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7308000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7355454" y="2333454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7402909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7450363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7497818" y="2333454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7545272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7592727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640181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687636" y="2333454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7735090" y="2333454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7782545" y="2333454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7308000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7355454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7402909" y="2380909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7450363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7497818" y="2380909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7545272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592727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7640181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687636" y="2380909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7735090" y="2380909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7782545" y="2380909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7308000" y="2428363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7355454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7402909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7450363" y="2428363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7497818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7545272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7592727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7640181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7687636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7735090" y="2428363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7782545" y="2428363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7308000" y="2475818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7355454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7402909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7450363" y="2475818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7497818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7545272" y="2475818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7592727" y="2475818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7640181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687636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7735090" y="2475818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7782545" y="2475818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7308000" y="2523272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7355454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7402909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7450363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7497818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7545272" y="2523272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7592727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7640181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7687636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7735090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7782545" y="2523272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7308000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7355454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7402909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7450363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7497818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7545272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7592727" y="2570727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7640181" y="2570727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7687636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7735090" y="2570727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7782545" y="2570727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7308000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7355454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7402909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7450363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7497818" y="2618181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7545272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7592727" y="2618181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7640181" y="2618181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7687636" y="2618181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7735090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7782545" y="2618181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7308000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7355454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7402909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7450363" y="2665636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7497818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7545272" y="2665636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7592727" y="2665636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7640181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7687636" y="2665636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7735090" y="2665636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7782545" y="2665636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7308000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7355454" y="271309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7402909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7450363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7497818" y="271309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7545272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7592727" y="271309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7640181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7687636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7735090" y="2713090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7782545" y="2713090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7308000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7355454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7402909" y="2760545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7450363" y="2760545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7497818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7545272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7592727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7640181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7687636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7735090" y="2760545"/>
            <a:ext cx="47454" cy="47454"/>
          </a:xfrm>
          <a:prstGeom prst="rect">
            <a:avLst/>
          </a:prstGeom>
          <a:solidFill>
            <a:srgbClr val="ECF0F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7782545" y="2760545"/>
            <a:ext cx="47454" cy="47454"/>
          </a:xfrm>
          <a:prstGeom prst="rect">
            <a:avLst/>
          </a:prstGeom>
          <a:solidFill>
            <a:srgbClr val="6C91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7218000" y="2844000"/>
            <a:ext cx="72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t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54A2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Adjacency  A</a:t>
            </a:r>
            <a:endParaRPr sz="780" b="1">
              <a:solidFill>
                <a:srgbClr val="2854A2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282828"/>
                </a:solidFill>
                <a:latin typeface="Times New Roman Regular" panose="02020503050405090304" charset="0"/>
                <a:cs typeface="Times New Roman Regular" panose="02020503050405090304" charset="0"/>
              </a:rPr>
              <a:t>[290 × 290]</a:t>
            </a:r>
            <a:endParaRPr sz="780" b="1">
              <a:solidFill>
                <a:srgbClr val="282828"/>
              </a:solidFill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00" name="Rectangle 499"/>
          <p:cNvSpPr/>
          <p:nvPr/>
        </p:nvSpPr>
        <p:spPr>
          <a:xfrm>
            <a:off x="5148000" y="3135600"/>
            <a:ext cx="3024000" cy="22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680" b="0">
                <a:solidFill>
                  <a:srgbClr val="5F5F5F"/>
                </a:solidFill>
                <a:latin typeface="Arial" panose="020B0604020202090204"/>
              </a:rPr>
              <a:t>X = 74 atom feats + 1 virtual-node bit</a:t>
            </a:r>
            <a:endParaRPr sz="680" b="0">
              <a:solidFill>
                <a:srgbClr val="5F5F5F"/>
              </a:solidFill>
              <a:latin typeface="Arial" panose="020B0604020202090204"/>
            </a:endParaRPr>
          </a:p>
          <a:p>
            <a:pPr algn="ctr"/>
            <a:r>
              <a:rPr sz="680" b="0">
                <a:solidFill>
                  <a:srgbClr val="5F5F5F"/>
                </a:solidFill>
                <a:latin typeface="Arial" panose="020B0604020202090204"/>
              </a:rPr>
              <a:t>E = bond type · conjugation · ring · stereo      A = self-loops on diagonal</a:t>
            </a:r>
            <a:endParaRPr sz="680" b="0">
              <a:solidFill>
                <a:srgbClr val="5F5F5F"/>
              </a:solidFill>
              <a:latin typeface="Arial" panose="020B060402020209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5166000" y="3726000"/>
            <a:ext cx="2520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950" b="1">
                <a:solidFill>
                  <a:srgbClr val="B06816"/>
                </a:solidFill>
                <a:latin typeface="Arial" panose="020B0604020202090204"/>
              </a:rPr>
              <a:t>K Conformers + Energy</a:t>
            </a:r>
            <a:endParaRPr sz="950" b="1">
              <a:solidFill>
                <a:srgbClr val="B06816"/>
              </a:solidFill>
              <a:latin typeface="Arial" panose="020B0604020202090204"/>
            </a:endParaRPr>
          </a:p>
        </p:txBody>
      </p:sp>
      <p:pic>
        <p:nvPicPr>
          <p:cNvPr id="502" name="Picture 501" descr="con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000" y="3978000"/>
            <a:ext cx="546750" cy="486000"/>
          </a:xfrm>
          <a:prstGeom prst="rect">
            <a:avLst/>
          </a:prstGeom>
        </p:spPr>
      </p:pic>
      <p:sp>
        <p:nvSpPr>
          <p:cNvPr id="503" name="Rectangle 502"/>
          <p:cNvSpPr/>
          <p:nvPr/>
        </p:nvSpPr>
        <p:spPr>
          <a:xfrm>
            <a:off x="5238000" y="4518000"/>
            <a:ext cx="112500" cy="5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5238000" y="4572000"/>
            <a:ext cx="503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750" b="0">
                <a:solidFill>
                  <a:srgbClr val="B06816"/>
                </a:solidFill>
                <a:latin typeface="Arial" panose="020B0604020202090204"/>
              </a:rPr>
              <a:t>E1</a:t>
            </a:r>
            <a:endParaRPr sz="750" b="0">
              <a:solidFill>
                <a:srgbClr val="B06816"/>
              </a:solidFill>
              <a:latin typeface="Arial" panose="020B0604020202090204"/>
            </a:endParaRPr>
          </a:p>
        </p:txBody>
      </p:sp>
      <p:pic>
        <p:nvPicPr>
          <p:cNvPr id="505" name="Picture 504" descr="con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000" y="3978000"/>
            <a:ext cx="546750" cy="486000"/>
          </a:xfrm>
          <a:prstGeom prst="rect">
            <a:avLst/>
          </a:prstGeom>
        </p:spPr>
      </p:pic>
      <p:sp>
        <p:nvSpPr>
          <p:cNvPr id="506" name="Rectangle 505"/>
          <p:cNvSpPr/>
          <p:nvPr/>
        </p:nvSpPr>
        <p:spPr>
          <a:xfrm>
            <a:off x="5778000" y="4518000"/>
            <a:ext cx="112500" cy="5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5778000" y="4572000"/>
            <a:ext cx="503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750" b="0">
                <a:solidFill>
                  <a:srgbClr val="B06816"/>
                </a:solidFill>
                <a:latin typeface="Arial" panose="020B0604020202090204"/>
              </a:rPr>
              <a:t>E2</a:t>
            </a:r>
            <a:endParaRPr sz="750" b="0">
              <a:solidFill>
                <a:srgbClr val="B06816"/>
              </a:solidFill>
              <a:latin typeface="Arial" panose="020B0604020202090204"/>
            </a:endParaRPr>
          </a:p>
        </p:txBody>
      </p:sp>
      <p:pic>
        <p:nvPicPr>
          <p:cNvPr id="508" name="Picture 507" descr="con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000" y="3978000"/>
            <a:ext cx="546750" cy="486000"/>
          </a:xfrm>
          <a:prstGeom prst="rect">
            <a:avLst/>
          </a:prstGeom>
        </p:spPr>
      </p:pic>
      <p:sp>
        <p:nvSpPr>
          <p:cNvPr id="509" name="Rectangle 508"/>
          <p:cNvSpPr/>
          <p:nvPr/>
        </p:nvSpPr>
        <p:spPr>
          <a:xfrm>
            <a:off x="6318000" y="4518000"/>
            <a:ext cx="450000" cy="5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ctr"/>
          <a:lstStyle/>
          <a:p>
            <a:pPr algn="ctr"/>
            <a:endParaRPr sz="900" b="0">
              <a:solidFill>
                <a:srgbClr val="282828"/>
              </a:solidFill>
              <a:latin typeface="Arial" panose="020B060402020209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6318000" y="4572000"/>
            <a:ext cx="503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l"/>
            <a:r>
              <a:rPr sz="750" b="0">
                <a:solidFill>
                  <a:srgbClr val="B06816"/>
                </a:solidFill>
                <a:latin typeface="Arial" panose="020B0604020202090204"/>
              </a:rPr>
              <a:t>E3</a:t>
            </a:r>
            <a:endParaRPr sz="750" b="0">
              <a:solidFill>
                <a:srgbClr val="B06816"/>
              </a:solidFill>
              <a:latin typeface="Arial" panose="020B0604020202090204"/>
            </a:endParaRPr>
          </a:p>
        </p:txBody>
      </p:sp>
      <p:sp>
        <p:nvSpPr>
          <p:cNvPr id="511" name="Rectangle 510"/>
          <p:cNvSpPr/>
          <p:nvPr/>
        </p:nvSpPr>
        <p:spPr>
          <a:xfrm>
            <a:off x="5202000" y="4752000"/>
            <a:ext cx="1655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14400" rIns="28800" bIns="14400" rtlCol="0" anchor="t"/>
          <a:lstStyle/>
          <a:p>
            <a:pPr algn="ctr"/>
            <a:r>
              <a:rPr sz="750" b="0">
                <a:solidFill>
                  <a:srgbClr val="5F5F5F"/>
                </a:solidFill>
                <a:latin typeface="Arial" panose="020B0604020202090204"/>
              </a:rPr>
              <a:t>K conformers  ·  sorted by energy </a:t>
            </a:r>
            <a:endParaRPr sz="750" b="0">
              <a:solidFill>
                <a:srgbClr val="5F5F5F"/>
              </a:solidFill>
              <a:latin typeface="Arial" panose="020B0604020202090204"/>
            </a:endParaRPr>
          </a:p>
        </p:txBody>
      </p:sp>
      <p:sp>
        <p:nvSpPr>
          <p:cNvPr id="512" name="Rectangle 511"/>
          <p:cNvSpPr/>
          <p:nvPr/>
        </p:nvSpPr>
        <p:spPr>
          <a:xfrm>
            <a:off x="6948000" y="3960000"/>
            <a:ext cx="1296000" cy="97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10800" rIns="18000" bIns="10800" rtlCol="0" anchor="ctr"/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B06816"/>
                </a:solidFill>
                <a:latin typeface="Arial" panose="020B0604020202090204"/>
              </a:rPr>
              <a:t>atom feats  </a:t>
            </a:r>
            <a:r>
              <a:rPr sz="850" b="1">
                <a:solidFill>
                  <a:srgbClr val="282828"/>
                </a:solidFill>
                <a:latin typeface="Consolas"/>
              </a:rPr>
              <a:t>[K×64×128]</a:t>
            </a:r>
            <a:endParaRPr sz="850" b="1">
              <a:solidFill>
                <a:srgbClr val="282828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850" b="1">
                <a:solidFill>
                  <a:srgbClr val="B06816"/>
                </a:solidFill>
                <a:latin typeface="Arial" panose="020B0604020202090204"/>
              </a:rPr>
              <a:t>coords  </a:t>
            </a:r>
            <a:r>
              <a:rPr sz="850" b="1">
                <a:solidFill>
                  <a:srgbClr val="282828"/>
                </a:solidFill>
                <a:latin typeface="Consolas"/>
              </a:rPr>
              <a:t>[K×64×3]</a:t>
            </a:r>
            <a:r>
              <a:rPr sz="750" b="0">
                <a:solidFill>
                  <a:srgbClr val="787878"/>
                </a:solidFill>
                <a:latin typeface="Arial" panose="020B0604020202090204"/>
              </a:rPr>
              <a:t>  (x,y,z)</a:t>
            </a:r>
            <a:endParaRPr sz="750" b="0">
              <a:solidFill>
                <a:srgbClr val="787878"/>
              </a:solidFill>
              <a:latin typeface="Arial" panose="020B0604020202090204"/>
            </a:endParaRPr>
          </a:p>
          <a:p>
            <a:pPr algn="l">
              <a:spcAft>
                <a:spcPts val="300"/>
              </a:spcAft>
            </a:pPr>
            <a:r>
              <a:rPr sz="850" b="1">
                <a:solidFill>
                  <a:srgbClr val="B06816"/>
                </a:solidFill>
                <a:latin typeface="Arial" panose="020B0604020202090204"/>
              </a:rPr>
              <a:t>energy  </a:t>
            </a:r>
            <a:r>
              <a:rPr sz="850" b="1">
                <a:solidFill>
                  <a:srgbClr val="282828"/>
                </a:solidFill>
                <a:latin typeface="Consolas"/>
              </a:rPr>
              <a:t>[K]</a:t>
            </a:r>
            <a:r>
              <a:rPr sz="750" b="0">
                <a:solidFill>
                  <a:srgbClr val="787878"/>
                </a:solidFill>
                <a:latin typeface="Arial" panose="020B0604020202090204"/>
              </a:rPr>
              <a:t>  UFF → z-score</a:t>
            </a:r>
            <a:endParaRPr sz="750" b="0">
              <a:solidFill>
                <a:srgbClr val="787878"/>
              </a:solidFill>
              <a:latin typeface="Arial" panose="020B0604020202090204"/>
            </a:endParaRPr>
          </a:p>
          <a:p>
            <a:pPr algn="l">
              <a:spcAft>
                <a:spcPts val="300"/>
              </a:spcAft>
            </a:pPr>
            <a:r>
              <a:rPr sz="850" b="1">
                <a:solidFill>
                  <a:srgbClr val="B06816"/>
                </a:solidFill>
                <a:latin typeface="Arial" panose="020B0604020202090204"/>
              </a:rPr>
              <a:t>conf_mask  </a:t>
            </a:r>
            <a:r>
              <a:rPr sz="850" b="1">
                <a:solidFill>
                  <a:srgbClr val="282828"/>
                </a:solidFill>
                <a:latin typeface="Consolas"/>
              </a:rPr>
              <a:t>[K]</a:t>
            </a:r>
            <a:r>
              <a:rPr sz="750" b="0">
                <a:solidFill>
                  <a:srgbClr val="787878"/>
                </a:solidFill>
                <a:latin typeface="Arial" panose="020B0604020202090204"/>
              </a:rPr>
              <a:t>  valid confs</a:t>
            </a:r>
            <a:endParaRPr sz="750" b="0">
              <a:solidFill>
                <a:srgbClr val="787878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713</Words>
  <Application>WPS 演示</Application>
  <PresentationFormat>On-screen Show (4:3)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宋体</vt:lpstr>
      <vt:lpstr>Wingdings</vt:lpstr>
      <vt:lpstr>Arial</vt:lpstr>
      <vt:lpstr>Consolas</vt:lpstr>
      <vt:lpstr>Thonburi</vt:lpstr>
      <vt:lpstr>汉仪书宋二KW</vt:lpstr>
      <vt:lpstr>Calibri</vt:lpstr>
      <vt:lpstr>Helvetica Neue</vt:lpstr>
      <vt:lpstr>微软雅黑</vt:lpstr>
      <vt:lpstr>汉仪旗黑</vt:lpstr>
      <vt:lpstr>宋体</vt:lpstr>
      <vt:lpstr>Arial Unicode MS</vt:lpstr>
      <vt:lpstr>Consolas</vt:lpstr>
      <vt:lpstr>苹方-简</vt:lpstr>
      <vt:lpstr>Times New Roman Regular</vt:lpstr>
      <vt:lpstr>Times New Roman Bold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Changes</cp:lastModifiedBy>
  <cp:revision>4</cp:revision>
  <dcterms:created xsi:type="dcterms:W3CDTF">2026-06-16T12:19:28Z</dcterms:created>
  <dcterms:modified xsi:type="dcterms:W3CDTF">2026-06-16T12:19:28Z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6AA280020E604A306B30316A3CB67E5F_42</vt:lpwstr>
  </property>
</Properties>
</file>