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3"/>
  </p:sldIdLst>
  <p:sldSz cx="1219263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5"/>
        <p:guide pos="30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657" y="1143000"/>
            <a:ext cx="548668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9700" y="144145"/>
            <a:ext cx="5271135" cy="2339340"/>
          </a:xfrm>
          <a:prstGeom prst="roundRect">
            <a:avLst/>
          </a:prstGeom>
          <a:solidFill>
            <a:srgbClr val="F1F8F4"/>
          </a:solidFill>
          <a:ln w="12700" cap="sq">
            <a:solidFill>
              <a:srgbClr val="CED0D6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7825" y="205105"/>
            <a:ext cx="2879725" cy="212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90204"/>
              </a:rPr>
              <a:t>Drug Representation</a:t>
            </a:r>
            <a:endParaRPr sz="11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7665" y="504190"/>
            <a:ext cx="1259840" cy="5822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570" y="522000"/>
            <a:ext cx="792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66E46"/>
                </a:solidFill>
                <a:latin typeface="Arial" panose="020B0604020202090204"/>
              </a:rPr>
              <a:t>SMILES</a:t>
            </a:r>
            <a:endParaRPr sz="900" b="1">
              <a:solidFill>
                <a:srgbClr val="266E46"/>
              </a:solidFill>
              <a:latin typeface="Arial" panose="020B0604020202090204"/>
            </a:endParaRPr>
          </a:p>
        </p:txBody>
      </p:sp>
      <p:pic>
        <p:nvPicPr>
          <p:cNvPr id="6" name="Picture 5" descr="m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880" y="620720"/>
            <a:ext cx="630000" cy="4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7665" y="1235075"/>
            <a:ext cx="1259840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2D Molecular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Graph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7665" y="1835785"/>
            <a:ext cx="1259840" cy="4679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K Conformers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+ Energy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09500" y="56203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ChemBERTa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09500" y="123526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GCN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09500" y="1836100"/>
            <a:ext cx="936000" cy="45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90204"/>
              </a:rPr>
              <a:t>EGNN</a:t>
            </a:r>
            <a:endParaRPr sz="10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90900" y="538480"/>
            <a:ext cx="1767205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34325" y="567335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Molecular Semantics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6325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47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231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815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9924" y="8072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8324" y="78569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1535" y="1205865"/>
            <a:ext cx="1767205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4960" y="1234850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Topology Tokens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06960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653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237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821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0559" y="1467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8959" y="144558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90900" y="1780540"/>
            <a:ext cx="73088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34080" y="1798955"/>
            <a:ext cx="68770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Summaries</a:t>
            </a:r>
            <a:endParaRPr lang="en-US" altLang="zh-CN"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73940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32339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0739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20499" y="20832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44145" y="2592070"/>
            <a:ext cx="5266690" cy="1642745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2990" y="2720625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000" b="1">
                <a:solidFill>
                  <a:srgbClr val="B06816"/>
                </a:solidFill>
                <a:latin typeface="Arial" panose="020B0604020202090204"/>
              </a:rPr>
              <a:t>Target-aware Conformer Weighting</a:t>
            </a:r>
            <a:endParaRPr sz="10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7665" y="2988945"/>
            <a:ext cx="1259840" cy="5060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10185" y="3039110"/>
            <a:ext cx="1522730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Protein Seed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800" b="1">
                <a:solidFill>
                  <a:srgbClr val="2854A2"/>
                </a:solidFill>
                <a:latin typeface="Arial" panose="020B0604020202090204"/>
              </a:rPr>
              <a:t>Context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23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07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911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7794" y="326903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67665" y="3596640"/>
            <a:ext cx="1259840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34950" y="3646805"/>
            <a:ext cx="144970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Energy Embedding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535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19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03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8760" y="392839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7159" y="390679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002155" y="3197225"/>
            <a:ext cx="481330" cy="72009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06816"/>
                </a:solidFill>
                <a:latin typeface="Arial" panose="020B0604020202090204"/>
              </a:rPr>
              <a:t>MLP</a:t>
            </a:r>
            <a:endParaRPr sz="10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797690" y="2888110"/>
            <a:ext cx="936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900" b="1">
                <a:solidFill>
                  <a:srgbClr val="B06816"/>
                </a:solidFill>
                <a:latin typeface="Arial" panose="020B0604020202090204"/>
              </a:rPr>
              <a:t>α_k</a:t>
            </a:r>
            <a:endParaRPr sz="9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97690" y="3108750"/>
            <a:ext cx="2307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064450" y="3101549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90204"/>
              </a:rPr>
              <a:t>0.23</a:t>
            </a:r>
            <a:endParaRPr sz="85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797690" y="3396750"/>
            <a:ext cx="37764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204345" y="3385740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90204"/>
              </a:rPr>
              <a:t>0.47</a:t>
            </a:r>
            <a:endParaRPr sz="85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797690" y="3861915"/>
            <a:ext cx="1389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948520" y="3854714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90204"/>
              </a:rPr>
              <a:t>0.08</a:t>
            </a:r>
            <a:endParaRPr sz="85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791585" y="3435350"/>
            <a:ext cx="193675" cy="1917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284345" y="3186430"/>
            <a:ext cx="827405" cy="70294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374515" y="3219450"/>
            <a:ext cx="885825" cy="206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Target-aware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Geometry Tokens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99830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58230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16630" y="367310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75029" y="36515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543550" y="128270"/>
            <a:ext cx="1925320" cy="410591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662930" y="226695"/>
            <a:ext cx="1821180" cy="2774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90204"/>
              </a:rPr>
              <a:t>Token-wise</a:t>
            </a:r>
            <a:r>
              <a:rPr lang="en-US" sz="1100" b="1">
                <a:solidFill>
                  <a:srgbClr val="266E46"/>
                </a:solidFill>
                <a:latin typeface="Arial" panose="020B0604020202090204"/>
              </a:rPr>
              <a:t> </a:t>
            </a:r>
            <a:r>
              <a:rPr sz="1100" b="1">
                <a:solidFill>
                  <a:srgbClr val="266E46"/>
                </a:solidFill>
                <a:latin typeface="Arial" panose="020B0604020202090204"/>
                <a:sym typeface="+mn-ea"/>
              </a:rPr>
              <a:t>Fusion Gate</a:t>
            </a:r>
            <a:endParaRPr sz="1100" b="1">
              <a:solidFill>
                <a:srgbClr val="266E46"/>
              </a:solidFill>
              <a:latin typeface="Arial" panose="020B0604020202090204"/>
            </a:endParaRPr>
          </a:p>
          <a:p>
            <a:pPr algn="l"/>
            <a:endParaRPr lang="en-US" sz="11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969300" y="1762760"/>
            <a:ext cx="1080000" cy="216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66E46"/>
                </a:solidFill>
                <a:latin typeface="Arial" panose="020B0604020202090204"/>
              </a:rPr>
              <a:t>Gated Fusion</a:t>
            </a:r>
            <a:endParaRPr lang="en-US" altLang="zh-CN" sz="9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07075" y="2211070"/>
            <a:ext cx="1403985" cy="509270"/>
          </a:xfrm>
          <a:prstGeom prst="rect">
            <a:avLst/>
          </a:prstGeom>
          <a:solidFill>
            <a:srgbClr val="D8ECDE"/>
          </a:solidFill>
          <a:ln w="1016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93680" y="228210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DURG : Fused Drug  D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951710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10110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268509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26909" y="250467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85310" y="248307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807300" y="3544035"/>
            <a:ext cx="1403999" cy="4679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50499" y="3572140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Ligand Context  d_g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922500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80900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39299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97699" y="379534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56100" y="377374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159385" y="4349115"/>
            <a:ext cx="7324725" cy="2419350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421570" y="4442565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854A2"/>
                </a:solidFill>
                <a:latin typeface="Arial" panose="020B0604020202090204"/>
              </a:rPr>
              <a:t>Protein Representation</a:t>
            </a:r>
            <a:endParaRPr sz="11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92760" y="4725035"/>
            <a:ext cx="1057275" cy="183832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8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1943735" y="5035550"/>
            <a:ext cx="739775" cy="68008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</a:rPr>
              <a:t>ProtBERT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064510" y="4680585"/>
            <a:ext cx="88074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107490" y="4709485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Seed 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Context </a:t>
            </a: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</a:t>
            </a:r>
            <a:r>
              <a:rPr lang="en-US"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_g</a:t>
            </a:r>
            <a:endParaRPr lang="en-US" sz="8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1794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3378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96290" y="496868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654690" y="494708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900555" y="6062345"/>
            <a:ext cx="87185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943535" y="6091110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Seed Tokens  P0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20155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1739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332335" y="635030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490735" y="632871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4284345" y="4537710"/>
            <a:ext cx="967105" cy="147891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5666105" y="5187315"/>
            <a:ext cx="1301750" cy="152844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</a:p>
          <a:p>
            <a:pPr algn="ctr"/>
          </a:p>
          <a:p>
            <a:pPr algn="ctr"/>
            <a:endParaRPr sz="95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812790" y="4588510"/>
            <a:ext cx="1002030" cy="50419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5850255" y="4646930"/>
            <a:ext cx="102933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Protein Tokens  P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6144585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74690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318510" y="487324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497230" y="4842119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7631430" y="144780"/>
            <a:ext cx="4377690" cy="4866640"/>
          </a:xfrm>
          <a:prstGeom prst="roundRect">
            <a:avLst/>
          </a:prstGeom>
          <a:solidFill>
            <a:srgbClr val="F7F7F9"/>
          </a:solidFill>
          <a:ln w="19050">
            <a:solidFill>
              <a:srgbClr val="CED0D6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8220905" y="230810"/>
            <a:ext cx="2880000" cy="216000"/>
          </a:xfrm>
          <a:prstGeom prst="rect">
            <a:avLst/>
          </a:prstGeom>
          <a:ln w="19050" cap="rnd">
            <a:noFill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6242AA"/>
                </a:solidFill>
                <a:latin typeface="Arial" panose="020B0604020202090204"/>
              </a:rPr>
              <a:t>Protein-Mamba BiIntention Fusion</a:t>
            </a:r>
            <a:endParaRPr sz="11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8529320" y="703580"/>
            <a:ext cx="1262380" cy="690245"/>
          </a:xfrm>
          <a:prstGeom prst="roundRect">
            <a:avLst/>
          </a:prstGeom>
          <a:solidFill>
            <a:srgbClr val="E3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1000" b="1">
              <a:solidFill>
                <a:srgbClr val="6242AA"/>
              </a:solidFill>
              <a:latin typeface="Arial" panose="020B0604020202090204"/>
              <a:sym typeface="+mn-ea"/>
            </a:endParaRPr>
          </a:p>
          <a:p>
            <a:pPr algn="ctr"/>
            <a:r>
              <a:rPr sz="1000" b="1">
                <a:solidFill>
                  <a:srgbClr val="6242AA"/>
                </a:solidFill>
                <a:latin typeface="Arial" panose="020B0604020202090204"/>
                <a:sym typeface="+mn-ea"/>
              </a:rPr>
              <a:t>Bidirectional</a:t>
            </a:r>
            <a:endParaRPr sz="1000" b="1">
              <a:solidFill>
                <a:srgbClr val="6242AA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6242AA"/>
                </a:solidFill>
                <a:latin typeface="Arial" panose="020B0604020202090204"/>
                <a:sym typeface="+mn-ea"/>
              </a:rPr>
              <a:t>Mamba (SSM)</a:t>
            </a:r>
            <a:endParaRPr sz="10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10094360" y="863754"/>
            <a:ext cx="360000" cy="3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24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6242AA"/>
                </a:solidFill>
                <a:latin typeface="Arial" panose="020B0604020202090204"/>
              </a:rPr>
              <a:t>g </a:t>
            </a:r>
            <a:endParaRPr sz="9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0749280" y="838835"/>
            <a:ext cx="1019175" cy="467995"/>
          </a:xfrm>
          <a:prstGeom prst="rect">
            <a:avLst/>
          </a:prstGeom>
          <a:solidFill>
            <a:srgbClr val="E3DCF3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792495" y="867765"/>
            <a:ext cx="1065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6242AA"/>
                </a:solidFill>
                <a:latin typeface="Arial" panose="020B0604020202090204"/>
              </a:rPr>
              <a:t>Refined Protein  P'</a:t>
            </a:r>
            <a:endParaRPr sz="800" b="1">
              <a:solidFill>
                <a:srgbClr val="6242AA"/>
              </a:solidFill>
              <a:latin typeface="Arial" panose="020B0604020202090204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864495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022895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181295" y="109096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339695" y="1069364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7942580" y="1835785"/>
            <a:ext cx="3655695" cy="2988310"/>
          </a:xfrm>
          <a:prstGeom prst="roundRect">
            <a:avLst/>
          </a:prstGeom>
          <a:solidFill>
            <a:schemeClr val="bg2"/>
          </a:solidFill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8143475" y="1978475"/>
            <a:ext cx="3311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</a:rPr>
              <a:t>BiIntention · Bidirectional Cross-Attention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8143085" y="2320020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Protein-guided</a:t>
            </a:r>
            <a:br>
              <a:rPr lang="en-US" sz="900" b="1">
                <a:solidFill>
                  <a:srgbClr val="2854A2"/>
                </a:solidFill>
                <a:latin typeface="Arial" panose="020B0604020202090204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Drug Intention</a:t>
            </a:r>
            <a:endParaRPr lang="en-US"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10008195" y="2320020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Drug-guided</a:t>
            </a:r>
            <a:b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Intention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10278195" y="3257550"/>
            <a:ext cx="100800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</a:rPr>
              <a:t>Max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900" b="1">
                <a:solidFill>
                  <a:srgbClr val="2854A2"/>
                </a:solidFill>
                <a:latin typeface="Arial" panose="020B0604020202090204"/>
              </a:rPr>
              <a:t>Pool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ing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9017635" y="4058285"/>
            <a:ext cx="1676400" cy="53975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9242425" y="4147185"/>
            <a:ext cx="1200150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90204"/>
              </a:rPr>
              <a:t>Joint Representation  f  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9195745" y="437764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35265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50949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66634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82318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98003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136875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442340" y="433572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79" name="Rounded Rectangle 278"/>
          <p:cNvSpPr/>
          <p:nvPr/>
        </p:nvSpPr>
        <p:spPr>
          <a:xfrm>
            <a:off x="7615555" y="5111750"/>
            <a:ext cx="4393565" cy="1656080"/>
          </a:xfrm>
          <a:prstGeom prst="roundRect">
            <a:avLst/>
          </a:prstGeom>
          <a:solidFill>
            <a:srgbClr val="FDF5F2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9952990" y="5184775"/>
            <a:ext cx="2077085" cy="215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B23A24"/>
                </a:solidFill>
                <a:latin typeface="Arial" panose="020B0604020202090204"/>
              </a:rPr>
              <a:t>Interaction Prediction Head</a:t>
            </a:r>
            <a:endParaRPr sz="11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281" name="Rounded Rectangle 280"/>
          <p:cNvSpPr/>
          <p:nvPr/>
        </p:nvSpPr>
        <p:spPr>
          <a:xfrm>
            <a:off x="7860665" y="5728108"/>
            <a:ext cx="920750" cy="669925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23A24"/>
                </a:solidFill>
                <a:latin typeface="Arial" panose="020B0604020202090204"/>
              </a:rPr>
              <a:t>MLP</a:t>
            </a:r>
            <a:endParaRPr sz="10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10256875" y="5523070"/>
            <a:ext cx="1440000" cy="108000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100" b="1">
                <a:solidFill>
                  <a:srgbClr val="B23A24"/>
                </a:solidFill>
                <a:latin typeface="Arial" panose="020B0604020202090204"/>
              </a:rPr>
              <a:t>ŷ ∈ [0, 1]</a:t>
            </a:r>
            <a:endParaRPr sz="1100" b="1">
              <a:solidFill>
                <a:srgbClr val="B23A24"/>
              </a:solidFill>
              <a:latin typeface="Arial" panose="020B0604020202090204"/>
            </a:endParaRPr>
          </a:p>
          <a:p>
            <a:pPr algn="ctr"/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90204"/>
              </a:rPr>
              <a:t>Interaction</a:t>
            </a:r>
            <a:endParaRPr sz="1100" b="1">
              <a:solidFill>
                <a:srgbClr val="B23A24"/>
              </a:solidFill>
              <a:latin typeface="Arial" panose="020B0604020202090204"/>
            </a:endParaRPr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90204"/>
              </a:rPr>
              <a:t>Probability</a:t>
            </a:r>
            <a:endParaRPr sz="1100" b="1">
              <a:solidFill>
                <a:srgbClr val="B23A24"/>
              </a:solidFill>
              <a:latin typeface="Arial" panose="020B0604020202090204"/>
            </a:endParaRPr>
          </a:p>
        </p:txBody>
      </p:sp>
      <p:sp>
        <p:nvSpPr>
          <p:cNvPr id="37" name="Rectangle 46"/>
          <p:cNvSpPr/>
          <p:nvPr/>
        </p:nvSpPr>
        <p:spPr>
          <a:xfrm>
            <a:off x="453560" y="32906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本框 39"/>
          <p:cNvSpPr txBox="1"/>
          <p:nvPr/>
        </p:nvSpPr>
        <p:spPr>
          <a:xfrm>
            <a:off x="2772410" y="3444240"/>
            <a:ext cx="573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503050405090304" charset="0"/>
                <a:cs typeface="Times New Roman" panose="02020503050405090304" charset="0"/>
              </a:rPr>
              <a:t>...</a:t>
            </a:r>
            <a:endParaRPr lang="en-US" altLang="zh-CN"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385445" y="6047740"/>
            <a:ext cx="1305560" cy="59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MAVSEQLKVEEL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LSKNYHLENEVAR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90204"/>
                <a:sym typeface="+mn-ea"/>
              </a:rPr>
              <a:t>LKKLV ...</a:t>
            </a:r>
            <a:endParaRPr sz="8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469900" y="4756150"/>
            <a:ext cx="106553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sz="950" b="1">
                <a:solidFill>
                  <a:srgbClr val="2854A2"/>
                </a:solidFill>
                <a:latin typeface="Arial" panose="020B0604020202090204"/>
                <a:sym typeface="+mn-ea"/>
              </a:rPr>
              <a:t>Protein Sequenc</a:t>
            </a:r>
            <a:r>
              <a:rPr lang="en-US" sz="950" b="1">
                <a:solidFill>
                  <a:srgbClr val="2854A2"/>
                </a:solidFill>
                <a:latin typeface="Arial" panose="020B0604020202090204"/>
                <a:sym typeface="+mn-ea"/>
              </a:rPr>
              <a:t>e</a:t>
            </a:r>
            <a:endParaRPr lang="en-US" sz="95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40" name="Rectangle 27"/>
          <p:cNvSpPr/>
          <p:nvPr/>
        </p:nvSpPr>
        <p:spPr>
          <a:xfrm>
            <a:off x="4201160" y="1780540"/>
            <a:ext cx="95694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41" name="Rectangle 28"/>
          <p:cNvSpPr/>
          <p:nvPr/>
        </p:nvSpPr>
        <p:spPr>
          <a:xfrm>
            <a:off x="4267835" y="1798955"/>
            <a:ext cx="82994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90204"/>
              </a:rPr>
              <a:t>representations</a:t>
            </a:r>
            <a:endParaRPr lang="en-US" altLang="zh-CN"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42" name="Rectangle 29"/>
          <p:cNvSpPr/>
          <p:nvPr/>
        </p:nvSpPr>
        <p:spPr>
          <a:xfrm>
            <a:off x="4316585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0"/>
          <p:cNvSpPr/>
          <p:nvPr/>
        </p:nvSpPr>
        <p:spPr>
          <a:xfrm>
            <a:off x="4474984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1"/>
          <p:cNvSpPr/>
          <p:nvPr/>
        </p:nvSpPr>
        <p:spPr>
          <a:xfrm>
            <a:off x="4633384" y="21048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"/>
          <p:cNvSpPr/>
          <p:nvPr/>
        </p:nvSpPr>
        <p:spPr>
          <a:xfrm>
            <a:off x="4763144" y="20832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53" name="Rounded Rectangle 128"/>
          <p:cNvSpPr/>
          <p:nvPr/>
        </p:nvSpPr>
        <p:spPr>
          <a:xfrm>
            <a:off x="2987040" y="5628640"/>
            <a:ext cx="998220" cy="4191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854A2"/>
                </a:solidFill>
                <a:latin typeface="Arial" panose="020B0604020202090204"/>
              </a:rPr>
              <a:t>Masked Mean Pooling</a:t>
            </a:r>
            <a:endParaRPr lang="en-US" altLang="zh-CN"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69" name="Rounded Rectangle 128"/>
          <p:cNvSpPr/>
          <p:nvPr/>
        </p:nvSpPr>
        <p:spPr>
          <a:xfrm>
            <a:off x="5832475" y="6298565"/>
            <a:ext cx="963295" cy="25273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90204"/>
              </a:rPr>
              <a:t>Feed Forward</a:t>
            </a:r>
            <a:endParaRPr lang="en-US"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70" name="Rounded Rectangle 128"/>
          <p:cNvSpPr/>
          <p:nvPr/>
        </p:nvSpPr>
        <p:spPr>
          <a:xfrm>
            <a:off x="5832158" y="5400675"/>
            <a:ext cx="963295" cy="30226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90204"/>
              </a:rPr>
              <a:t>ACmix</a:t>
            </a:r>
            <a:endParaRPr lang="en-US" sz="10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371" name="Oval 66"/>
          <p:cNvSpPr/>
          <p:nvPr/>
        </p:nvSpPr>
        <p:spPr>
          <a:xfrm>
            <a:off x="6224270" y="5906135"/>
            <a:ext cx="179070" cy="180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377" name="Rounded Rectangle 128"/>
          <p:cNvSpPr/>
          <p:nvPr/>
        </p:nvSpPr>
        <p:spPr>
          <a:xfrm>
            <a:off x="4386580" y="4699000"/>
            <a:ext cx="759600" cy="26280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78" name="Rounded Rectangle 128"/>
          <p:cNvSpPr/>
          <p:nvPr/>
        </p:nvSpPr>
        <p:spPr>
          <a:xfrm>
            <a:off x="4387850" y="5154295"/>
            <a:ext cx="759600" cy="26280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SiLU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79" name="Rounded Rectangle 128"/>
          <p:cNvSpPr/>
          <p:nvPr/>
        </p:nvSpPr>
        <p:spPr>
          <a:xfrm>
            <a:off x="4385310" y="5609590"/>
            <a:ext cx="760730" cy="262890"/>
          </a:xfrm>
          <a:prstGeom prst="roundRect">
            <a:avLst/>
          </a:prstGeom>
          <a:solidFill>
            <a:srgbClr val="D6E3F6"/>
          </a:solidFill>
          <a:ln w="8890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00" tIns="14400" rIns="28800" bIns="144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383" name="Rounded Rectangle 95"/>
          <p:cNvSpPr/>
          <p:nvPr/>
        </p:nvSpPr>
        <p:spPr>
          <a:xfrm>
            <a:off x="5969300" y="3003650"/>
            <a:ext cx="1080000" cy="2159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900" b="1">
                <a:solidFill>
                  <a:srgbClr val="266E46"/>
                </a:solidFill>
                <a:latin typeface="Arial" panose="020B0604020202090204"/>
              </a:rPr>
              <a:t>Mean Pooling</a:t>
            </a:r>
            <a:endParaRPr lang="en-US" altLang="zh-CN" sz="9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385" name="Rectangle 143"/>
          <p:cNvSpPr/>
          <p:nvPr/>
        </p:nvSpPr>
        <p:spPr>
          <a:xfrm>
            <a:off x="7860665" y="675005"/>
            <a:ext cx="360000" cy="31369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  <a:sym typeface="+mn-ea"/>
              </a:rPr>
              <a:t>P</a:t>
            </a:r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394" name="Rectangle 106"/>
          <p:cNvSpPr/>
          <p:nvPr/>
        </p:nvSpPr>
        <p:spPr>
          <a:xfrm>
            <a:off x="7860665" y="1154430"/>
            <a:ext cx="360000" cy="313200"/>
          </a:xfrm>
          <a:prstGeom prst="rect">
            <a:avLst/>
          </a:prstGeom>
          <a:solidFill>
            <a:srgbClr val="D8ECDE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66E46"/>
                </a:solidFill>
                <a:latin typeface="Arial" panose="020B0604020202090204"/>
                <a:sym typeface="+mn-ea"/>
              </a:rPr>
              <a:t>D</a:t>
            </a:r>
            <a:endParaRPr lang="en-US"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402" name="Rounded Rectangle 251"/>
          <p:cNvSpPr/>
          <p:nvPr/>
        </p:nvSpPr>
        <p:spPr>
          <a:xfrm>
            <a:off x="8413213" y="3257550"/>
            <a:ext cx="1007745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900" b="1">
                <a:solidFill>
                  <a:srgbClr val="2854A2"/>
                </a:solidFill>
                <a:latin typeface="Arial" panose="020B0604020202090204"/>
              </a:rPr>
              <a:t>Max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 </a:t>
            </a:r>
            <a:r>
              <a:rPr sz="900" b="1">
                <a:solidFill>
                  <a:srgbClr val="2854A2"/>
                </a:solidFill>
                <a:latin typeface="Arial" panose="020B0604020202090204"/>
              </a:rPr>
              <a:t>Pool</a:t>
            </a:r>
            <a:r>
              <a:rPr lang="en-US" sz="900" b="1">
                <a:solidFill>
                  <a:srgbClr val="2854A2"/>
                </a:solidFill>
                <a:latin typeface="Arial" panose="020B0604020202090204"/>
              </a:rPr>
              <a:t>ing</a:t>
            </a:r>
            <a:endParaRPr sz="9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endParaRPr sz="900" b="1">
              <a:solidFill>
                <a:srgbClr val="2854A2"/>
              </a:solidFill>
              <a:latin typeface="Arial" panose="020B0604020202090204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797175" y="2822575"/>
            <a:ext cx="676910" cy="1257935"/>
          </a:xfrm>
          <a:prstGeom prst="rect">
            <a:avLst/>
          </a:prstGeom>
          <a:noFill/>
          <a:ln w="1270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76" name="图片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67055" y="5092700"/>
            <a:ext cx="982980" cy="908685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6873875" y="5644515"/>
            <a:ext cx="6121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sz="10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× 3</a:t>
            </a:r>
            <a:endParaRPr lang="zh-CN" altLang="en-US" sz="1000"/>
          </a:p>
        </p:txBody>
      </p:sp>
      <p:sp>
        <p:nvSpPr>
          <p:cNvPr id="98" name="Rectangle 260"/>
          <p:cNvSpPr/>
          <p:nvPr/>
        </p:nvSpPr>
        <p:spPr>
          <a:xfrm>
            <a:off x="10293720" y="4377640"/>
            <a:ext cx="12954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66"/>
          <p:cNvSpPr/>
          <p:nvPr/>
        </p:nvSpPr>
        <p:spPr>
          <a:xfrm>
            <a:off x="9427845" y="5936388"/>
            <a:ext cx="236855" cy="253365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800" b="1">
                <a:solidFill>
                  <a:srgbClr val="B06816"/>
                </a:solidFill>
                <a:latin typeface="Arial" panose="020B0604020202090204"/>
              </a:rPr>
              <a:t>σ</a:t>
            </a:r>
            <a:endParaRPr lang="en-US" altLang="zh-CN" sz="800" b="1">
              <a:solidFill>
                <a:srgbClr val="B06816"/>
              </a:solidFill>
              <a:latin typeface="Arial" panose="020B0604020202090204"/>
            </a:endParaRPr>
          </a:p>
        </p:txBody>
      </p:sp>
      <p:cxnSp>
        <p:nvCxnSpPr>
          <p:cNvPr id="33" name="直接箭头连接符 32"/>
          <p:cNvCxnSpPr>
            <a:stCxn id="4" idx="3"/>
          </p:cNvCxnSpPr>
          <p:nvPr/>
        </p:nvCxnSpPr>
        <p:spPr>
          <a:xfrm>
            <a:off x="1627505" y="795655"/>
            <a:ext cx="38227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627505" y="1467485"/>
            <a:ext cx="38227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1633220" y="2066290"/>
            <a:ext cx="38227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2945765" y="791845"/>
            <a:ext cx="445135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948305" y="1468755"/>
            <a:ext cx="445135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948305" y="2066290"/>
            <a:ext cx="445135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肘形连接符 80"/>
          <p:cNvCxnSpPr>
            <a:endCxn id="129" idx="0"/>
          </p:cNvCxnSpPr>
          <p:nvPr/>
        </p:nvCxnSpPr>
        <p:spPr>
          <a:xfrm>
            <a:off x="1553845" y="4801870"/>
            <a:ext cx="760095" cy="233680"/>
          </a:xfrm>
          <a:prstGeom prst="bentConnector2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2313940" y="5715635"/>
            <a:ext cx="0" cy="3321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stCxn id="136" idx="2"/>
            <a:endCxn id="369" idx="2"/>
          </p:cNvCxnSpPr>
          <p:nvPr/>
        </p:nvCxnSpPr>
        <p:spPr>
          <a:xfrm rot="5400000" flipH="1" flipV="1">
            <a:off x="4318000" y="4570095"/>
            <a:ext cx="15240" cy="3977640"/>
          </a:xfrm>
          <a:prstGeom prst="bentConnector3">
            <a:avLst>
              <a:gd name="adj1" fmla="val -770833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endCxn id="353" idx="2"/>
          </p:cNvCxnSpPr>
          <p:nvPr/>
        </p:nvCxnSpPr>
        <p:spPr>
          <a:xfrm flipV="1">
            <a:off x="3486150" y="6047740"/>
            <a:ext cx="0" cy="62801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353" idx="0"/>
          </p:cNvCxnSpPr>
          <p:nvPr/>
        </p:nvCxnSpPr>
        <p:spPr>
          <a:xfrm flipV="1">
            <a:off x="3486150" y="5184775"/>
            <a:ext cx="0" cy="44386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肘形连接符 104"/>
          <p:cNvCxnSpPr>
            <a:stCxn id="130" idx="0"/>
            <a:endCxn id="377" idx="0"/>
          </p:cNvCxnSpPr>
          <p:nvPr/>
        </p:nvCxnSpPr>
        <p:spPr>
          <a:xfrm rot="16200000" flipH="1">
            <a:off x="4126230" y="4058920"/>
            <a:ext cx="18415" cy="1261110"/>
          </a:xfrm>
          <a:prstGeom prst="bentConnector3">
            <a:avLst>
              <a:gd name="adj1" fmla="val -1294828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4270375" y="6092190"/>
            <a:ext cx="921385" cy="51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Ligand-conditioned</a:t>
            </a:r>
            <a:endParaRPr sz="1000" b="1">
              <a:solidFill>
                <a:srgbClr val="2854A2"/>
              </a:solidFill>
              <a:latin typeface="Arial" panose="020B0604020202090204"/>
            </a:endParaRPr>
          </a:p>
          <a:p>
            <a:pPr algn="ctr"/>
            <a:r>
              <a:rPr sz="1000" b="1">
                <a:solidFill>
                  <a:srgbClr val="2854A2"/>
                </a:solidFill>
                <a:latin typeface="Arial" panose="020B0604020202090204"/>
                <a:sym typeface="+mn-ea"/>
              </a:rPr>
              <a:t>FiLM</a:t>
            </a:r>
            <a:endParaRPr lang="zh-CN" altLang="en-US" sz="1000"/>
          </a:p>
          <a:p>
            <a:endParaRPr lang="zh-CN" altLang="en-US" sz="1000"/>
          </a:p>
        </p:txBody>
      </p:sp>
      <p:cxnSp>
        <p:nvCxnSpPr>
          <p:cNvPr id="122" name="肘形连接符 121"/>
          <p:cNvCxnSpPr>
            <a:stCxn id="379" idx="2"/>
            <a:endCxn id="371" idx="2"/>
          </p:cNvCxnSpPr>
          <p:nvPr/>
        </p:nvCxnSpPr>
        <p:spPr>
          <a:xfrm rot="5400000" flipV="1">
            <a:off x="5433060" y="5205095"/>
            <a:ext cx="123825" cy="1458595"/>
          </a:xfrm>
          <a:prstGeom prst="bentConnector2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>
            <a:endCxn id="378" idx="0"/>
          </p:cNvCxnSpPr>
          <p:nvPr/>
        </p:nvCxnSpPr>
        <p:spPr>
          <a:xfrm>
            <a:off x="4766310" y="4961890"/>
            <a:ext cx="1270" cy="1924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>
            <a:off x="4761865" y="5417185"/>
            <a:ext cx="1270" cy="19240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stCxn id="371" idx="0"/>
            <a:endCxn id="370" idx="2"/>
          </p:cNvCxnSpPr>
          <p:nvPr/>
        </p:nvCxnSpPr>
        <p:spPr>
          <a:xfrm flipV="1">
            <a:off x="6313805" y="5702935"/>
            <a:ext cx="635" cy="20320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>
            <a:stCxn id="370" idx="0"/>
            <a:endCxn id="144" idx="2"/>
          </p:cNvCxnSpPr>
          <p:nvPr/>
        </p:nvCxnSpPr>
        <p:spPr>
          <a:xfrm flipH="1" flipV="1">
            <a:off x="6313805" y="5092700"/>
            <a:ext cx="635" cy="30797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V="1">
            <a:off x="6313805" y="6092190"/>
            <a:ext cx="635" cy="20320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/>
          <p:cNvCxnSpPr>
            <a:stCxn id="114" idx="2"/>
            <a:endCxn id="377" idx="0"/>
          </p:cNvCxnSpPr>
          <p:nvPr/>
        </p:nvCxnSpPr>
        <p:spPr>
          <a:xfrm rot="5400000">
            <a:off x="5293995" y="3483610"/>
            <a:ext cx="687070" cy="1743075"/>
          </a:xfrm>
          <a:prstGeom prst="bentConnector3">
            <a:avLst>
              <a:gd name="adj1" fmla="val 62338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/>
          <p:cNvCxnSpPr>
            <a:endCxn id="59" idx="1"/>
          </p:cNvCxnSpPr>
          <p:nvPr/>
        </p:nvCxnSpPr>
        <p:spPr>
          <a:xfrm>
            <a:off x="1627505" y="3252470"/>
            <a:ext cx="374650" cy="304800"/>
          </a:xfrm>
          <a:prstGeom prst="bentConnector3">
            <a:avLst>
              <a:gd name="adj1" fmla="val 50169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/>
          <p:cNvCxnSpPr>
            <a:endCxn id="59" idx="1"/>
          </p:cNvCxnSpPr>
          <p:nvPr/>
        </p:nvCxnSpPr>
        <p:spPr>
          <a:xfrm flipV="1">
            <a:off x="1627505" y="3557270"/>
            <a:ext cx="374650" cy="349250"/>
          </a:xfrm>
          <a:prstGeom prst="bentConnector3">
            <a:avLst>
              <a:gd name="adj1" fmla="val 50169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/>
          <p:nvPr/>
        </p:nvCxnSpPr>
        <p:spPr>
          <a:xfrm>
            <a:off x="2483485" y="3557270"/>
            <a:ext cx="32004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/>
          <p:nvPr/>
        </p:nvCxnSpPr>
        <p:spPr>
          <a:xfrm>
            <a:off x="3474085" y="3540760"/>
            <a:ext cx="32004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/>
          <p:nvPr/>
        </p:nvCxnSpPr>
        <p:spPr>
          <a:xfrm>
            <a:off x="3985260" y="3540760"/>
            <a:ext cx="320040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/>
          <p:cNvCxnSpPr>
            <a:stCxn id="28" idx="2"/>
            <a:endCxn id="59" idx="0"/>
          </p:cNvCxnSpPr>
          <p:nvPr/>
        </p:nvCxnSpPr>
        <p:spPr>
          <a:xfrm rot="5400000">
            <a:off x="2561590" y="2001520"/>
            <a:ext cx="876935" cy="1513840"/>
          </a:xfrm>
          <a:prstGeom prst="bentConnector3">
            <a:avLst>
              <a:gd name="adj1" fmla="val 41383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/>
          <p:cNvCxnSpPr>
            <a:stCxn id="340" idx="2"/>
            <a:endCxn id="67" idx="0"/>
          </p:cNvCxnSpPr>
          <p:nvPr/>
        </p:nvCxnSpPr>
        <p:spPr>
          <a:xfrm rot="5400000">
            <a:off x="3726815" y="2482215"/>
            <a:ext cx="1115060" cy="791210"/>
          </a:xfrm>
          <a:prstGeom prst="bentConnector3">
            <a:avLst>
              <a:gd name="adj1" fmla="val 51537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肘形连接符 165"/>
          <p:cNvCxnSpPr>
            <a:stCxn id="68" idx="3"/>
            <a:endCxn id="89" idx="1"/>
          </p:cNvCxnSpPr>
          <p:nvPr/>
        </p:nvCxnSpPr>
        <p:spPr>
          <a:xfrm flipV="1">
            <a:off x="5111750" y="1195705"/>
            <a:ext cx="695325" cy="2342515"/>
          </a:xfrm>
          <a:prstGeom prst="bentConnector3">
            <a:avLst>
              <a:gd name="adj1" fmla="val 52785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>
            <a:stCxn id="89" idx="2"/>
            <a:endCxn id="96" idx="0"/>
          </p:cNvCxnSpPr>
          <p:nvPr/>
        </p:nvCxnSpPr>
        <p:spPr>
          <a:xfrm>
            <a:off x="6509385" y="1393825"/>
            <a:ext cx="0" cy="368935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>
            <a:endCxn id="107" idx="0"/>
          </p:cNvCxnSpPr>
          <p:nvPr/>
        </p:nvCxnSpPr>
        <p:spPr>
          <a:xfrm>
            <a:off x="6509385" y="1978660"/>
            <a:ext cx="0" cy="23241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5661025" y="446405"/>
            <a:ext cx="1676400" cy="1030605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184" name="直接箭头连接符 183"/>
          <p:cNvCxnSpPr>
            <a:stCxn id="107" idx="2"/>
            <a:endCxn id="383" idx="0"/>
          </p:cNvCxnSpPr>
          <p:nvPr/>
        </p:nvCxnSpPr>
        <p:spPr>
          <a:xfrm>
            <a:off x="6509385" y="2720340"/>
            <a:ext cx="0" cy="28321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>
            <a:stCxn id="383" idx="2"/>
          </p:cNvCxnSpPr>
          <p:nvPr/>
        </p:nvCxnSpPr>
        <p:spPr>
          <a:xfrm>
            <a:off x="6509385" y="3219450"/>
            <a:ext cx="0" cy="31877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807300" y="538390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850499" y="567190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90204"/>
              </a:rPr>
              <a:t>1D Semantics  d_1d</a:t>
            </a:r>
            <a:endParaRPr sz="800" b="1">
              <a:solidFill>
                <a:srgbClr val="266E46"/>
              </a:solidFill>
              <a:latin typeface="Arial" panose="020B060402020209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22500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0900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39299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97699" y="71839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56100" y="69679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807300" y="997305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9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50500" y="102610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90204"/>
              </a:rPr>
              <a:t>2D/3D Geometry  d_geo</a:t>
            </a:r>
            <a:endParaRPr sz="800" b="1">
              <a:solidFill>
                <a:srgbClr val="B06816"/>
              </a:solidFill>
              <a:latin typeface="Arial" panose="020B0604020202090204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22500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80900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39299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397699" y="117730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56100" y="115570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9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90204"/>
            </a:endParaRPr>
          </a:p>
        </p:txBody>
      </p:sp>
      <p:cxnSp>
        <p:nvCxnSpPr>
          <p:cNvPr id="164" name="直接箭头连接符 163"/>
          <p:cNvCxnSpPr/>
          <p:nvPr/>
        </p:nvCxnSpPr>
        <p:spPr>
          <a:xfrm>
            <a:off x="5158740" y="747395"/>
            <a:ext cx="648335" cy="0"/>
          </a:xfrm>
          <a:prstGeom prst="straightConnector1">
            <a:avLst/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肘形连接符 174"/>
          <p:cNvCxnSpPr>
            <a:stCxn id="20" idx="3"/>
          </p:cNvCxnSpPr>
          <p:nvPr/>
        </p:nvCxnSpPr>
        <p:spPr>
          <a:xfrm flipV="1">
            <a:off x="5158740" y="1195705"/>
            <a:ext cx="648335" cy="244475"/>
          </a:xfrm>
          <a:prstGeom prst="bentConnector3">
            <a:avLst>
              <a:gd name="adj1" fmla="val 50049"/>
            </a:avLst>
          </a:prstGeom>
          <a:ln w="19050" cap="flat" cmpd="sng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65" idx="3"/>
            <a:endCxn id="168" idx="2"/>
          </p:cNvCxnSpPr>
          <p:nvPr/>
        </p:nvCxnSpPr>
        <p:spPr>
          <a:xfrm flipV="1">
            <a:off x="9791700" y="1043940"/>
            <a:ext cx="302895" cy="508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/>
        </p:nvCxnSpPr>
        <p:spPr>
          <a:xfrm>
            <a:off x="10454640" y="1052830"/>
            <a:ext cx="294640" cy="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肘形连接符 188"/>
          <p:cNvCxnSpPr>
            <a:stCxn id="385" idx="3"/>
          </p:cNvCxnSpPr>
          <p:nvPr/>
        </p:nvCxnSpPr>
        <p:spPr>
          <a:xfrm>
            <a:off x="8220710" y="831850"/>
            <a:ext cx="308610" cy="3175"/>
          </a:xfrm>
          <a:prstGeom prst="bentConnector2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肘形连接符 189"/>
          <p:cNvCxnSpPr/>
          <p:nvPr/>
        </p:nvCxnSpPr>
        <p:spPr>
          <a:xfrm rot="5400000">
            <a:off x="10513695" y="1574800"/>
            <a:ext cx="1013460" cy="476885"/>
          </a:xfrm>
          <a:prstGeom prst="bentConnector3">
            <a:avLst>
              <a:gd name="adj1" fmla="val 43765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肘形连接符 190"/>
          <p:cNvCxnSpPr/>
          <p:nvPr/>
        </p:nvCxnSpPr>
        <p:spPr>
          <a:xfrm rot="5400000" flipV="1">
            <a:off x="8053705" y="1456055"/>
            <a:ext cx="851535" cy="876300"/>
          </a:xfrm>
          <a:prstGeom prst="bentConnector3">
            <a:avLst>
              <a:gd name="adj1" fmla="val 32923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>
            <a:off x="8910000" y="1749600"/>
            <a:ext cx="1864360" cy="0"/>
          </a:xfrm>
          <a:prstGeom prst="line">
            <a:avLst/>
          </a:prstGeom>
          <a:ln w="19050" cap="rnd">
            <a:solidFill>
              <a:srgbClr val="6242AA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81" idx="2"/>
            <a:endCxn id="402" idx="0"/>
          </p:cNvCxnSpPr>
          <p:nvPr/>
        </p:nvCxnSpPr>
        <p:spPr>
          <a:xfrm>
            <a:off x="8917305" y="2860040"/>
            <a:ext cx="0" cy="39751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>
            <a:off x="10792460" y="2854960"/>
            <a:ext cx="0" cy="39751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肘形连接符 198"/>
          <p:cNvCxnSpPr>
            <a:stCxn id="402" idx="2"/>
            <a:endCxn id="253" idx="0"/>
          </p:cNvCxnSpPr>
          <p:nvPr/>
        </p:nvCxnSpPr>
        <p:spPr>
          <a:xfrm rot="5400000" flipV="1">
            <a:off x="9156065" y="3357880"/>
            <a:ext cx="461645" cy="938530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肘形连接符 199"/>
          <p:cNvCxnSpPr>
            <a:stCxn id="252" idx="2"/>
          </p:cNvCxnSpPr>
          <p:nvPr/>
        </p:nvCxnSpPr>
        <p:spPr>
          <a:xfrm rot="5400000">
            <a:off x="10200005" y="3244215"/>
            <a:ext cx="229870" cy="934085"/>
          </a:xfrm>
          <a:prstGeom prst="bentConnector2">
            <a:avLst/>
          </a:prstGeom>
          <a:ln w="19050" cap="rnd">
            <a:solidFill>
              <a:srgbClr val="6242AA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肘形连接符 200"/>
          <p:cNvCxnSpPr>
            <a:stCxn id="179" idx="2"/>
            <a:endCxn id="281" idx="0"/>
          </p:cNvCxnSpPr>
          <p:nvPr/>
        </p:nvCxnSpPr>
        <p:spPr>
          <a:xfrm rot="5400000">
            <a:off x="8593773" y="4551363"/>
            <a:ext cx="904240" cy="1449705"/>
          </a:xfrm>
          <a:prstGeom prst="bentConnector3">
            <a:avLst>
              <a:gd name="adj1" fmla="val 49965"/>
            </a:avLst>
          </a:prstGeom>
          <a:ln w="19050" cap="rnd">
            <a:solidFill>
              <a:srgbClr val="6242AA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>
            <a:stCxn id="281" idx="3"/>
            <a:endCxn id="100" idx="2"/>
          </p:cNvCxnSpPr>
          <p:nvPr/>
        </p:nvCxnSpPr>
        <p:spPr>
          <a:xfrm>
            <a:off x="8781415" y="6063615"/>
            <a:ext cx="646430" cy="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>
            <a:stCxn id="100" idx="6"/>
            <a:endCxn id="310" idx="1"/>
          </p:cNvCxnSpPr>
          <p:nvPr/>
        </p:nvCxnSpPr>
        <p:spPr>
          <a:xfrm>
            <a:off x="9664700" y="6062980"/>
            <a:ext cx="592455" cy="0"/>
          </a:xfrm>
          <a:prstGeom prst="straightConnector1">
            <a:avLst/>
          </a:prstGeom>
          <a:ln w="19050" cap="rnd">
            <a:solidFill>
              <a:srgbClr val="6242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WPS 演示</Application>
  <PresentationFormat>On-screen Show (4:3)</PresentationFormat>
  <Paragraphs>171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Times New Roman</vt:lpstr>
      <vt:lpstr>汉仪书宋二KW</vt:lpstr>
      <vt:lpstr>Calibri</vt:lpstr>
      <vt:lpstr>Helvetica Neue</vt:lpstr>
      <vt:lpstr>宋体-简</vt:lpstr>
      <vt:lpstr>微软雅黑</vt:lpstr>
      <vt:lpstr>汉仪旗黑</vt:lpstr>
      <vt:lpstr>宋体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Changes</cp:lastModifiedBy>
  <cp:revision>83</cp:revision>
  <dcterms:created xsi:type="dcterms:W3CDTF">2026-06-22T09:36:53Z</dcterms:created>
  <dcterms:modified xsi:type="dcterms:W3CDTF">2026-06-22T09:36:53Z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7E95DADB501D40198A036DAC2A7FC248_13</vt:lpwstr>
  </property>
</Properties>
</file>