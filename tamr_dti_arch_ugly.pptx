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</p:sldIdLst>
  <p:sldSz cx="1219263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4"/>
        <p:guide pos="291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657" y="1143000"/>
            <a:ext cx="548668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9700" y="144145"/>
            <a:ext cx="5271135" cy="2578100"/>
          </a:xfrm>
          <a:prstGeom prst="roundRect">
            <a:avLst/>
          </a:prstGeom>
          <a:solidFill>
            <a:srgbClr val="F1F8F4"/>
          </a:solidFill>
          <a:ln w="12700" cap="sq">
            <a:solidFill>
              <a:srgbClr val="CED0D6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7825" y="205105"/>
            <a:ext cx="2879725" cy="212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66E46"/>
                </a:solidFill>
                <a:latin typeface="Arial" panose="020B0604020202020204"/>
              </a:rPr>
              <a:t>Drug Representation</a:t>
            </a:r>
            <a:endParaRPr sz="11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999" y="504000"/>
            <a:ext cx="1260000" cy="68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6000" y="522000"/>
            <a:ext cx="792000" cy="15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900" b="1">
                <a:solidFill>
                  <a:srgbClr val="266E46"/>
                </a:solidFill>
                <a:latin typeface="Arial" panose="020B0604020202020204"/>
              </a:rPr>
              <a:t>SMILES</a:t>
            </a:r>
            <a:endParaRPr sz="900" b="1">
              <a:solidFill>
                <a:srgbClr val="266E46"/>
              </a:solidFill>
              <a:latin typeface="Arial" panose="020B0604020202020204"/>
            </a:endParaRPr>
          </a:p>
        </p:txBody>
      </p:sp>
      <p:pic>
        <p:nvPicPr>
          <p:cNvPr id="6" name="Picture 5" descr="mo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000" y="702000"/>
            <a:ext cx="630000" cy="45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1999" y="1314000"/>
            <a:ext cx="1260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2D Molecular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Graph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2095" y="2016125"/>
            <a:ext cx="1259840" cy="56134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K Conformers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+ Energy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50115" y="562030"/>
            <a:ext cx="936000" cy="54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ChemBERTa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50115" y="1314635"/>
            <a:ext cx="936000" cy="54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GCN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50115" y="2038030"/>
            <a:ext cx="936000" cy="54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EGNN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17215" y="575945"/>
            <a:ext cx="136969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60640" y="604800"/>
            <a:ext cx="1749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20204"/>
              </a:rPr>
              <a:t>Molecular Semantics</a:t>
            </a:r>
            <a:endParaRPr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32640" y="900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1039" y="900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9439" y="900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7839" y="900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66239" y="900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4639" y="87840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17215" y="1313815"/>
            <a:ext cx="136969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160640" y="1342800"/>
            <a:ext cx="1749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20204"/>
              </a:rPr>
              <a:t>Topology Tokens</a:t>
            </a:r>
            <a:endParaRPr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32640" y="1638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1039" y="1638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49439" y="1638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07839" y="1638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66239" y="1638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24639" y="161640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17215" y="2051685"/>
            <a:ext cx="73088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160395" y="2070100"/>
            <a:ext cx="68770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  <a:t>Conformer </a:t>
            </a:r>
            <a:b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</a:br>
            <a: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  <a:t>Summaries</a:t>
            </a:r>
            <a:endParaRPr lang="en-US" altLang="zh-CN"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00255" y="2376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58654" y="2376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17054" y="2376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46814" y="235440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1511999" y="845999"/>
            <a:ext cx="323850" cy="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44145" y="2833370"/>
            <a:ext cx="5265420" cy="1530985"/>
          </a:xfrm>
          <a:prstGeom prst="roundRect">
            <a:avLst/>
          </a:prstGeom>
          <a:solidFill>
            <a:srgbClr val="FDF7EE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52990" y="2866040"/>
            <a:ext cx="28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000" b="1">
                <a:solidFill>
                  <a:srgbClr val="B06816"/>
                </a:solidFill>
                <a:latin typeface="Arial" panose="020B0604020202020204"/>
              </a:rPr>
              <a:t>Target-aware Conformer Weighting</a:t>
            </a:r>
            <a:endParaRPr sz="10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52095" y="3082290"/>
            <a:ext cx="1005840" cy="50609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24460" y="3096260"/>
            <a:ext cx="113347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800" b="1">
                <a:solidFill>
                  <a:srgbClr val="2854A2"/>
                </a:solidFill>
                <a:latin typeface="Arial" panose="020B0604020202020204"/>
              </a:rPr>
              <a:t>Protein Seed </a:t>
            </a:r>
            <a:br>
              <a:rPr sz="800" b="1">
                <a:solidFill>
                  <a:srgbClr val="2854A2"/>
                </a:solidFill>
                <a:latin typeface="Arial" panose="020B0604020202020204"/>
              </a:rPr>
            </a:br>
            <a:r>
              <a:rPr sz="800" b="1">
                <a:solidFill>
                  <a:srgbClr val="2854A2"/>
                </a:solidFill>
                <a:latin typeface="Arial" panose="020B0604020202020204"/>
              </a:rPr>
              <a:t>Context  p_g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96740" y="338397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5140" y="338397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540" y="338397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2224" y="336237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52095" y="3689985"/>
            <a:ext cx="99631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67640" y="3712210"/>
            <a:ext cx="1164590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Energy Embedding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  <a:p>
            <a:pPr algn="ctr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  u_k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37990" y="402174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6390" y="402174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4790" y="402174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3190" y="402174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1589" y="400014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511935" y="3275330"/>
            <a:ext cx="481330" cy="720090"/>
          </a:xfrm>
          <a:prstGeom prst="roundRect">
            <a:avLst/>
          </a:prstGeom>
          <a:solidFill>
            <a:srgbClr val="FAE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B06816"/>
                </a:solidFill>
                <a:latin typeface="Arial" panose="020B0604020202020204"/>
              </a:rPr>
              <a:t>MLP</a:t>
            </a:r>
            <a:endParaRPr sz="10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174120" y="3067180"/>
            <a:ext cx="936000" cy="15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900" b="1">
                <a:solidFill>
                  <a:srgbClr val="B06816"/>
                </a:solidFill>
                <a:latin typeface="Arial" panose="020B0604020202020204"/>
              </a:rPr>
              <a:t>α_k  (softmax)</a:t>
            </a:r>
            <a:endParaRPr sz="9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282070" y="3329730"/>
            <a:ext cx="23076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548830" y="3322529"/>
            <a:ext cx="3420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850" b="0">
                <a:solidFill>
                  <a:srgbClr val="282828"/>
                </a:solidFill>
                <a:latin typeface="Arial" panose="020B0604020202020204"/>
              </a:rPr>
              <a:t>0.23</a:t>
            </a:r>
            <a:endParaRPr sz="85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282070" y="3617730"/>
            <a:ext cx="37764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688725" y="3606720"/>
            <a:ext cx="3420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850" b="0">
                <a:solidFill>
                  <a:srgbClr val="282828"/>
                </a:solidFill>
                <a:latin typeface="Arial" panose="020B0604020202020204"/>
              </a:rPr>
              <a:t>0.47</a:t>
            </a:r>
            <a:endParaRPr sz="85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282070" y="4082895"/>
            <a:ext cx="13896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432900" y="4075694"/>
            <a:ext cx="3420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850" b="0">
                <a:solidFill>
                  <a:srgbClr val="282828"/>
                </a:solidFill>
                <a:latin typeface="Arial" panose="020B0604020202020204"/>
              </a:rPr>
              <a:t>0.08</a:t>
            </a:r>
            <a:endParaRPr sz="85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3275965" y="3545840"/>
            <a:ext cx="193675" cy="1790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6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×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768725" y="3296920"/>
            <a:ext cx="827405" cy="70294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858895" y="3329940"/>
            <a:ext cx="885825" cy="206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Target-aware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  <a:p>
            <a:pPr algn="l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Geometry Tokens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884210" y="378359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042610" y="378359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01010" y="378359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59409" y="376199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544185" y="144145"/>
            <a:ext cx="1925320" cy="425577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662930" y="283845"/>
            <a:ext cx="1821180" cy="2774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66E46"/>
                </a:solidFill>
                <a:latin typeface="Arial" panose="020B0604020202020204"/>
              </a:rPr>
              <a:t>Token-wise</a:t>
            </a:r>
            <a:r>
              <a:rPr lang="en-US" sz="1100" b="1">
                <a:solidFill>
                  <a:srgbClr val="266E46"/>
                </a:solidFill>
                <a:latin typeface="Arial" panose="020B0604020202020204"/>
              </a:rPr>
              <a:t> </a:t>
            </a:r>
            <a:r>
              <a:rPr sz="1100" b="1">
                <a:solidFill>
                  <a:srgbClr val="266E46"/>
                </a:solidFill>
                <a:latin typeface="Arial" panose="020B0604020202020204"/>
                <a:sym typeface="+mn-ea"/>
              </a:rPr>
              <a:t>Fusion Gate</a:t>
            </a:r>
            <a:endParaRPr sz="1100" b="1">
              <a:solidFill>
                <a:srgbClr val="266E46"/>
              </a:solidFill>
              <a:latin typeface="Arial" panose="020B0604020202020204"/>
            </a:endParaRPr>
          </a:p>
          <a:p>
            <a:pPr algn="l"/>
            <a:endParaRPr lang="en-US" sz="11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814920" y="675550"/>
            <a:ext cx="1403999" cy="39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5858119" y="704350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20204"/>
              </a:rPr>
              <a:t>1D Semantics  d_1d</a:t>
            </a:r>
            <a:endParaRPr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930120" y="85555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88520" y="85555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46919" y="85555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405319" y="85555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63720" y="83395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818095" y="1244955"/>
            <a:ext cx="1403999" cy="39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861294" y="1273755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2D/3D Geometry  d_geo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933295" y="142495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091695" y="142495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250094" y="142495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08494" y="142495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66895" y="140335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5817870" y="1856740"/>
            <a:ext cx="1403985" cy="37211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1000" b="1">
                <a:solidFill>
                  <a:srgbClr val="266E46"/>
                </a:solidFill>
                <a:latin typeface="Arial" panose="020B0604020202020204"/>
              </a:rPr>
              <a:t>Gated Fusion</a:t>
            </a:r>
            <a:endParaRPr lang="en-US" altLang="zh-CN"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850480" y="2404435"/>
            <a:ext cx="1403999" cy="468000"/>
          </a:xfrm>
          <a:prstGeom prst="rect">
            <a:avLst/>
          </a:prstGeom>
          <a:solidFill>
            <a:srgbClr val="D8ECDE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893679" y="2433235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20204"/>
              </a:rPr>
              <a:t>DURG : Fused Drug  D</a:t>
            </a:r>
            <a:endParaRPr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965680" y="265643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24080" y="265643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282479" y="265643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40879" y="265643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599280" y="263483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5818095" y="3764955"/>
            <a:ext cx="1403999" cy="46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861294" y="3793755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20204"/>
              </a:rPr>
              <a:t>Ligand Context  d_g</a:t>
            </a:r>
            <a:endParaRPr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5933295" y="40169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91695" y="40169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50094" y="40169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08494" y="40169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66895" y="399535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124" name="Connector 123"/>
          <p:cNvCxnSpPr>
            <a:stCxn id="96" idx="2"/>
          </p:cNvCxnSpPr>
          <p:nvPr/>
        </p:nvCxnSpPr>
        <p:spPr>
          <a:xfrm>
            <a:off x="6520095" y="2228685"/>
            <a:ext cx="17780" cy="15113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520094" y="3476955"/>
            <a:ext cx="0" cy="28800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144145" y="4481195"/>
            <a:ext cx="7324725" cy="2286635"/>
          </a:xfrm>
          <a:prstGeom prst="roundRect">
            <a:avLst/>
          </a:prstGeom>
          <a:solidFill>
            <a:srgbClr val="EFF4FC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352990" y="4544800"/>
            <a:ext cx="28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854A2"/>
                </a:solidFill>
                <a:latin typeface="Arial" panose="020B0604020202020204"/>
              </a:rPr>
              <a:t>Protein Representation</a:t>
            </a:r>
            <a:endParaRPr sz="11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74955" y="4785995"/>
            <a:ext cx="1057275" cy="183832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8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1434465" y="5097780"/>
            <a:ext cx="739775" cy="6985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854A2"/>
                </a:solidFill>
                <a:latin typeface="Arial" panose="020B0604020202020204"/>
              </a:rPr>
              <a:t>ProtBERT</a:t>
            </a:r>
            <a:endParaRPr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2249805" y="4723130"/>
            <a:ext cx="880745" cy="50419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2292785" y="4752030"/>
            <a:ext cx="921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Protein Seed </a:t>
            </a:r>
            <a:r>
              <a:rPr lang="en-US"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Context </a:t>
            </a:r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P</a:t>
            </a:r>
            <a:r>
              <a:rPr lang="en-US"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_g</a:t>
            </a:r>
            <a:endParaRPr lang="en-US" sz="800" b="1">
              <a:solidFill>
                <a:srgbClr val="2854A2"/>
              </a:solidFill>
              <a:latin typeface="Arial" panose="020B0604020202020204"/>
              <a:sym typeface="+mn-ea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2364785" y="50112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523185" y="50112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681585" y="50112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839985" y="498963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1440180" y="6055995"/>
            <a:ext cx="871855" cy="50419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1483160" y="6084760"/>
            <a:ext cx="921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Protein Seed Tokens  P0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1555160" y="634395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713560" y="634395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871960" y="634395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030360" y="632236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3390900" y="4771390"/>
            <a:ext cx="885825" cy="174180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4485640" y="4615180"/>
            <a:ext cx="1572895" cy="193484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ProteinACmix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× 3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</a:p>
          <a:p>
            <a:pPr algn="ctr"/>
          </a:p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6476425" y="5312955"/>
            <a:ext cx="936000" cy="503999"/>
          </a:xfrm>
          <a:prstGeom prst="rect">
            <a:avLst/>
          </a:prstGeom>
          <a:solidFill>
            <a:srgbClr val="D6E3F6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6525975" y="5341755"/>
            <a:ext cx="8496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20204"/>
              </a:rPr>
              <a:t>Protein Tokens  P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6591625" y="560095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750025" y="560095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908425" y="560095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066825" y="5579354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56" name="Rounded Rectangle 155"/>
          <p:cNvSpPr/>
          <p:nvPr/>
        </p:nvSpPr>
        <p:spPr>
          <a:xfrm>
            <a:off x="7631430" y="144780"/>
            <a:ext cx="4359910" cy="486664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8259005" y="201600"/>
            <a:ext cx="28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6242AA"/>
                </a:solidFill>
                <a:latin typeface="Arial" panose="020B0604020202020204"/>
              </a:rPr>
              <a:t>Protein-Mamba BiIntention Fusion</a:t>
            </a:r>
            <a:endParaRPr sz="1100" b="1">
              <a:solidFill>
                <a:srgbClr val="6242AA"/>
              </a:solidFill>
              <a:latin typeface="Arial" panose="020B0604020202020204"/>
            </a:endParaRPr>
          </a:p>
        </p:txBody>
      </p:sp>
      <p:sp>
        <p:nvSpPr>
          <p:cNvPr id="165" name="Rounded Rectangle 164"/>
          <p:cNvSpPr/>
          <p:nvPr/>
        </p:nvSpPr>
        <p:spPr>
          <a:xfrm>
            <a:off x="8352155" y="647065"/>
            <a:ext cx="1400175" cy="730250"/>
          </a:xfrm>
          <a:prstGeom prst="roundRect">
            <a:avLst/>
          </a:prstGeom>
          <a:solidFill>
            <a:srgbClr val="E3D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1100" b="1">
              <a:solidFill>
                <a:srgbClr val="6242AA"/>
              </a:solidFill>
              <a:latin typeface="Arial" panose="020B0604020202020204"/>
              <a:sym typeface="+mn-ea"/>
            </a:endParaRPr>
          </a:p>
          <a:p>
            <a:pPr algn="ctr"/>
            <a:r>
              <a:rPr sz="1100" b="1">
                <a:solidFill>
                  <a:srgbClr val="6242AA"/>
                </a:solidFill>
                <a:latin typeface="Arial" panose="020B0604020202020204"/>
                <a:sym typeface="+mn-ea"/>
              </a:rPr>
              <a:t>Bidirectional</a:t>
            </a:r>
            <a:endParaRPr sz="1100" b="1">
              <a:solidFill>
                <a:srgbClr val="6242AA"/>
              </a:solidFill>
              <a:latin typeface="Arial" panose="020B0604020202020204"/>
            </a:endParaRPr>
          </a:p>
          <a:p>
            <a:pPr algn="ctr"/>
            <a:r>
              <a:rPr sz="1100" b="1">
                <a:solidFill>
                  <a:srgbClr val="6242AA"/>
                </a:solidFill>
                <a:latin typeface="Arial" panose="020B0604020202020204"/>
                <a:sym typeface="+mn-ea"/>
              </a:rPr>
              <a:t>Mamba (SSM)</a:t>
            </a:r>
            <a:endParaRPr sz="1100" b="1">
              <a:solidFill>
                <a:srgbClr val="6242AA"/>
              </a:solidFill>
              <a:latin typeface="Arial" panose="020B0604020202020204"/>
            </a:endParaRPr>
          </a:p>
          <a:p>
            <a:pPr algn="ctr"/>
            <a:endParaRPr sz="1100" b="1">
              <a:solidFill>
                <a:srgbClr val="6242AA"/>
              </a:solidFill>
              <a:latin typeface="Arial" panose="020B0604020202020204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10008000" y="791999"/>
            <a:ext cx="360000" cy="3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24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6242AA"/>
                </a:solidFill>
                <a:latin typeface="Arial" panose="020B0604020202020204"/>
              </a:rPr>
              <a:t>g </a:t>
            </a:r>
            <a:endParaRPr sz="900" b="1">
              <a:solidFill>
                <a:srgbClr val="6242AA"/>
              </a:solidFill>
              <a:latin typeface="Arial" panose="020B0604020202020204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10548000" y="737999"/>
            <a:ext cx="1152000" cy="468000"/>
          </a:xfrm>
          <a:prstGeom prst="rect">
            <a:avLst/>
          </a:prstGeom>
          <a:solidFill>
            <a:srgbClr val="E3DCF3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10591200" y="766800"/>
            <a:ext cx="10656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6242AA"/>
                </a:solidFill>
                <a:latin typeface="Arial" panose="020B0604020202020204"/>
              </a:rPr>
              <a:t>Refined Protein  P'</a:t>
            </a:r>
            <a:endParaRPr sz="800" b="1">
              <a:solidFill>
                <a:srgbClr val="6242AA"/>
              </a:solidFill>
              <a:latin typeface="Arial" panose="020B0604020202020204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0663200" y="98999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0821600" y="98999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980000" y="98999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138400" y="968399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177" name="Connector 176"/>
          <p:cNvCxnSpPr/>
          <p:nvPr/>
        </p:nvCxnSpPr>
        <p:spPr>
          <a:xfrm>
            <a:off x="9756000" y="971999"/>
            <a:ext cx="252000" cy="0"/>
          </a:xfrm>
          <a:prstGeom prst="line">
            <a:avLst/>
          </a:prstGeom>
          <a:ln w="16510" cap="rnd">
            <a:solidFill>
              <a:srgbClr val="6242A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368000" y="971999"/>
            <a:ext cx="180000" cy="0"/>
          </a:xfrm>
          <a:prstGeom prst="line">
            <a:avLst/>
          </a:prstGeom>
          <a:ln w="16510" cap="rnd">
            <a:solidFill>
              <a:srgbClr val="6242A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/>
          <p:cNvSpPr/>
          <p:nvPr/>
        </p:nvSpPr>
        <p:spPr>
          <a:xfrm>
            <a:off x="7942580" y="1835785"/>
            <a:ext cx="3721735" cy="2988310"/>
          </a:xfrm>
          <a:prstGeom prst="roundRect">
            <a:avLst/>
          </a:prstGeom>
          <a:solidFill>
            <a:srgbClr val="EFF4FC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8280000" y="1886400"/>
            <a:ext cx="33119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854A2"/>
                </a:solidFill>
                <a:latin typeface="Arial" panose="020B0604020202020204"/>
              </a:rPr>
              <a:t>BiIntention · Bidirectional Cross-Attention</a:t>
            </a:r>
            <a:endParaRPr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7811615" y="2159365"/>
            <a:ext cx="1548000" cy="5400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900" b="1">
                <a:solidFill>
                  <a:srgbClr val="2854A2"/>
                </a:solidFill>
                <a:latin typeface="Arial" panose="020B0604020202020204"/>
              </a:rPr>
              <a:t>Protein-guided</a:t>
            </a:r>
            <a:br>
              <a:rPr lang="en-US" sz="900" b="1">
                <a:solidFill>
                  <a:srgbClr val="2854A2"/>
                </a:solidFill>
                <a:latin typeface="Arial" panose="020B0604020202020204"/>
              </a:rPr>
            </a:br>
            <a:r>
              <a:rPr lang="en-US" sz="900" b="1">
                <a:solidFill>
                  <a:srgbClr val="2854A2"/>
                </a:solidFill>
                <a:latin typeface="Arial" panose="020B0604020202020204"/>
              </a:rPr>
              <a:t>Drug Intention</a:t>
            </a:r>
            <a:endParaRPr lang="en-US" sz="9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82" name="Rounded Rectangle 181"/>
          <p:cNvSpPr/>
          <p:nvPr/>
        </p:nvSpPr>
        <p:spPr>
          <a:xfrm>
            <a:off x="9791660" y="2159365"/>
            <a:ext cx="1548000" cy="5400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900" b="1">
                <a:solidFill>
                  <a:srgbClr val="2854A2"/>
                </a:solidFill>
                <a:latin typeface="Arial" panose="020B0604020202020204"/>
                <a:sym typeface="+mn-ea"/>
              </a:rPr>
              <a:t>Drug-guided</a:t>
            </a:r>
            <a:br>
              <a:rPr lang="en-US" sz="900" b="1">
                <a:solidFill>
                  <a:srgbClr val="2854A2"/>
                </a:solidFill>
                <a:latin typeface="Arial" panose="020B0604020202020204"/>
                <a:sym typeface="+mn-ea"/>
              </a:rPr>
            </a:br>
            <a:r>
              <a:rPr lang="en-US" sz="900" b="1">
                <a:solidFill>
                  <a:srgbClr val="2854A2"/>
                </a:solidFill>
                <a:latin typeface="Arial" panose="020B0604020202020204"/>
                <a:sym typeface="+mn-ea"/>
              </a:rPr>
              <a:t>Protein Intention</a:t>
            </a:r>
            <a:endParaRPr sz="9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252" name="Rounded Rectangle 251"/>
          <p:cNvSpPr/>
          <p:nvPr/>
        </p:nvSpPr>
        <p:spPr>
          <a:xfrm>
            <a:off x="9791700" y="3113405"/>
            <a:ext cx="1548130" cy="33909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Max</a:t>
            </a:r>
            <a:r>
              <a:rPr lang="en-US" sz="950" b="1">
                <a:solidFill>
                  <a:srgbClr val="2854A2"/>
                </a:solidFill>
                <a:latin typeface="Arial" panose="020B0604020202020204"/>
              </a:rPr>
              <a:t> </a:t>
            </a:r>
            <a:r>
              <a:rPr sz="950" b="1">
                <a:solidFill>
                  <a:srgbClr val="2854A2"/>
                </a:solidFill>
                <a:latin typeface="Arial" panose="020B0604020202020204"/>
              </a:rPr>
              <a:t>Pool</a:t>
            </a:r>
            <a:r>
              <a:rPr lang="en-US" sz="950" b="1">
                <a:solidFill>
                  <a:srgbClr val="2854A2"/>
                </a:solidFill>
                <a:latin typeface="Arial" panose="020B0604020202020204"/>
              </a:rPr>
              <a:t>ing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8784000" y="4140000"/>
            <a:ext cx="2232000" cy="540000"/>
          </a:xfrm>
          <a:prstGeom prst="rect">
            <a:avLst/>
          </a:prstGeom>
          <a:solidFill>
            <a:srgbClr val="D6E3F6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8827200" y="4168800"/>
            <a:ext cx="21456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20204"/>
              </a:rPr>
              <a:t>Joint Representation  f   [bs, 256]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255" name="Rectangle 254"/>
          <p:cNvSpPr/>
          <p:nvPr/>
        </p:nvSpPr>
        <p:spPr>
          <a:xfrm>
            <a:off x="88992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0576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2160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3744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5328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6912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8496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0008000" y="444240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64" name="Freeform 263"/>
          <p:cNvSpPr/>
          <p:nvPr/>
        </p:nvSpPr>
        <p:spPr>
          <a:xfrm>
            <a:off x="10746105" y="1205865"/>
            <a:ext cx="400685" cy="953770"/>
          </a:xfrm>
          <a:custGeom>
            <a:avLst/>
            <a:gdLst/>
            <a:ahLst/>
            <a:cxnLst/>
            <a:rect l="l" t="t" r="r" b="b"/>
            <a:pathLst>
              <a:path w="378000" h="954001">
                <a:moveTo>
                  <a:pt x="378000" y="0"/>
                </a:moveTo>
                <a:lnTo>
                  <a:pt x="378000" y="369000"/>
                </a:lnTo>
                <a:lnTo>
                  <a:pt x="376313" y="394313"/>
                </a:lnTo>
                <a:lnTo>
                  <a:pt x="371250" y="416250"/>
                </a:lnTo>
                <a:lnTo>
                  <a:pt x="362812" y="434813"/>
                </a:lnTo>
                <a:lnTo>
                  <a:pt x="351000" y="450000"/>
                </a:lnTo>
                <a:lnTo>
                  <a:pt x="335812" y="461813"/>
                </a:lnTo>
                <a:lnTo>
                  <a:pt x="317250" y="470250"/>
                </a:lnTo>
                <a:lnTo>
                  <a:pt x="295312" y="475313"/>
                </a:lnTo>
                <a:lnTo>
                  <a:pt x="270000" y="477000"/>
                </a:lnTo>
                <a:lnTo>
                  <a:pt x="108000" y="477000"/>
                </a:lnTo>
                <a:lnTo>
                  <a:pt x="82688" y="478688"/>
                </a:lnTo>
                <a:lnTo>
                  <a:pt x="60750" y="483750"/>
                </a:lnTo>
                <a:lnTo>
                  <a:pt x="42188" y="492188"/>
                </a:lnTo>
                <a:lnTo>
                  <a:pt x="27000" y="504000"/>
                </a:lnTo>
                <a:lnTo>
                  <a:pt x="15188" y="519188"/>
                </a:lnTo>
                <a:lnTo>
                  <a:pt x="6750" y="537750"/>
                </a:lnTo>
                <a:lnTo>
                  <a:pt x="1687" y="559688"/>
                </a:lnTo>
                <a:lnTo>
                  <a:pt x="0" y="585000"/>
                </a:lnTo>
                <a:lnTo>
                  <a:pt x="0" y="954001"/>
                </a:lnTo>
              </a:path>
            </a:pathLst>
          </a:custGeom>
          <a:noFill/>
          <a:ln w="16510" cap="rnd">
            <a:solidFill>
              <a:srgbClr val="6242AA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>
            <a:off x="8585615" y="2699365"/>
            <a:ext cx="0" cy="23400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565660" y="2699365"/>
            <a:ext cx="0" cy="41400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Freeform 266"/>
          <p:cNvSpPr/>
          <p:nvPr/>
        </p:nvSpPr>
        <p:spPr>
          <a:xfrm>
            <a:off x="9126000" y="3870000"/>
            <a:ext cx="774000" cy="270000"/>
          </a:xfrm>
          <a:custGeom>
            <a:avLst/>
            <a:gdLst/>
            <a:ahLst/>
            <a:cxnLst/>
            <a:rect l="l" t="t" r="r" b="b"/>
            <a:pathLst>
              <a:path w="774000" h="270000">
                <a:moveTo>
                  <a:pt x="0" y="0"/>
                </a:moveTo>
                <a:lnTo>
                  <a:pt x="0" y="67500"/>
                </a:lnTo>
                <a:lnTo>
                  <a:pt x="1055" y="83320"/>
                </a:lnTo>
                <a:lnTo>
                  <a:pt x="4219" y="97031"/>
                </a:lnTo>
                <a:lnTo>
                  <a:pt x="9492" y="108633"/>
                </a:lnTo>
                <a:lnTo>
                  <a:pt x="16875" y="118125"/>
                </a:lnTo>
                <a:lnTo>
                  <a:pt x="26367" y="125508"/>
                </a:lnTo>
                <a:lnTo>
                  <a:pt x="37969" y="130781"/>
                </a:lnTo>
                <a:lnTo>
                  <a:pt x="51680" y="133945"/>
                </a:lnTo>
                <a:lnTo>
                  <a:pt x="67500" y="135000"/>
                </a:lnTo>
                <a:lnTo>
                  <a:pt x="706500" y="135000"/>
                </a:lnTo>
                <a:lnTo>
                  <a:pt x="722320" y="136055"/>
                </a:lnTo>
                <a:lnTo>
                  <a:pt x="736031" y="139219"/>
                </a:lnTo>
                <a:lnTo>
                  <a:pt x="747633" y="144492"/>
                </a:lnTo>
                <a:lnTo>
                  <a:pt x="757125" y="151875"/>
                </a:lnTo>
                <a:lnTo>
                  <a:pt x="764508" y="161367"/>
                </a:lnTo>
                <a:lnTo>
                  <a:pt x="769781" y="172969"/>
                </a:lnTo>
                <a:lnTo>
                  <a:pt x="772945" y="186680"/>
                </a:lnTo>
                <a:lnTo>
                  <a:pt x="774000" y="202500"/>
                </a:lnTo>
                <a:lnTo>
                  <a:pt x="774000" y="27000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9900000" y="3690000"/>
            <a:ext cx="846000" cy="450000"/>
          </a:xfrm>
          <a:custGeom>
            <a:avLst/>
            <a:gdLst/>
            <a:ahLst/>
            <a:cxnLst/>
            <a:rect l="l" t="t" r="r" b="b"/>
            <a:pathLst>
              <a:path w="846000" h="450000">
                <a:moveTo>
                  <a:pt x="846000" y="0"/>
                </a:moveTo>
                <a:lnTo>
                  <a:pt x="846000" y="117000"/>
                </a:lnTo>
                <a:lnTo>
                  <a:pt x="844312" y="142312"/>
                </a:lnTo>
                <a:lnTo>
                  <a:pt x="839250" y="164250"/>
                </a:lnTo>
                <a:lnTo>
                  <a:pt x="830812" y="182812"/>
                </a:lnTo>
                <a:lnTo>
                  <a:pt x="819000" y="198000"/>
                </a:lnTo>
                <a:lnTo>
                  <a:pt x="803812" y="209812"/>
                </a:lnTo>
                <a:lnTo>
                  <a:pt x="785250" y="218250"/>
                </a:lnTo>
                <a:lnTo>
                  <a:pt x="763312" y="223313"/>
                </a:lnTo>
                <a:lnTo>
                  <a:pt x="738000" y="225000"/>
                </a:lnTo>
                <a:lnTo>
                  <a:pt x="108000" y="225000"/>
                </a:lnTo>
                <a:lnTo>
                  <a:pt x="82688" y="226687"/>
                </a:lnTo>
                <a:lnTo>
                  <a:pt x="60750" y="231750"/>
                </a:lnTo>
                <a:lnTo>
                  <a:pt x="42188" y="240188"/>
                </a:lnTo>
                <a:lnTo>
                  <a:pt x="27000" y="252000"/>
                </a:lnTo>
                <a:lnTo>
                  <a:pt x="15188" y="267188"/>
                </a:lnTo>
                <a:lnTo>
                  <a:pt x="6750" y="285750"/>
                </a:lnTo>
                <a:lnTo>
                  <a:pt x="1688" y="307688"/>
                </a:lnTo>
                <a:lnTo>
                  <a:pt x="0" y="333000"/>
                </a:lnTo>
                <a:lnTo>
                  <a:pt x="0" y="45000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ounded Rectangle 278"/>
          <p:cNvSpPr/>
          <p:nvPr/>
        </p:nvSpPr>
        <p:spPr>
          <a:xfrm>
            <a:off x="7615555" y="5111750"/>
            <a:ext cx="4444365" cy="1656080"/>
          </a:xfrm>
          <a:prstGeom prst="roundRect">
            <a:avLst/>
          </a:prstGeom>
          <a:solidFill>
            <a:srgbClr val="FDF5F2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7783390" y="5285170"/>
            <a:ext cx="28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B23A24"/>
                </a:solidFill>
                <a:latin typeface="Arial" panose="020B0604020202020204"/>
              </a:rPr>
              <a:t>Interaction Prediction Head</a:t>
            </a:r>
            <a:endParaRPr sz="1100" b="1">
              <a:solidFill>
                <a:srgbClr val="B23A24"/>
              </a:solidFill>
              <a:latin typeface="Arial" panose="020B0604020202020204"/>
            </a:endParaRPr>
          </a:p>
        </p:txBody>
      </p:sp>
      <p:sp>
        <p:nvSpPr>
          <p:cNvPr id="281" name="Rounded Rectangle 280"/>
          <p:cNvSpPr/>
          <p:nvPr/>
        </p:nvSpPr>
        <p:spPr>
          <a:xfrm>
            <a:off x="7632045" y="5579585"/>
            <a:ext cx="1296000" cy="1080000"/>
          </a:xfrm>
          <a:prstGeom prst="roundRect">
            <a:avLst/>
          </a:prstGeom>
          <a:solidFill>
            <a:srgbClr val="F7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B23A24"/>
                </a:solidFill>
                <a:latin typeface="Arial" panose="020B0604020202020204"/>
              </a:rPr>
              <a:t>MLP Decoder</a:t>
            </a:r>
            <a:endParaRPr sz="1000" b="1">
              <a:solidFill>
                <a:srgbClr val="B23A24"/>
              </a:solidFill>
              <a:latin typeface="Arial" panose="020B0604020202020204"/>
            </a:endParaRPr>
          </a:p>
          <a:p>
            <a:pPr algn="ctr"/>
            <a:r>
              <a:rPr sz="1000" b="1">
                <a:solidFill>
                  <a:srgbClr val="B23A24"/>
                </a:solidFill>
                <a:latin typeface="Arial" panose="020B0604020202020204"/>
              </a:rPr>
              <a:t>(FC × 3 + ReLU</a:t>
            </a:r>
            <a:r>
              <a:rPr lang="en-US" sz="1000" b="1">
                <a:solidFill>
                  <a:srgbClr val="B23A24"/>
                </a:solidFill>
                <a:latin typeface="Arial" panose="020B0604020202020204"/>
              </a:rPr>
              <a:t>+layernorm</a:t>
            </a:r>
            <a:r>
              <a:rPr sz="1000" b="1">
                <a:solidFill>
                  <a:srgbClr val="B23A24"/>
                </a:solidFill>
                <a:latin typeface="Arial" panose="020B0604020202020204"/>
              </a:rPr>
              <a:t>)</a:t>
            </a:r>
            <a:endParaRPr sz="1000" b="1">
              <a:solidFill>
                <a:srgbClr val="B23A24"/>
              </a:solidFill>
              <a:latin typeface="Arial" panose="020B0604020202020204"/>
            </a:endParaRPr>
          </a:p>
        </p:txBody>
      </p:sp>
      <p:cxnSp>
        <p:nvCxnSpPr>
          <p:cNvPr id="283" name="Connector 282"/>
          <p:cNvCxnSpPr/>
          <p:nvPr/>
        </p:nvCxnSpPr>
        <p:spPr>
          <a:xfrm>
            <a:off x="9144000" y="5778000"/>
            <a:ext cx="0" cy="540000"/>
          </a:xfrm>
          <a:prstGeom prst="line">
            <a:avLst/>
          </a:prstGeom>
          <a:ln w="12700">
            <a:solidFill>
              <a:srgbClr val="AAA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9144000" y="6318000"/>
            <a:ext cx="702000" cy="0"/>
          </a:xfrm>
          <a:prstGeom prst="line">
            <a:avLst/>
          </a:prstGeom>
          <a:ln w="12700">
            <a:solidFill>
              <a:srgbClr val="AAA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9144000" y="6308777"/>
            <a:ext cx="27000" cy="794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9171000" y="6307474"/>
            <a:ext cx="27000" cy="1303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9198000" y="6305341"/>
            <a:ext cx="27000" cy="2133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9225000" y="6301864"/>
            <a:ext cx="27000" cy="3477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9252000" y="6296237"/>
            <a:ext cx="27000" cy="5627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9279000" y="6287238"/>
            <a:ext cx="27000" cy="8999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9306000" y="6273113"/>
            <a:ext cx="27000" cy="14125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9333000" y="6251579"/>
            <a:ext cx="27000" cy="21534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9360000" y="6220170"/>
            <a:ext cx="27000" cy="31409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9387000" y="6177189"/>
            <a:ext cx="27000" cy="42981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9414000" y="6123237"/>
            <a:ext cx="27000" cy="53952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9441000" y="6062400"/>
            <a:ext cx="27000" cy="60837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9468000" y="6001562"/>
            <a:ext cx="27000" cy="60838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9495000" y="5947610"/>
            <a:ext cx="27000" cy="53952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9522000" y="5904629"/>
            <a:ext cx="27000" cy="42981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9549000" y="5873220"/>
            <a:ext cx="27000" cy="31409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9576000" y="5851686"/>
            <a:ext cx="27000" cy="21534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9603000" y="5837561"/>
            <a:ext cx="27000" cy="14125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9630000" y="5828562"/>
            <a:ext cx="27000" cy="8999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657000" y="5822935"/>
            <a:ext cx="27000" cy="5627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684000" y="5819458"/>
            <a:ext cx="27000" cy="3477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711000" y="5817325"/>
            <a:ext cx="27000" cy="2133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738000" y="5816022"/>
            <a:ext cx="27000" cy="1303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765000" y="5815228"/>
            <a:ext cx="27000" cy="794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>
            <a:off x="8928000" y="6469200"/>
            <a:ext cx="1080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B23A24"/>
                </a:solidFill>
                <a:latin typeface="Arial" panose="020B0604020202020204"/>
              </a:rPr>
              <a:t>Sigmoid</a:t>
            </a:r>
            <a:endParaRPr sz="900" b="1">
              <a:solidFill>
                <a:srgbClr val="B23A24"/>
              </a:solidFill>
              <a:latin typeface="Arial" panose="020B0604020202020204"/>
            </a:endParaRPr>
          </a:p>
        </p:txBody>
      </p:sp>
      <p:sp>
        <p:nvSpPr>
          <p:cNvPr id="310" name="Rounded Rectangle 309"/>
          <p:cNvSpPr/>
          <p:nvPr/>
        </p:nvSpPr>
        <p:spPr>
          <a:xfrm>
            <a:off x="10547070" y="5481160"/>
            <a:ext cx="1440000" cy="1080000"/>
          </a:xfrm>
          <a:prstGeom prst="roundRect">
            <a:avLst/>
          </a:prstGeom>
          <a:solidFill>
            <a:srgbClr val="F7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100" b="1">
                <a:solidFill>
                  <a:srgbClr val="B23A24"/>
                </a:solidFill>
                <a:latin typeface="Arial" panose="020B0604020202020204"/>
              </a:rPr>
              <a:t>ŷ ∈ [0, 1]</a:t>
            </a:r>
            <a:endParaRPr sz="1100" b="1">
              <a:solidFill>
                <a:srgbClr val="B23A24"/>
              </a:solidFill>
              <a:latin typeface="Arial" panose="020B0604020202020204"/>
            </a:endParaRPr>
          </a:p>
          <a:p>
            <a:pPr algn="ctr"/>
          </a:p>
          <a:p>
            <a:pPr algn="ctr"/>
            <a:r>
              <a:rPr sz="1100" b="1">
                <a:solidFill>
                  <a:srgbClr val="B23A24"/>
                </a:solidFill>
                <a:latin typeface="Arial" panose="020B0604020202020204"/>
              </a:rPr>
              <a:t>Interaction</a:t>
            </a:r>
            <a:endParaRPr sz="1100" b="1">
              <a:solidFill>
                <a:srgbClr val="B23A24"/>
              </a:solidFill>
              <a:latin typeface="Arial" panose="020B0604020202020204"/>
            </a:endParaRPr>
          </a:p>
          <a:p>
            <a:pPr algn="ctr"/>
            <a:r>
              <a:rPr sz="1100" b="1">
                <a:solidFill>
                  <a:srgbClr val="B23A24"/>
                </a:solidFill>
                <a:latin typeface="Arial" panose="020B0604020202020204"/>
              </a:rPr>
              <a:t>Probability</a:t>
            </a:r>
            <a:endParaRPr sz="1100" b="1">
              <a:solidFill>
                <a:srgbClr val="B23A24"/>
              </a:solidFill>
              <a:latin typeface="Arial" panose="020B0604020202020204"/>
            </a:endParaRPr>
          </a:p>
        </p:txBody>
      </p:sp>
      <p:sp>
        <p:nvSpPr>
          <p:cNvPr id="311" name="Freeform 310"/>
          <p:cNvSpPr/>
          <p:nvPr/>
        </p:nvSpPr>
        <p:spPr>
          <a:xfrm>
            <a:off x="8298180" y="4679950"/>
            <a:ext cx="1531620" cy="918210"/>
          </a:xfrm>
          <a:custGeom>
            <a:avLst/>
            <a:gdLst/>
            <a:ahLst/>
            <a:cxnLst/>
            <a:rect l="l" t="t" r="r" b="b"/>
            <a:pathLst>
              <a:path w="1980000" h="918000">
                <a:moveTo>
                  <a:pt x="1980000" y="0"/>
                </a:moveTo>
                <a:lnTo>
                  <a:pt x="1980000" y="351000"/>
                </a:lnTo>
                <a:lnTo>
                  <a:pt x="1978312" y="376312"/>
                </a:lnTo>
                <a:lnTo>
                  <a:pt x="1973250" y="398250"/>
                </a:lnTo>
                <a:lnTo>
                  <a:pt x="1964812" y="416812"/>
                </a:lnTo>
                <a:lnTo>
                  <a:pt x="1953000" y="432000"/>
                </a:lnTo>
                <a:lnTo>
                  <a:pt x="1937812" y="443812"/>
                </a:lnTo>
                <a:lnTo>
                  <a:pt x="1919250" y="452250"/>
                </a:lnTo>
                <a:lnTo>
                  <a:pt x="1897312" y="457312"/>
                </a:lnTo>
                <a:lnTo>
                  <a:pt x="1872000" y="459000"/>
                </a:lnTo>
                <a:lnTo>
                  <a:pt x="108000" y="459000"/>
                </a:lnTo>
                <a:lnTo>
                  <a:pt x="82688" y="460688"/>
                </a:lnTo>
                <a:lnTo>
                  <a:pt x="60750" y="465750"/>
                </a:lnTo>
                <a:lnTo>
                  <a:pt x="42188" y="474188"/>
                </a:lnTo>
                <a:lnTo>
                  <a:pt x="27000" y="486000"/>
                </a:lnTo>
                <a:lnTo>
                  <a:pt x="15188" y="501188"/>
                </a:lnTo>
                <a:lnTo>
                  <a:pt x="6750" y="519750"/>
                </a:lnTo>
                <a:lnTo>
                  <a:pt x="1688" y="541688"/>
                </a:lnTo>
                <a:lnTo>
                  <a:pt x="0" y="567000"/>
                </a:lnTo>
                <a:lnTo>
                  <a:pt x="0" y="91800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2" name="Connector 311"/>
          <p:cNvCxnSpPr/>
          <p:nvPr/>
        </p:nvCxnSpPr>
        <p:spPr>
          <a:xfrm>
            <a:off x="8568000" y="6138000"/>
            <a:ext cx="360000" cy="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0008000" y="6138000"/>
            <a:ext cx="360000" cy="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Freeform 314"/>
          <p:cNvSpPr/>
          <p:nvPr/>
        </p:nvSpPr>
        <p:spPr>
          <a:xfrm>
            <a:off x="4499610" y="1421765"/>
            <a:ext cx="558800" cy="189865"/>
          </a:xfrm>
          <a:custGeom>
            <a:avLst/>
            <a:gdLst/>
            <a:ahLst/>
            <a:cxnLst/>
            <a:rect l="l" t="t" r="r" b="b"/>
            <a:pathLst>
              <a:path w="450001" h="162000">
                <a:moveTo>
                  <a:pt x="0" y="162000"/>
                </a:moveTo>
                <a:lnTo>
                  <a:pt x="144001" y="162000"/>
                </a:lnTo>
                <a:lnTo>
                  <a:pt x="162985" y="160734"/>
                </a:lnTo>
                <a:lnTo>
                  <a:pt x="179438" y="156938"/>
                </a:lnTo>
                <a:lnTo>
                  <a:pt x="193360" y="150609"/>
                </a:lnTo>
                <a:lnTo>
                  <a:pt x="204751" y="141750"/>
                </a:lnTo>
                <a:lnTo>
                  <a:pt x="213610" y="130359"/>
                </a:lnTo>
                <a:lnTo>
                  <a:pt x="219938" y="116438"/>
                </a:lnTo>
                <a:lnTo>
                  <a:pt x="223735" y="99984"/>
                </a:lnTo>
                <a:lnTo>
                  <a:pt x="225001" y="81000"/>
                </a:lnTo>
                <a:lnTo>
                  <a:pt x="225001" y="81000"/>
                </a:lnTo>
                <a:lnTo>
                  <a:pt x="226266" y="62016"/>
                </a:lnTo>
                <a:lnTo>
                  <a:pt x="230063" y="45563"/>
                </a:lnTo>
                <a:lnTo>
                  <a:pt x="236391" y="31641"/>
                </a:lnTo>
                <a:lnTo>
                  <a:pt x="245251" y="20250"/>
                </a:lnTo>
                <a:lnTo>
                  <a:pt x="256641" y="11391"/>
                </a:lnTo>
                <a:lnTo>
                  <a:pt x="270563" y="5063"/>
                </a:lnTo>
                <a:lnTo>
                  <a:pt x="287016" y="1266"/>
                </a:lnTo>
                <a:lnTo>
                  <a:pt x="306001" y="0"/>
                </a:lnTo>
                <a:lnTo>
                  <a:pt x="450001" y="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Connector 35"/>
          <p:cNvCxnSpPr>
            <a:stCxn id="7" idx="3"/>
            <a:endCxn id="10" idx="1"/>
          </p:cNvCxnSpPr>
          <p:nvPr/>
        </p:nvCxnSpPr>
        <p:spPr>
          <a:xfrm>
            <a:off x="1511999" y="1583869"/>
            <a:ext cx="338455" cy="635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5"/>
          <p:cNvCxnSpPr>
            <a:stCxn id="8" idx="3"/>
          </p:cNvCxnSpPr>
          <p:nvPr/>
        </p:nvCxnSpPr>
        <p:spPr>
          <a:xfrm>
            <a:off x="1511999" y="2296974"/>
            <a:ext cx="338455" cy="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5"/>
          <p:cNvCxnSpPr/>
          <p:nvPr/>
        </p:nvCxnSpPr>
        <p:spPr>
          <a:xfrm>
            <a:off x="2786444" y="846634"/>
            <a:ext cx="323850" cy="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5"/>
          <p:cNvCxnSpPr/>
          <p:nvPr/>
        </p:nvCxnSpPr>
        <p:spPr>
          <a:xfrm>
            <a:off x="2786444" y="1584504"/>
            <a:ext cx="323850" cy="635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5"/>
          <p:cNvCxnSpPr/>
          <p:nvPr/>
        </p:nvCxnSpPr>
        <p:spPr>
          <a:xfrm>
            <a:off x="2786444" y="2323009"/>
            <a:ext cx="323850" cy="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5"/>
          <p:cNvCxnSpPr>
            <a:stCxn id="12" idx="3"/>
          </p:cNvCxnSpPr>
          <p:nvPr/>
        </p:nvCxnSpPr>
        <p:spPr>
          <a:xfrm>
            <a:off x="4486974" y="845999"/>
            <a:ext cx="730885" cy="635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5"/>
          <p:cNvCxnSpPr>
            <a:stCxn id="82" idx="2"/>
            <a:endCxn id="96" idx="0"/>
          </p:cNvCxnSpPr>
          <p:nvPr/>
        </p:nvCxnSpPr>
        <p:spPr>
          <a:xfrm>
            <a:off x="6517069" y="1072059"/>
            <a:ext cx="3175" cy="78486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Freeform 319"/>
          <p:cNvSpPr/>
          <p:nvPr/>
        </p:nvSpPr>
        <p:spPr>
          <a:xfrm>
            <a:off x="4643120" y="1425575"/>
            <a:ext cx="414020" cy="2211070"/>
          </a:xfrm>
          <a:custGeom>
            <a:avLst/>
            <a:gdLst/>
            <a:ahLst/>
            <a:cxnLst/>
            <a:rect l="l" t="t" r="r" b="b"/>
            <a:pathLst>
              <a:path w="414001" h="792000">
                <a:moveTo>
                  <a:pt x="0" y="792000"/>
                </a:moveTo>
                <a:lnTo>
                  <a:pt x="103500" y="792000"/>
                </a:lnTo>
                <a:lnTo>
                  <a:pt x="127758" y="790383"/>
                </a:lnTo>
                <a:lnTo>
                  <a:pt x="148782" y="785531"/>
                </a:lnTo>
                <a:lnTo>
                  <a:pt x="166571" y="777445"/>
                </a:lnTo>
                <a:lnTo>
                  <a:pt x="181125" y="766125"/>
                </a:lnTo>
                <a:lnTo>
                  <a:pt x="192446" y="751570"/>
                </a:lnTo>
                <a:lnTo>
                  <a:pt x="200532" y="733781"/>
                </a:lnTo>
                <a:lnTo>
                  <a:pt x="205383" y="712758"/>
                </a:lnTo>
                <a:lnTo>
                  <a:pt x="207001" y="688500"/>
                </a:lnTo>
                <a:lnTo>
                  <a:pt x="207001" y="103500"/>
                </a:lnTo>
                <a:lnTo>
                  <a:pt x="208618" y="79242"/>
                </a:lnTo>
                <a:lnTo>
                  <a:pt x="213469" y="58219"/>
                </a:lnTo>
                <a:lnTo>
                  <a:pt x="221555" y="40430"/>
                </a:lnTo>
                <a:lnTo>
                  <a:pt x="232876" y="25875"/>
                </a:lnTo>
                <a:lnTo>
                  <a:pt x="247430" y="14555"/>
                </a:lnTo>
                <a:lnTo>
                  <a:pt x="265219" y="6469"/>
                </a:lnTo>
                <a:lnTo>
                  <a:pt x="286243" y="1617"/>
                </a:lnTo>
                <a:lnTo>
                  <a:pt x="310501" y="0"/>
                </a:lnTo>
                <a:lnTo>
                  <a:pt x="414001" y="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46"/>
          <p:cNvSpPr/>
          <p:nvPr/>
        </p:nvSpPr>
        <p:spPr>
          <a:xfrm>
            <a:off x="337990" y="338397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5"/>
          <p:cNvCxnSpPr/>
          <p:nvPr/>
        </p:nvCxnSpPr>
        <p:spPr>
          <a:xfrm>
            <a:off x="1921574" y="3636824"/>
            <a:ext cx="274320" cy="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2256790" y="3665220"/>
            <a:ext cx="5734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0" name="Connector 35"/>
          <p:cNvCxnSpPr/>
          <p:nvPr/>
        </p:nvCxnSpPr>
        <p:spPr>
          <a:xfrm>
            <a:off x="3001709" y="3636824"/>
            <a:ext cx="274320" cy="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35"/>
          <p:cNvCxnSpPr/>
          <p:nvPr/>
        </p:nvCxnSpPr>
        <p:spPr>
          <a:xfrm>
            <a:off x="3494469" y="3636824"/>
            <a:ext cx="274320" cy="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文本框 316"/>
          <p:cNvSpPr txBox="1"/>
          <p:nvPr/>
        </p:nvSpPr>
        <p:spPr>
          <a:xfrm>
            <a:off x="167640" y="6062345"/>
            <a:ext cx="1305560" cy="59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MAVSEQLKVEEL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  <a:p>
            <a:pPr algn="ctr">
              <a:buClrTx/>
              <a:buSzTx/>
              <a:buNone/>
            </a:pPr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LSKNYHLENEVAR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  <a:p>
            <a:pPr algn="ctr">
              <a:buClrTx/>
              <a:buSzTx/>
              <a:buNone/>
            </a:pPr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LKKLV ...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252095" y="4817110"/>
            <a:ext cx="106553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None/>
            </a:pPr>
            <a:r>
              <a:rPr sz="950" b="1">
                <a:solidFill>
                  <a:srgbClr val="2854A2"/>
                </a:solidFill>
                <a:latin typeface="Arial" panose="020B0604020202020204"/>
                <a:sym typeface="+mn-ea"/>
              </a:rPr>
              <a:t>Protein Sequenc</a:t>
            </a:r>
            <a:r>
              <a:rPr lang="en-US" sz="950" b="1">
                <a:solidFill>
                  <a:srgbClr val="2854A2"/>
                </a:solidFill>
                <a:latin typeface="Arial" panose="020B0604020202020204"/>
                <a:sym typeface="+mn-ea"/>
              </a:rPr>
              <a:t>e</a:t>
            </a:r>
            <a:endParaRPr lang="en-US" sz="950" b="1">
              <a:solidFill>
                <a:srgbClr val="2854A2"/>
              </a:solidFill>
              <a:latin typeface="Arial" panose="020B0604020202020204"/>
              <a:sym typeface="+mn-ea"/>
            </a:endParaRPr>
          </a:p>
        </p:txBody>
      </p:sp>
      <p:sp>
        <p:nvSpPr>
          <p:cNvPr id="340" name="Rectangle 27"/>
          <p:cNvSpPr/>
          <p:nvPr/>
        </p:nvSpPr>
        <p:spPr>
          <a:xfrm>
            <a:off x="3927475" y="2051685"/>
            <a:ext cx="86931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341" name="Rectangle 28"/>
          <p:cNvSpPr/>
          <p:nvPr/>
        </p:nvSpPr>
        <p:spPr>
          <a:xfrm>
            <a:off x="3994150" y="2070100"/>
            <a:ext cx="82994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  <a:t>Conformer </a:t>
            </a:r>
            <a:b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</a:br>
            <a: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  <a:t>representations</a:t>
            </a:r>
            <a:endParaRPr lang="en-US" altLang="zh-CN"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342" name="Rectangle 29"/>
          <p:cNvSpPr/>
          <p:nvPr/>
        </p:nvSpPr>
        <p:spPr>
          <a:xfrm>
            <a:off x="4042900" y="2376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0"/>
          <p:cNvSpPr/>
          <p:nvPr/>
        </p:nvSpPr>
        <p:spPr>
          <a:xfrm>
            <a:off x="4201299" y="2376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1"/>
          <p:cNvSpPr/>
          <p:nvPr/>
        </p:nvSpPr>
        <p:spPr>
          <a:xfrm>
            <a:off x="4359699" y="237600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"/>
          <p:cNvSpPr/>
          <p:nvPr/>
        </p:nvSpPr>
        <p:spPr>
          <a:xfrm>
            <a:off x="4489459" y="235440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347" name="直接箭头连接符 346"/>
          <p:cNvCxnSpPr/>
          <p:nvPr/>
        </p:nvCxnSpPr>
        <p:spPr>
          <a:xfrm>
            <a:off x="1257935" y="3441065"/>
            <a:ext cx="254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直接箭头连接符 347"/>
          <p:cNvCxnSpPr/>
          <p:nvPr/>
        </p:nvCxnSpPr>
        <p:spPr>
          <a:xfrm>
            <a:off x="1248410" y="3884295"/>
            <a:ext cx="2635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Freeform 263"/>
          <p:cNvSpPr/>
          <p:nvPr/>
        </p:nvSpPr>
        <p:spPr>
          <a:xfrm>
            <a:off x="3369310" y="2590800"/>
            <a:ext cx="989965" cy="1004570"/>
          </a:xfrm>
          <a:custGeom>
            <a:avLst/>
            <a:gdLst/>
            <a:ahLst/>
            <a:cxnLst/>
            <a:rect l="l" t="t" r="r" b="b"/>
            <a:pathLst>
              <a:path w="378000" h="954001">
                <a:moveTo>
                  <a:pt x="378000" y="0"/>
                </a:moveTo>
                <a:lnTo>
                  <a:pt x="378000" y="369000"/>
                </a:lnTo>
                <a:lnTo>
                  <a:pt x="376313" y="394313"/>
                </a:lnTo>
                <a:lnTo>
                  <a:pt x="371250" y="416250"/>
                </a:lnTo>
                <a:lnTo>
                  <a:pt x="362812" y="434813"/>
                </a:lnTo>
                <a:lnTo>
                  <a:pt x="351000" y="450000"/>
                </a:lnTo>
                <a:lnTo>
                  <a:pt x="335812" y="461813"/>
                </a:lnTo>
                <a:lnTo>
                  <a:pt x="317250" y="470250"/>
                </a:lnTo>
                <a:lnTo>
                  <a:pt x="295312" y="475313"/>
                </a:lnTo>
                <a:lnTo>
                  <a:pt x="270000" y="477000"/>
                </a:lnTo>
                <a:lnTo>
                  <a:pt x="108000" y="477000"/>
                </a:lnTo>
                <a:lnTo>
                  <a:pt x="82688" y="478688"/>
                </a:lnTo>
                <a:lnTo>
                  <a:pt x="60750" y="483750"/>
                </a:lnTo>
                <a:lnTo>
                  <a:pt x="42188" y="492188"/>
                </a:lnTo>
                <a:lnTo>
                  <a:pt x="27000" y="504000"/>
                </a:lnTo>
                <a:lnTo>
                  <a:pt x="15188" y="519188"/>
                </a:lnTo>
                <a:lnTo>
                  <a:pt x="6750" y="537750"/>
                </a:lnTo>
                <a:lnTo>
                  <a:pt x="1687" y="559688"/>
                </a:lnTo>
                <a:lnTo>
                  <a:pt x="0" y="585000"/>
                </a:lnTo>
                <a:lnTo>
                  <a:pt x="0" y="954001"/>
                </a:lnTo>
              </a:path>
            </a:pathLst>
          </a:custGeom>
          <a:noFill/>
          <a:ln w="16510" cap="rnd">
            <a:solidFill>
              <a:srgbClr val="6242AA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263"/>
          <p:cNvSpPr/>
          <p:nvPr/>
        </p:nvSpPr>
        <p:spPr>
          <a:xfrm>
            <a:off x="1704340" y="2598420"/>
            <a:ext cx="1757680" cy="699135"/>
          </a:xfrm>
          <a:custGeom>
            <a:avLst/>
            <a:gdLst/>
            <a:ahLst/>
            <a:cxnLst/>
            <a:rect l="l" t="t" r="r" b="b"/>
            <a:pathLst>
              <a:path w="378000" h="954001">
                <a:moveTo>
                  <a:pt x="378000" y="0"/>
                </a:moveTo>
                <a:lnTo>
                  <a:pt x="378000" y="369000"/>
                </a:lnTo>
                <a:lnTo>
                  <a:pt x="376313" y="394313"/>
                </a:lnTo>
                <a:lnTo>
                  <a:pt x="371250" y="416250"/>
                </a:lnTo>
                <a:lnTo>
                  <a:pt x="362812" y="434813"/>
                </a:lnTo>
                <a:lnTo>
                  <a:pt x="351000" y="450000"/>
                </a:lnTo>
                <a:lnTo>
                  <a:pt x="335812" y="461813"/>
                </a:lnTo>
                <a:lnTo>
                  <a:pt x="317250" y="470250"/>
                </a:lnTo>
                <a:lnTo>
                  <a:pt x="295312" y="475313"/>
                </a:lnTo>
                <a:lnTo>
                  <a:pt x="270000" y="477000"/>
                </a:lnTo>
                <a:lnTo>
                  <a:pt x="108000" y="477000"/>
                </a:lnTo>
                <a:lnTo>
                  <a:pt x="82688" y="478688"/>
                </a:lnTo>
                <a:lnTo>
                  <a:pt x="60750" y="483750"/>
                </a:lnTo>
                <a:lnTo>
                  <a:pt x="42188" y="492188"/>
                </a:lnTo>
                <a:lnTo>
                  <a:pt x="27000" y="504000"/>
                </a:lnTo>
                <a:lnTo>
                  <a:pt x="15188" y="519188"/>
                </a:lnTo>
                <a:lnTo>
                  <a:pt x="6750" y="537750"/>
                </a:lnTo>
                <a:lnTo>
                  <a:pt x="1687" y="559688"/>
                </a:lnTo>
                <a:lnTo>
                  <a:pt x="0" y="585000"/>
                </a:lnTo>
                <a:lnTo>
                  <a:pt x="0" y="954001"/>
                </a:lnTo>
              </a:path>
            </a:pathLst>
          </a:custGeom>
          <a:noFill/>
          <a:ln w="16510" cap="rnd">
            <a:solidFill>
              <a:srgbClr val="6242AA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ounded Rectangle 128"/>
          <p:cNvSpPr/>
          <p:nvPr/>
        </p:nvSpPr>
        <p:spPr>
          <a:xfrm>
            <a:off x="2350135" y="5540375"/>
            <a:ext cx="707390" cy="36131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700" b="1">
                <a:solidFill>
                  <a:srgbClr val="2854A2"/>
                </a:solidFill>
                <a:latin typeface="Arial" panose="020B0604020202020204"/>
              </a:rPr>
              <a:t>Masked Mean Pooling</a:t>
            </a:r>
            <a:endParaRPr lang="en-US" altLang="zh-CN" sz="700" b="1">
              <a:solidFill>
                <a:srgbClr val="2854A2"/>
              </a:solidFill>
              <a:latin typeface="Arial" panose="020B0604020202020204"/>
            </a:endParaRPr>
          </a:p>
        </p:txBody>
      </p:sp>
      <p:cxnSp>
        <p:nvCxnSpPr>
          <p:cNvPr id="356" name="肘形连接符 355"/>
          <p:cNvCxnSpPr>
            <a:endCxn id="129" idx="0"/>
          </p:cNvCxnSpPr>
          <p:nvPr/>
        </p:nvCxnSpPr>
        <p:spPr>
          <a:xfrm>
            <a:off x="1346200" y="4869180"/>
            <a:ext cx="458470" cy="228600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直接箭头连接符 356"/>
          <p:cNvCxnSpPr>
            <a:stCxn id="129" idx="2"/>
          </p:cNvCxnSpPr>
          <p:nvPr/>
        </p:nvCxnSpPr>
        <p:spPr>
          <a:xfrm>
            <a:off x="1804670" y="5796280"/>
            <a:ext cx="0" cy="259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肘形连接符 357"/>
          <p:cNvCxnSpPr/>
          <p:nvPr/>
        </p:nvCxnSpPr>
        <p:spPr>
          <a:xfrm rot="16200000">
            <a:off x="2199005" y="6278880"/>
            <a:ext cx="971550" cy="6985"/>
          </a:xfrm>
          <a:prstGeom prst="bentConnector3">
            <a:avLst>
              <a:gd name="adj1" fmla="val 4996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直接箭头连接符 358"/>
          <p:cNvCxnSpPr>
            <a:stCxn id="353" idx="0"/>
          </p:cNvCxnSpPr>
          <p:nvPr/>
        </p:nvCxnSpPr>
        <p:spPr>
          <a:xfrm flipV="1">
            <a:off x="2703830" y="5227320"/>
            <a:ext cx="0" cy="313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肘形连接符 359"/>
          <p:cNvCxnSpPr>
            <a:stCxn id="131" idx="0"/>
            <a:endCxn id="363" idx="0"/>
          </p:cNvCxnSpPr>
          <p:nvPr/>
        </p:nvCxnSpPr>
        <p:spPr>
          <a:xfrm rot="16200000" flipH="1">
            <a:off x="3259138" y="4247198"/>
            <a:ext cx="8255" cy="1018540"/>
          </a:xfrm>
          <a:prstGeom prst="bentConnector3">
            <a:avLst>
              <a:gd name="adj1" fmla="val -288846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文本框 362"/>
          <p:cNvSpPr txBox="1"/>
          <p:nvPr/>
        </p:nvSpPr>
        <p:spPr>
          <a:xfrm>
            <a:off x="3213735" y="4760595"/>
            <a:ext cx="1116965" cy="624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1000" b="1">
                <a:solidFill>
                  <a:srgbClr val="2854A2"/>
                </a:solidFill>
                <a:latin typeface="Arial" panose="020B0604020202020204"/>
                <a:sym typeface="+mn-ea"/>
              </a:rPr>
              <a:t>Ligand-conditioned</a:t>
            </a:r>
            <a:endParaRPr sz="100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r>
              <a:rPr sz="1000" b="1">
                <a:solidFill>
                  <a:srgbClr val="2854A2"/>
                </a:solidFill>
                <a:latin typeface="Arial" panose="020B0604020202020204"/>
                <a:sym typeface="+mn-ea"/>
              </a:rPr>
              <a:t>FiLM</a:t>
            </a:r>
            <a:endParaRPr sz="1000" b="1">
              <a:solidFill>
                <a:srgbClr val="2854A2"/>
              </a:solidFill>
              <a:latin typeface="Arial" panose="020B0604020202020204"/>
            </a:endParaRPr>
          </a:p>
          <a:p>
            <a:endParaRPr lang="zh-CN" altLang="en-US" sz="1000"/>
          </a:p>
        </p:txBody>
      </p:sp>
      <p:cxnSp>
        <p:nvCxnSpPr>
          <p:cNvPr id="368" name="肘形连接符 367"/>
          <p:cNvCxnSpPr/>
          <p:nvPr/>
        </p:nvCxnSpPr>
        <p:spPr>
          <a:xfrm rot="5400000">
            <a:off x="4430078" y="3413443"/>
            <a:ext cx="761365" cy="1925320"/>
          </a:xfrm>
          <a:prstGeom prst="bentConnector3">
            <a:avLst>
              <a:gd name="adj1" fmla="val 7122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Rounded Rectangle 128"/>
          <p:cNvSpPr/>
          <p:nvPr/>
        </p:nvSpPr>
        <p:spPr>
          <a:xfrm>
            <a:off x="4792980" y="5947410"/>
            <a:ext cx="963295" cy="438150"/>
          </a:xfrm>
          <a:prstGeom prst="roundRect">
            <a:avLst/>
          </a:prstGeom>
          <a:solidFill>
            <a:srgbClr val="D6E3F6"/>
          </a:solidFill>
          <a:ln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20204"/>
              </a:rPr>
              <a:t>Feed Forward</a:t>
            </a:r>
            <a:endParaRPr lang="en-US"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370" name="Rounded Rectangle 128"/>
          <p:cNvSpPr/>
          <p:nvPr/>
        </p:nvSpPr>
        <p:spPr>
          <a:xfrm>
            <a:off x="4814570" y="5111750"/>
            <a:ext cx="963295" cy="438150"/>
          </a:xfrm>
          <a:prstGeom prst="roundRect">
            <a:avLst/>
          </a:prstGeom>
          <a:solidFill>
            <a:srgbClr val="D6E3F6"/>
          </a:solidFill>
          <a:ln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20204"/>
              </a:rPr>
              <a:t>ACmix</a:t>
            </a:r>
            <a:endParaRPr lang="en-US"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371" name="Oval 66"/>
          <p:cNvSpPr/>
          <p:nvPr/>
        </p:nvSpPr>
        <p:spPr>
          <a:xfrm>
            <a:off x="5217160" y="5649595"/>
            <a:ext cx="193675" cy="1790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6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×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</p:txBody>
      </p:sp>
      <p:cxnSp>
        <p:nvCxnSpPr>
          <p:cNvPr id="374" name="肘形连接符 373"/>
          <p:cNvCxnSpPr>
            <a:stCxn id="142" idx="2"/>
          </p:cNvCxnSpPr>
          <p:nvPr/>
        </p:nvCxnSpPr>
        <p:spPr>
          <a:xfrm rot="5400000" flipH="1" flipV="1">
            <a:off x="4138930" y="5434330"/>
            <a:ext cx="774065" cy="1383030"/>
          </a:xfrm>
          <a:prstGeom prst="bentConnector4">
            <a:avLst>
              <a:gd name="adj1" fmla="val -3404"/>
              <a:gd name="adj2" fmla="val 4488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肘形连接符 375"/>
          <p:cNvCxnSpPr/>
          <p:nvPr/>
        </p:nvCxnSpPr>
        <p:spPr>
          <a:xfrm>
            <a:off x="6073140" y="5549900"/>
            <a:ext cx="503555" cy="31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Rounded Rectangle 128"/>
          <p:cNvSpPr/>
          <p:nvPr/>
        </p:nvSpPr>
        <p:spPr>
          <a:xfrm>
            <a:off x="3469640" y="5260340"/>
            <a:ext cx="727710" cy="337820"/>
          </a:xfrm>
          <a:prstGeom prst="roundRect">
            <a:avLst/>
          </a:prstGeom>
          <a:solidFill>
            <a:srgbClr val="D6E3F6"/>
          </a:solidFill>
          <a:ln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20204"/>
              </a:rPr>
              <a:t>Linear</a:t>
            </a:r>
            <a:endParaRPr lang="en-US"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378" name="Rounded Rectangle 128"/>
          <p:cNvSpPr/>
          <p:nvPr/>
        </p:nvSpPr>
        <p:spPr>
          <a:xfrm>
            <a:off x="3469640" y="5752465"/>
            <a:ext cx="745490" cy="283845"/>
          </a:xfrm>
          <a:prstGeom prst="roundRect">
            <a:avLst/>
          </a:prstGeom>
          <a:solidFill>
            <a:srgbClr val="D6E3F6"/>
          </a:solidFill>
          <a:ln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20204"/>
              </a:rPr>
              <a:t>SiLU</a:t>
            </a:r>
            <a:endParaRPr lang="en-US"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379" name="Rounded Rectangle 128"/>
          <p:cNvSpPr/>
          <p:nvPr/>
        </p:nvSpPr>
        <p:spPr>
          <a:xfrm>
            <a:off x="3412490" y="6145530"/>
            <a:ext cx="802640" cy="262890"/>
          </a:xfrm>
          <a:prstGeom prst="roundRect">
            <a:avLst/>
          </a:prstGeom>
          <a:solidFill>
            <a:srgbClr val="D6E3F6"/>
          </a:solidFill>
          <a:ln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20204"/>
              </a:rPr>
              <a:t>Linear</a:t>
            </a:r>
            <a:endParaRPr lang="en-US" sz="1000" b="1">
              <a:solidFill>
                <a:srgbClr val="2854A2"/>
              </a:solidFill>
              <a:latin typeface="Arial" panose="020B0604020202020204"/>
            </a:endParaRPr>
          </a:p>
        </p:txBody>
      </p:sp>
      <p:cxnSp>
        <p:nvCxnSpPr>
          <p:cNvPr id="380" name="肘形连接符 379"/>
          <p:cNvCxnSpPr>
            <a:stCxn id="136" idx="2"/>
            <a:endCxn id="369" idx="2"/>
          </p:cNvCxnSpPr>
          <p:nvPr/>
        </p:nvCxnSpPr>
        <p:spPr>
          <a:xfrm rot="5400000" flipH="1" flipV="1">
            <a:off x="3488690" y="4773295"/>
            <a:ext cx="174625" cy="3398520"/>
          </a:xfrm>
          <a:prstGeom prst="bentConnector3">
            <a:avLst>
              <a:gd name="adj1" fmla="val -13618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5"/>
          <p:cNvCxnSpPr/>
          <p:nvPr/>
        </p:nvCxnSpPr>
        <p:spPr>
          <a:xfrm>
            <a:off x="6647244" y="1641019"/>
            <a:ext cx="0" cy="18415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Rounded Rectangle 95"/>
          <p:cNvSpPr/>
          <p:nvPr/>
        </p:nvSpPr>
        <p:spPr>
          <a:xfrm>
            <a:off x="5814695" y="3068955"/>
            <a:ext cx="1403985" cy="37211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1000" b="1">
                <a:solidFill>
                  <a:srgbClr val="266E46"/>
                </a:solidFill>
                <a:latin typeface="Arial" panose="020B0604020202020204"/>
              </a:rPr>
              <a:t>Mean Pooling</a:t>
            </a:r>
            <a:endParaRPr lang="en-US" altLang="zh-CN"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385" name="Rectangle 143"/>
          <p:cNvSpPr/>
          <p:nvPr/>
        </p:nvSpPr>
        <p:spPr>
          <a:xfrm>
            <a:off x="7550150" y="711835"/>
            <a:ext cx="261620" cy="302895"/>
          </a:xfrm>
          <a:prstGeom prst="rect">
            <a:avLst/>
          </a:prstGeom>
          <a:solidFill>
            <a:srgbClr val="D6E3F6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2854A2"/>
                </a:solidFill>
                <a:latin typeface="Arial" panose="020B0604020202020204"/>
                <a:sym typeface="+mn-ea"/>
              </a:rPr>
              <a:t>P</a:t>
            </a:r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392" name="肘形连接符 391"/>
          <p:cNvCxnSpPr>
            <a:stCxn id="386" idx="0"/>
            <a:endCxn id="168" idx="0"/>
          </p:cNvCxnSpPr>
          <p:nvPr/>
        </p:nvCxnSpPr>
        <p:spPr>
          <a:xfrm rot="16200000" flipH="1">
            <a:off x="8926830" y="-469265"/>
            <a:ext cx="43815" cy="2477770"/>
          </a:xfrm>
          <a:prstGeom prst="bentConnector3">
            <a:avLst>
              <a:gd name="adj1" fmla="val -54420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直接箭头连接符 392"/>
          <p:cNvCxnSpPr>
            <a:stCxn id="386" idx="3"/>
          </p:cNvCxnSpPr>
          <p:nvPr/>
        </p:nvCxnSpPr>
        <p:spPr>
          <a:xfrm flipV="1">
            <a:off x="7869555" y="826770"/>
            <a:ext cx="449580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Rectangle 106"/>
          <p:cNvSpPr/>
          <p:nvPr/>
        </p:nvSpPr>
        <p:spPr>
          <a:xfrm>
            <a:off x="7598410" y="1115695"/>
            <a:ext cx="321310" cy="240665"/>
          </a:xfrm>
          <a:prstGeom prst="rect">
            <a:avLst/>
          </a:prstGeom>
          <a:solidFill>
            <a:srgbClr val="D8ECDE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266E46"/>
                </a:solidFill>
                <a:latin typeface="Arial" panose="020B0604020202020204"/>
                <a:sym typeface="+mn-ea"/>
              </a:rPr>
              <a:t>D</a:t>
            </a:r>
            <a:endParaRPr lang="en-US" sz="900" b="0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401" name="肘形连接符 400"/>
          <p:cNvCxnSpPr>
            <a:endCxn id="181" idx="0"/>
          </p:cNvCxnSpPr>
          <p:nvPr/>
        </p:nvCxnSpPr>
        <p:spPr>
          <a:xfrm>
            <a:off x="7759065" y="1355725"/>
            <a:ext cx="826770" cy="80391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Rounded Rectangle 251"/>
          <p:cNvSpPr/>
          <p:nvPr/>
        </p:nvSpPr>
        <p:spPr>
          <a:xfrm>
            <a:off x="7785100" y="3113405"/>
            <a:ext cx="1548130" cy="33909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Max</a:t>
            </a:r>
            <a:r>
              <a:rPr lang="en-US" sz="950" b="1">
                <a:solidFill>
                  <a:srgbClr val="2854A2"/>
                </a:solidFill>
                <a:latin typeface="Arial" panose="020B0604020202020204"/>
              </a:rPr>
              <a:t> </a:t>
            </a:r>
            <a:r>
              <a:rPr sz="950" b="1">
                <a:solidFill>
                  <a:srgbClr val="2854A2"/>
                </a:solidFill>
                <a:latin typeface="Arial" panose="020B0604020202020204"/>
              </a:rPr>
              <a:t>Pool</a:t>
            </a:r>
            <a:r>
              <a:rPr lang="en-US" sz="950" b="1">
                <a:solidFill>
                  <a:srgbClr val="2854A2"/>
                </a:solidFill>
                <a:latin typeface="Arial" panose="020B0604020202020204"/>
              </a:rPr>
              <a:t>ing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9700" y="144145"/>
            <a:ext cx="5271135" cy="2578100"/>
          </a:xfrm>
          <a:prstGeom prst="roundRect">
            <a:avLst/>
          </a:prstGeom>
          <a:solidFill>
            <a:srgbClr val="F1F8F4"/>
          </a:solidFill>
          <a:ln w="12700" cap="sq">
            <a:solidFill>
              <a:srgbClr val="CED0D6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7825" y="205105"/>
            <a:ext cx="2879725" cy="212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66E46"/>
                </a:solidFill>
                <a:latin typeface="Arial" panose="020B0604020202020204"/>
              </a:rPr>
              <a:t>Drug Representation</a:t>
            </a:r>
            <a:endParaRPr sz="11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7569" y="504000"/>
            <a:ext cx="1260000" cy="68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1570" y="522000"/>
            <a:ext cx="792000" cy="15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900" b="1">
                <a:solidFill>
                  <a:srgbClr val="266E46"/>
                </a:solidFill>
                <a:latin typeface="Arial" panose="020B0604020202020204"/>
              </a:rPr>
              <a:t>SMILES</a:t>
            </a:r>
            <a:endParaRPr sz="900" b="1">
              <a:solidFill>
                <a:srgbClr val="266E46"/>
              </a:solidFill>
              <a:latin typeface="Arial" panose="020B0604020202020204"/>
            </a:endParaRPr>
          </a:p>
        </p:txBody>
      </p:sp>
      <p:pic>
        <p:nvPicPr>
          <p:cNvPr id="6" name="Picture 5" descr="mo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990" y="665170"/>
            <a:ext cx="630000" cy="45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7665" y="1314450"/>
            <a:ext cx="1259840" cy="57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2D Molecular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Graph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7665" y="2016125"/>
            <a:ext cx="1259840" cy="56134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K Conformers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+ Energy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029820" y="562030"/>
            <a:ext cx="936000" cy="54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ChemBERTa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29820" y="1314635"/>
            <a:ext cx="936000" cy="54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GCN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29820" y="2038030"/>
            <a:ext cx="936000" cy="54000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66E46"/>
                </a:solidFill>
                <a:latin typeface="Arial" panose="020B0604020202020204"/>
              </a:rPr>
              <a:t>EGNN</a:t>
            </a:r>
            <a:endParaRPr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90900" y="532130"/>
            <a:ext cx="176720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34325" y="560985"/>
            <a:ext cx="1749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20204"/>
              </a:rPr>
              <a:t>Molecular Semantics</a:t>
            </a:r>
            <a:endParaRPr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06325" y="856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64724" y="856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23124" y="856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81524" y="856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39924" y="85618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8324" y="83458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90900" y="1285240"/>
            <a:ext cx="176720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34325" y="1314225"/>
            <a:ext cx="1749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20204"/>
              </a:rPr>
              <a:t>Topology Tokens</a:t>
            </a:r>
            <a:endParaRPr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06325" y="160942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64724" y="160942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23124" y="160942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81524" y="160942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39924" y="160942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8324" y="158782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90900" y="2008505"/>
            <a:ext cx="73088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434080" y="2026920"/>
            <a:ext cx="68770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  <a:t>Conformer </a:t>
            </a:r>
            <a:b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</a:br>
            <a: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  <a:t>Summaries</a:t>
            </a:r>
            <a:endParaRPr lang="en-US" altLang="zh-CN"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73940" y="233282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32339" y="233282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90739" y="233282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20499" y="231122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44145" y="2833370"/>
            <a:ext cx="5265420" cy="1530985"/>
          </a:xfrm>
          <a:prstGeom prst="roundRect">
            <a:avLst/>
          </a:prstGeom>
          <a:solidFill>
            <a:srgbClr val="FDF7EE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52990" y="2866040"/>
            <a:ext cx="28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000" b="1">
                <a:solidFill>
                  <a:srgbClr val="B06816"/>
                </a:solidFill>
                <a:latin typeface="Arial" panose="020B0604020202020204"/>
              </a:rPr>
              <a:t>Target-aware Conformer Weighting</a:t>
            </a:r>
            <a:endParaRPr sz="10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7665" y="3134360"/>
            <a:ext cx="1005840" cy="50609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40030" y="3148330"/>
            <a:ext cx="113347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800" b="1">
                <a:solidFill>
                  <a:srgbClr val="2854A2"/>
                </a:solidFill>
                <a:latin typeface="Arial" panose="020B0604020202020204"/>
              </a:rPr>
              <a:t>Protein Seed </a:t>
            </a:r>
            <a:br>
              <a:rPr sz="800" b="1">
                <a:solidFill>
                  <a:srgbClr val="2854A2"/>
                </a:solidFill>
                <a:latin typeface="Arial" panose="020B0604020202020204"/>
              </a:rPr>
            </a:br>
            <a:r>
              <a:rPr sz="800" b="1">
                <a:solidFill>
                  <a:srgbClr val="2854A2"/>
                </a:solidFill>
                <a:latin typeface="Arial" panose="020B0604020202020204"/>
              </a:rPr>
              <a:t>Context  p_g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12310" y="343604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0710" y="343604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9110" y="343604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87794" y="341444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67665" y="3742055"/>
            <a:ext cx="99631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83210" y="3764280"/>
            <a:ext cx="1164590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Energy Embedding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  <a:p>
            <a:pPr algn="ctr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  u_k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53560" y="407381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1960" y="407381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0360" y="407381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8760" y="407381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7159" y="405221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627505" y="3327400"/>
            <a:ext cx="481330" cy="720090"/>
          </a:xfrm>
          <a:prstGeom prst="roundRect">
            <a:avLst/>
          </a:prstGeom>
          <a:solidFill>
            <a:srgbClr val="FAE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B06816"/>
                </a:solidFill>
                <a:latin typeface="Arial" panose="020B0604020202020204"/>
              </a:rPr>
              <a:t>MLP</a:t>
            </a:r>
            <a:endParaRPr sz="10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253495" y="3119250"/>
            <a:ext cx="936000" cy="151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900" b="1">
                <a:solidFill>
                  <a:srgbClr val="B06816"/>
                </a:solidFill>
                <a:latin typeface="Arial" panose="020B0604020202020204"/>
              </a:rPr>
              <a:t>α_k  (softmax)</a:t>
            </a:r>
            <a:endParaRPr sz="9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397640" y="3381800"/>
            <a:ext cx="23076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664400" y="3374599"/>
            <a:ext cx="3420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850" b="0">
                <a:solidFill>
                  <a:srgbClr val="282828"/>
                </a:solidFill>
                <a:latin typeface="Arial" panose="020B0604020202020204"/>
              </a:rPr>
              <a:t>0.23</a:t>
            </a:r>
            <a:endParaRPr sz="85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397640" y="3669800"/>
            <a:ext cx="37764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804295" y="3658790"/>
            <a:ext cx="3420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850" b="0">
                <a:solidFill>
                  <a:srgbClr val="282828"/>
                </a:solidFill>
                <a:latin typeface="Arial" panose="020B0604020202020204"/>
              </a:rPr>
              <a:t>0.47</a:t>
            </a:r>
            <a:endParaRPr sz="85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397640" y="4134965"/>
            <a:ext cx="138960" cy="144000"/>
          </a:xfrm>
          <a:prstGeom prst="rect">
            <a:avLst/>
          </a:prstGeom>
          <a:solidFill>
            <a:srgbClr val="EEB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548470" y="4127764"/>
            <a:ext cx="342000" cy="158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850" b="0">
                <a:solidFill>
                  <a:srgbClr val="282828"/>
                </a:solidFill>
                <a:latin typeface="Arial" panose="020B0604020202020204"/>
              </a:rPr>
              <a:t>0.08</a:t>
            </a:r>
            <a:endParaRPr sz="85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3391535" y="3597910"/>
            <a:ext cx="193675" cy="1790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6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×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884295" y="3348990"/>
            <a:ext cx="827405" cy="70294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974465" y="3382010"/>
            <a:ext cx="885825" cy="206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Target-aware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  <a:p>
            <a:pPr algn="l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Geometry Tokens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999780" y="383566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158180" y="383566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16580" y="3835660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474979" y="381406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544185" y="144145"/>
            <a:ext cx="1925320" cy="4220845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662930" y="283845"/>
            <a:ext cx="1821180" cy="2774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66E46"/>
                </a:solidFill>
                <a:latin typeface="Arial" panose="020B0604020202020204"/>
              </a:rPr>
              <a:t>Token-wise</a:t>
            </a:r>
            <a:r>
              <a:rPr lang="en-US" sz="1100" b="1">
                <a:solidFill>
                  <a:srgbClr val="266E46"/>
                </a:solidFill>
                <a:latin typeface="Arial" panose="020B0604020202020204"/>
              </a:rPr>
              <a:t> </a:t>
            </a:r>
            <a:r>
              <a:rPr sz="1100" b="1">
                <a:solidFill>
                  <a:srgbClr val="266E46"/>
                </a:solidFill>
                <a:latin typeface="Arial" panose="020B0604020202020204"/>
                <a:sym typeface="+mn-ea"/>
              </a:rPr>
              <a:t>Fusion Gate</a:t>
            </a:r>
            <a:endParaRPr sz="1100" b="1">
              <a:solidFill>
                <a:srgbClr val="266E46"/>
              </a:solidFill>
              <a:latin typeface="Arial" panose="020B0604020202020204"/>
            </a:endParaRPr>
          </a:p>
          <a:p>
            <a:pPr algn="l"/>
            <a:endParaRPr lang="en-US" sz="11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814920" y="675550"/>
            <a:ext cx="1403999" cy="39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5858119" y="704350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20204"/>
              </a:rPr>
              <a:t>1D Semantics  d_1d</a:t>
            </a:r>
            <a:endParaRPr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930120" y="85555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88520" y="85555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46919" y="85555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405319" y="85555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63720" y="83395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818095" y="1244955"/>
            <a:ext cx="1403999" cy="39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861294" y="1273755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2D/3D Geometry  d_geo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933295" y="142495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091695" y="142495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250094" y="142495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08494" y="1424955"/>
            <a:ext cx="129600" cy="129600"/>
          </a:xfrm>
          <a:prstGeom prst="rect">
            <a:avLst/>
          </a:prstGeom>
          <a:solidFill>
            <a:srgbClr val="EEB65C"/>
          </a:solidFill>
          <a:ln w="6350">
            <a:solidFill>
              <a:srgbClr val="EEB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66895" y="140335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5817870" y="1856740"/>
            <a:ext cx="1403985" cy="37211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1000" b="1">
                <a:solidFill>
                  <a:srgbClr val="266E46"/>
                </a:solidFill>
                <a:latin typeface="Arial" panose="020B0604020202020204"/>
              </a:rPr>
              <a:t>Gated Fusion</a:t>
            </a:r>
            <a:endParaRPr lang="en-US" altLang="zh-CN"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850480" y="2404435"/>
            <a:ext cx="1403999" cy="468000"/>
          </a:xfrm>
          <a:prstGeom prst="rect">
            <a:avLst/>
          </a:prstGeom>
          <a:solidFill>
            <a:srgbClr val="D8ECDE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893679" y="2433235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20204"/>
              </a:rPr>
              <a:t>DURG : Fused Drug  D</a:t>
            </a:r>
            <a:endParaRPr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965680" y="265643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24080" y="265643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282479" y="265643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40879" y="265643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599280" y="263483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5818095" y="3764955"/>
            <a:ext cx="1403999" cy="46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861294" y="3793755"/>
            <a:ext cx="1317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66E46"/>
                </a:solidFill>
                <a:latin typeface="Arial" panose="020B0604020202020204"/>
              </a:rPr>
              <a:t>Ligand Context  d_g</a:t>
            </a:r>
            <a:endParaRPr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5933295" y="40169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91695" y="40169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50094" y="40169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08494" y="4016955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66895" y="3995355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124" name="Connector 123"/>
          <p:cNvCxnSpPr>
            <a:stCxn id="96" idx="2"/>
          </p:cNvCxnSpPr>
          <p:nvPr/>
        </p:nvCxnSpPr>
        <p:spPr>
          <a:xfrm>
            <a:off x="6520095" y="2228685"/>
            <a:ext cx="17780" cy="15113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520094" y="3476955"/>
            <a:ext cx="0" cy="28800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144145" y="4481195"/>
            <a:ext cx="7324725" cy="2286635"/>
          </a:xfrm>
          <a:prstGeom prst="roundRect">
            <a:avLst/>
          </a:prstGeom>
          <a:solidFill>
            <a:srgbClr val="EFF4FC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352990" y="4544800"/>
            <a:ext cx="28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2854A2"/>
                </a:solidFill>
                <a:latin typeface="Arial" panose="020B0604020202020204"/>
              </a:rPr>
              <a:t>Protein Representation</a:t>
            </a:r>
            <a:endParaRPr sz="11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74955" y="4785995"/>
            <a:ext cx="1057275" cy="1838325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8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1434465" y="5097780"/>
            <a:ext cx="739775" cy="6985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854A2"/>
                </a:solidFill>
                <a:latin typeface="Arial" panose="020B0604020202020204"/>
              </a:rPr>
              <a:t>ProtBERT</a:t>
            </a:r>
            <a:endParaRPr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2249805" y="4723130"/>
            <a:ext cx="880745" cy="50419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2292785" y="4752030"/>
            <a:ext cx="921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Protein Seed </a:t>
            </a:r>
            <a:r>
              <a:rPr lang="en-US"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Context </a:t>
            </a:r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P</a:t>
            </a:r>
            <a:r>
              <a:rPr lang="en-US"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_g</a:t>
            </a:r>
            <a:endParaRPr lang="en-US" sz="800" b="1">
              <a:solidFill>
                <a:srgbClr val="2854A2"/>
              </a:solidFill>
              <a:latin typeface="Arial" panose="020B0604020202020204"/>
              <a:sym typeface="+mn-ea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2364785" y="50112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523185" y="50112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681585" y="501123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839985" y="498963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1440180" y="6055995"/>
            <a:ext cx="871855" cy="50419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1483160" y="6084760"/>
            <a:ext cx="9215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Protein Seed Tokens  P0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1555160" y="634395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713560" y="634395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871960" y="634395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030360" y="632236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3390900" y="4771390"/>
            <a:ext cx="885825" cy="174180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4485640" y="4615180"/>
            <a:ext cx="1572895" cy="193484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ProteinACmix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× 3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</a:p>
          <a:p>
            <a:pPr algn="ctr"/>
          </a:p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6476425" y="5312955"/>
            <a:ext cx="936000" cy="503999"/>
          </a:xfrm>
          <a:prstGeom prst="rect">
            <a:avLst/>
          </a:prstGeom>
          <a:solidFill>
            <a:srgbClr val="D6E3F6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6525975" y="5341755"/>
            <a:ext cx="8496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20204"/>
              </a:rPr>
              <a:t>Protein Tokens  P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6591625" y="560095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750025" y="560095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908425" y="5600954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066825" y="5579354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56" name="Rounded Rectangle 155"/>
          <p:cNvSpPr/>
          <p:nvPr/>
        </p:nvSpPr>
        <p:spPr>
          <a:xfrm>
            <a:off x="7631430" y="144780"/>
            <a:ext cx="4429125" cy="4866640"/>
          </a:xfrm>
          <a:prstGeom prst="roundRect">
            <a:avLst/>
          </a:prstGeom>
          <a:solidFill>
            <a:srgbClr val="F7F7F9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8259005" y="201600"/>
            <a:ext cx="28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6242AA"/>
                </a:solidFill>
                <a:latin typeface="Arial" panose="020B0604020202020204"/>
              </a:rPr>
              <a:t>Protein-Mamba BiIntention Fusion</a:t>
            </a:r>
            <a:endParaRPr sz="1100" b="1">
              <a:solidFill>
                <a:srgbClr val="6242AA"/>
              </a:solidFill>
              <a:latin typeface="Arial" panose="020B0604020202020204"/>
            </a:endParaRPr>
          </a:p>
        </p:txBody>
      </p:sp>
      <p:sp>
        <p:nvSpPr>
          <p:cNvPr id="165" name="Rounded Rectangle 164"/>
          <p:cNvSpPr/>
          <p:nvPr/>
        </p:nvSpPr>
        <p:spPr>
          <a:xfrm>
            <a:off x="8352155" y="647065"/>
            <a:ext cx="1400175" cy="730250"/>
          </a:xfrm>
          <a:prstGeom prst="roundRect">
            <a:avLst/>
          </a:prstGeom>
          <a:solidFill>
            <a:srgbClr val="E3D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ctr"/>
            <a:endParaRPr sz="1100" b="1">
              <a:solidFill>
                <a:srgbClr val="6242AA"/>
              </a:solidFill>
              <a:latin typeface="Arial" panose="020B0604020202020204"/>
              <a:sym typeface="+mn-ea"/>
            </a:endParaRPr>
          </a:p>
          <a:p>
            <a:pPr algn="ctr"/>
            <a:r>
              <a:rPr sz="1100" b="1">
                <a:solidFill>
                  <a:srgbClr val="6242AA"/>
                </a:solidFill>
                <a:latin typeface="Arial" panose="020B0604020202020204"/>
                <a:sym typeface="+mn-ea"/>
              </a:rPr>
              <a:t>Bidirectional</a:t>
            </a:r>
            <a:endParaRPr sz="1100" b="1">
              <a:solidFill>
                <a:srgbClr val="6242AA"/>
              </a:solidFill>
              <a:latin typeface="Arial" panose="020B0604020202020204"/>
            </a:endParaRPr>
          </a:p>
          <a:p>
            <a:pPr algn="ctr"/>
            <a:r>
              <a:rPr sz="1100" b="1">
                <a:solidFill>
                  <a:srgbClr val="6242AA"/>
                </a:solidFill>
                <a:latin typeface="Arial" panose="020B0604020202020204"/>
                <a:sym typeface="+mn-ea"/>
              </a:rPr>
              <a:t>Mamba (SSM)</a:t>
            </a:r>
            <a:endParaRPr sz="1100" b="1">
              <a:solidFill>
                <a:srgbClr val="6242AA"/>
              </a:solidFill>
              <a:latin typeface="Arial" panose="020B0604020202020204"/>
            </a:endParaRPr>
          </a:p>
          <a:p>
            <a:pPr algn="ctr"/>
            <a:endParaRPr sz="1100" b="1">
              <a:solidFill>
                <a:srgbClr val="6242AA"/>
              </a:solidFill>
              <a:latin typeface="Arial" panose="020B0604020202020204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10008000" y="791999"/>
            <a:ext cx="360000" cy="3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24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6242AA"/>
                </a:solidFill>
                <a:latin typeface="Arial" panose="020B0604020202020204"/>
              </a:rPr>
              <a:t>g </a:t>
            </a:r>
            <a:endParaRPr sz="900" b="1">
              <a:solidFill>
                <a:srgbClr val="6242AA"/>
              </a:solidFill>
              <a:latin typeface="Arial" panose="020B0604020202020204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10548000" y="737999"/>
            <a:ext cx="1152000" cy="468000"/>
          </a:xfrm>
          <a:prstGeom prst="rect">
            <a:avLst/>
          </a:prstGeom>
          <a:solidFill>
            <a:srgbClr val="E3DCF3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10591200" y="766800"/>
            <a:ext cx="10656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6242AA"/>
                </a:solidFill>
                <a:latin typeface="Arial" panose="020B0604020202020204"/>
              </a:rPr>
              <a:t>Refined Protein  P'</a:t>
            </a:r>
            <a:endParaRPr sz="800" b="1">
              <a:solidFill>
                <a:srgbClr val="6242AA"/>
              </a:solidFill>
              <a:latin typeface="Arial" panose="020B0604020202020204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0663200" y="98999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0821600" y="98999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980000" y="989999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138400" y="968399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177" name="Connector 176"/>
          <p:cNvCxnSpPr/>
          <p:nvPr/>
        </p:nvCxnSpPr>
        <p:spPr>
          <a:xfrm>
            <a:off x="9756000" y="971999"/>
            <a:ext cx="252000" cy="0"/>
          </a:xfrm>
          <a:prstGeom prst="line">
            <a:avLst/>
          </a:prstGeom>
          <a:ln w="16510" cap="rnd">
            <a:solidFill>
              <a:srgbClr val="6242A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368000" y="971999"/>
            <a:ext cx="180000" cy="0"/>
          </a:xfrm>
          <a:prstGeom prst="line">
            <a:avLst/>
          </a:prstGeom>
          <a:ln w="16510" cap="rnd">
            <a:solidFill>
              <a:srgbClr val="6242A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/>
          <p:cNvSpPr/>
          <p:nvPr/>
        </p:nvSpPr>
        <p:spPr>
          <a:xfrm>
            <a:off x="7942580" y="1835785"/>
            <a:ext cx="3721735" cy="2988310"/>
          </a:xfrm>
          <a:prstGeom prst="roundRect">
            <a:avLst/>
          </a:prstGeom>
          <a:solidFill>
            <a:srgbClr val="EFF4FC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8280000" y="1886400"/>
            <a:ext cx="3311999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2854A2"/>
                </a:solidFill>
                <a:latin typeface="Arial" panose="020B0604020202020204"/>
              </a:rPr>
              <a:t>BiIntention · Bidirectional Cross-Attention</a:t>
            </a:r>
            <a:endParaRPr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7811615" y="2159365"/>
            <a:ext cx="1548000" cy="5400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900" b="1">
                <a:solidFill>
                  <a:srgbClr val="2854A2"/>
                </a:solidFill>
                <a:latin typeface="Arial" panose="020B0604020202020204"/>
              </a:rPr>
              <a:t>Protein-guided</a:t>
            </a:r>
            <a:br>
              <a:rPr lang="en-US" sz="900" b="1">
                <a:solidFill>
                  <a:srgbClr val="2854A2"/>
                </a:solidFill>
                <a:latin typeface="Arial" panose="020B0604020202020204"/>
              </a:rPr>
            </a:br>
            <a:r>
              <a:rPr lang="en-US" sz="900" b="1">
                <a:solidFill>
                  <a:srgbClr val="2854A2"/>
                </a:solidFill>
                <a:latin typeface="Arial" panose="020B0604020202020204"/>
              </a:rPr>
              <a:t>Drug Intention</a:t>
            </a:r>
            <a:endParaRPr lang="en-US" sz="9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182" name="Rounded Rectangle 181"/>
          <p:cNvSpPr/>
          <p:nvPr/>
        </p:nvSpPr>
        <p:spPr>
          <a:xfrm>
            <a:off x="9791660" y="2159365"/>
            <a:ext cx="1548000" cy="54000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900" b="1">
                <a:solidFill>
                  <a:srgbClr val="2854A2"/>
                </a:solidFill>
                <a:latin typeface="Arial" panose="020B0604020202020204"/>
                <a:sym typeface="+mn-ea"/>
              </a:rPr>
              <a:t>Drug-guided</a:t>
            </a:r>
            <a:br>
              <a:rPr lang="en-US" sz="900" b="1">
                <a:solidFill>
                  <a:srgbClr val="2854A2"/>
                </a:solidFill>
                <a:latin typeface="Arial" panose="020B0604020202020204"/>
                <a:sym typeface="+mn-ea"/>
              </a:rPr>
            </a:br>
            <a:r>
              <a:rPr lang="en-US" sz="900" b="1">
                <a:solidFill>
                  <a:srgbClr val="2854A2"/>
                </a:solidFill>
                <a:latin typeface="Arial" panose="020B0604020202020204"/>
                <a:sym typeface="+mn-ea"/>
              </a:rPr>
              <a:t>Protein Intention</a:t>
            </a:r>
            <a:endParaRPr sz="9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252" name="Rounded Rectangle 251"/>
          <p:cNvSpPr/>
          <p:nvPr/>
        </p:nvSpPr>
        <p:spPr>
          <a:xfrm>
            <a:off x="9791700" y="3113405"/>
            <a:ext cx="1548130" cy="33909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Max</a:t>
            </a:r>
            <a:r>
              <a:rPr lang="en-US" sz="950" b="1">
                <a:solidFill>
                  <a:srgbClr val="2854A2"/>
                </a:solidFill>
                <a:latin typeface="Arial" panose="020B0604020202020204"/>
              </a:rPr>
              <a:t> </a:t>
            </a:r>
            <a:r>
              <a:rPr sz="950" b="1">
                <a:solidFill>
                  <a:srgbClr val="2854A2"/>
                </a:solidFill>
                <a:latin typeface="Arial" panose="020B0604020202020204"/>
              </a:rPr>
              <a:t>Pool</a:t>
            </a:r>
            <a:r>
              <a:rPr lang="en-US" sz="950" b="1">
                <a:solidFill>
                  <a:srgbClr val="2854A2"/>
                </a:solidFill>
                <a:latin typeface="Arial" panose="020B0604020202020204"/>
              </a:rPr>
              <a:t>ing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8784000" y="4140000"/>
            <a:ext cx="2232000" cy="540000"/>
          </a:xfrm>
          <a:prstGeom prst="rect">
            <a:avLst/>
          </a:prstGeom>
          <a:solidFill>
            <a:srgbClr val="D6E3F6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8827200" y="4168800"/>
            <a:ext cx="21456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800" b="1">
                <a:solidFill>
                  <a:srgbClr val="2854A2"/>
                </a:solidFill>
                <a:latin typeface="Arial" panose="020B0604020202020204"/>
              </a:rPr>
              <a:t>Joint Representation  f   [bs, 256]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255" name="Rectangle 254"/>
          <p:cNvSpPr/>
          <p:nvPr/>
        </p:nvSpPr>
        <p:spPr>
          <a:xfrm>
            <a:off x="88992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0576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2160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3744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5328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6912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849600" y="4464000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0008000" y="444240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64" name="Freeform 263"/>
          <p:cNvSpPr/>
          <p:nvPr/>
        </p:nvSpPr>
        <p:spPr>
          <a:xfrm>
            <a:off x="10746105" y="1205865"/>
            <a:ext cx="400685" cy="953770"/>
          </a:xfrm>
          <a:custGeom>
            <a:avLst/>
            <a:gdLst/>
            <a:ahLst/>
            <a:cxnLst/>
            <a:rect l="l" t="t" r="r" b="b"/>
            <a:pathLst>
              <a:path w="378000" h="954001">
                <a:moveTo>
                  <a:pt x="378000" y="0"/>
                </a:moveTo>
                <a:lnTo>
                  <a:pt x="378000" y="369000"/>
                </a:lnTo>
                <a:lnTo>
                  <a:pt x="376313" y="394313"/>
                </a:lnTo>
                <a:lnTo>
                  <a:pt x="371250" y="416250"/>
                </a:lnTo>
                <a:lnTo>
                  <a:pt x="362812" y="434813"/>
                </a:lnTo>
                <a:lnTo>
                  <a:pt x="351000" y="450000"/>
                </a:lnTo>
                <a:lnTo>
                  <a:pt x="335812" y="461813"/>
                </a:lnTo>
                <a:lnTo>
                  <a:pt x="317250" y="470250"/>
                </a:lnTo>
                <a:lnTo>
                  <a:pt x="295312" y="475313"/>
                </a:lnTo>
                <a:lnTo>
                  <a:pt x="270000" y="477000"/>
                </a:lnTo>
                <a:lnTo>
                  <a:pt x="108000" y="477000"/>
                </a:lnTo>
                <a:lnTo>
                  <a:pt x="82688" y="478688"/>
                </a:lnTo>
                <a:lnTo>
                  <a:pt x="60750" y="483750"/>
                </a:lnTo>
                <a:lnTo>
                  <a:pt x="42188" y="492188"/>
                </a:lnTo>
                <a:lnTo>
                  <a:pt x="27000" y="504000"/>
                </a:lnTo>
                <a:lnTo>
                  <a:pt x="15188" y="519188"/>
                </a:lnTo>
                <a:lnTo>
                  <a:pt x="6750" y="537750"/>
                </a:lnTo>
                <a:lnTo>
                  <a:pt x="1687" y="559688"/>
                </a:lnTo>
                <a:lnTo>
                  <a:pt x="0" y="585000"/>
                </a:lnTo>
                <a:lnTo>
                  <a:pt x="0" y="954001"/>
                </a:lnTo>
              </a:path>
            </a:pathLst>
          </a:custGeom>
          <a:noFill/>
          <a:ln w="16510" cap="rnd">
            <a:solidFill>
              <a:srgbClr val="6242AA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>
            <a:off x="8585615" y="2699365"/>
            <a:ext cx="0" cy="23400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565660" y="2699365"/>
            <a:ext cx="0" cy="41400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Freeform 266"/>
          <p:cNvSpPr/>
          <p:nvPr/>
        </p:nvSpPr>
        <p:spPr>
          <a:xfrm>
            <a:off x="9126000" y="3870000"/>
            <a:ext cx="774000" cy="270000"/>
          </a:xfrm>
          <a:custGeom>
            <a:avLst/>
            <a:gdLst/>
            <a:ahLst/>
            <a:cxnLst/>
            <a:rect l="l" t="t" r="r" b="b"/>
            <a:pathLst>
              <a:path w="774000" h="270000">
                <a:moveTo>
                  <a:pt x="0" y="0"/>
                </a:moveTo>
                <a:lnTo>
                  <a:pt x="0" y="67500"/>
                </a:lnTo>
                <a:lnTo>
                  <a:pt x="1055" y="83320"/>
                </a:lnTo>
                <a:lnTo>
                  <a:pt x="4219" y="97031"/>
                </a:lnTo>
                <a:lnTo>
                  <a:pt x="9492" y="108633"/>
                </a:lnTo>
                <a:lnTo>
                  <a:pt x="16875" y="118125"/>
                </a:lnTo>
                <a:lnTo>
                  <a:pt x="26367" y="125508"/>
                </a:lnTo>
                <a:lnTo>
                  <a:pt x="37969" y="130781"/>
                </a:lnTo>
                <a:lnTo>
                  <a:pt x="51680" y="133945"/>
                </a:lnTo>
                <a:lnTo>
                  <a:pt x="67500" y="135000"/>
                </a:lnTo>
                <a:lnTo>
                  <a:pt x="706500" y="135000"/>
                </a:lnTo>
                <a:lnTo>
                  <a:pt x="722320" y="136055"/>
                </a:lnTo>
                <a:lnTo>
                  <a:pt x="736031" y="139219"/>
                </a:lnTo>
                <a:lnTo>
                  <a:pt x="747633" y="144492"/>
                </a:lnTo>
                <a:lnTo>
                  <a:pt x="757125" y="151875"/>
                </a:lnTo>
                <a:lnTo>
                  <a:pt x="764508" y="161367"/>
                </a:lnTo>
                <a:lnTo>
                  <a:pt x="769781" y="172969"/>
                </a:lnTo>
                <a:lnTo>
                  <a:pt x="772945" y="186680"/>
                </a:lnTo>
                <a:lnTo>
                  <a:pt x="774000" y="202500"/>
                </a:lnTo>
                <a:lnTo>
                  <a:pt x="774000" y="27000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9900000" y="3690000"/>
            <a:ext cx="846000" cy="450000"/>
          </a:xfrm>
          <a:custGeom>
            <a:avLst/>
            <a:gdLst/>
            <a:ahLst/>
            <a:cxnLst/>
            <a:rect l="l" t="t" r="r" b="b"/>
            <a:pathLst>
              <a:path w="846000" h="450000">
                <a:moveTo>
                  <a:pt x="846000" y="0"/>
                </a:moveTo>
                <a:lnTo>
                  <a:pt x="846000" y="117000"/>
                </a:lnTo>
                <a:lnTo>
                  <a:pt x="844312" y="142312"/>
                </a:lnTo>
                <a:lnTo>
                  <a:pt x="839250" y="164250"/>
                </a:lnTo>
                <a:lnTo>
                  <a:pt x="830812" y="182812"/>
                </a:lnTo>
                <a:lnTo>
                  <a:pt x="819000" y="198000"/>
                </a:lnTo>
                <a:lnTo>
                  <a:pt x="803812" y="209812"/>
                </a:lnTo>
                <a:lnTo>
                  <a:pt x="785250" y="218250"/>
                </a:lnTo>
                <a:lnTo>
                  <a:pt x="763312" y="223313"/>
                </a:lnTo>
                <a:lnTo>
                  <a:pt x="738000" y="225000"/>
                </a:lnTo>
                <a:lnTo>
                  <a:pt x="108000" y="225000"/>
                </a:lnTo>
                <a:lnTo>
                  <a:pt x="82688" y="226687"/>
                </a:lnTo>
                <a:lnTo>
                  <a:pt x="60750" y="231750"/>
                </a:lnTo>
                <a:lnTo>
                  <a:pt x="42188" y="240188"/>
                </a:lnTo>
                <a:lnTo>
                  <a:pt x="27000" y="252000"/>
                </a:lnTo>
                <a:lnTo>
                  <a:pt x="15188" y="267188"/>
                </a:lnTo>
                <a:lnTo>
                  <a:pt x="6750" y="285750"/>
                </a:lnTo>
                <a:lnTo>
                  <a:pt x="1688" y="307688"/>
                </a:lnTo>
                <a:lnTo>
                  <a:pt x="0" y="333000"/>
                </a:lnTo>
                <a:lnTo>
                  <a:pt x="0" y="45000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ounded Rectangle 278"/>
          <p:cNvSpPr/>
          <p:nvPr/>
        </p:nvSpPr>
        <p:spPr>
          <a:xfrm>
            <a:off x="7615555" y="5111750"/>
            <a:ext cx="4444365" cy="1656080"/>
          </a:xfrm>
          <a:prstGeom prst="roundRect">
            <a:avLst/>
          </a:prstGeom>
          <a:solidFill>
            <a:srgbClr val="FDF5F2"/>
          </a:solidFill>
          <a:ln w="12700">
            <a:solidFill>
              <a:srgbClr val="CE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7783390" y="5285170"/>
            <a:ext cx="288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sz="1100" b="1">
                <a:solidFill>
                  <a:srgbClr val="B23A24"/>
                </a:solidFill>
                <a:latin typeface="Arial" panose="020B0604020202020204"/>
              </a:rPr>
              <a:t>Interaction Prediction Head</a:t>
            </a:r>
            <a:endParaRPr sz="1100" b="1">
              <a:solidFill>
                <a:srgbClr val="B23A24"/>
              </a:solidFill>
              <a:latin typeface="Arial" panose="020B0604020202020204"/>
            </a:endParaRPr>
          </a:p>
        </p:txBody>
      </p:sp>
      <p:sp>
        <p:nvSpPr>
          <p:cNvPr id="281" name="Rounded Rectangle 280"/>
          <p:cNvSpPr/>
          <p:nvPr/>
        </p:nvSpPr>
        <p:spPr>
          <a:xfrm>
            <a:off x="7632045" y="5579585"/>
            <a:ext cx="1296000" cy="1080000"/>
          </a:xfrm>
          <a:prstGeom prst="roundRect">
            <a:avLst/>
          </a:prstGeom>
          <a:solidFill>
            <a:srgbClr val="F7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000" b="1">
                <a:solidFill>
                  <a:srgbClr val="B23A24"/>
                </a:solidFill>
                <a:latin typeface="Arial" panose="020B0604020202020204"/>
              </a:rPr>
              <a:t>MLP Decoder</a:t>
            </a:r>
            <a:endParaRPr sz="1000" b="1">
              <a:solidFill>
                <a:srgbClr val="B23A24"/>
              </a:solidFill>
              <a:latin typeface="Arial" panose="020B0604020202020204"/>
            </a:endParaRPr>
          </a:p>
          <a:p>
            <a:pPr algn="ctr"/>
            <a:r>
              <a:rPr sz="1000" b="1">
                <a:solidFill>
                  <a:srgbClr val="B23A24"/>
                </a:solidFill>
                <a:latin typeface="Arial" panose="020B0604020202020204"/>
              </a:rPr>
              <a:t>(FC × 3 + ReLU</a:t>
            </a:r>
            <a:r>
              <a:rPr lang="en-US" sz="1000" b="1">
                <a:solidFill>
                  <a:srgbClr val="B23A24"/>
                </a:solidFill>
                <a:latin typeface="Arial" panose="020B0604020202020204"/>
              </a:rPr>
              <a:t>+layernorm</a:t>
            </a:r>
            <a:r>
              <a:rPr sz="1000" b="1">
                <a:solidFill>
                  <a:srgbClr val="B23A24"/>
                </a:solidFill>
                <a:latin typeface="Arial" panose="020B0604020202020204"/>
              </a:rPr>
              <a:t>)</a:t>
            </a:r>
            <a:endParaRPr sz="1000" b="1">
              <a:solidFill>
                <a:srgbClr val="B23A24"/>
              </a:solidFill>
              <a:latin typeface="Arial" panose="020B0604020202020204"/>
            </a:endParaRPr>
          </a:p>
        </p:txBody>
      </p:sp>
      <p:cxnSp>
        <p:nvCxnSpPr>
          <p:cNvPr id="283" name="Connector 282"/>
          <p:cNvCxnSpPr/>
          <p:nvPr/>
        </p:nvCxnSpPr>
        <p:spPr>
          <a:xfrm>
            <a:off x="9144000" y="5778000"/>
            <a:ext cx="0" cy="540000"/>
          </a:xfrm>
          <a:prstGeom prst="line">
            <a:avLst/>
          </a:prstGeom>
          <a:ln w="12700">
            <a:solidFill>
              <a:srgbClr val="AAA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9144000" y="6318000"/>
            <a:ext cx="702000" cy="0"/>
          </a:xfrm>
          <a:prstGeom prst="line">
            <a:avLst/>
          </a:prstGeom>
          <a:ln w="12700">
            <a:solidFill>
              <a:srgbClr val="AAAA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9144000" y="6308777"/>
            <a:ext cx="27000" cy="794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9171000" y="6307474"/>
            <a:ext cx="27000" cy="1303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9198000" y="6305341"/>
            <a:ext cx="27000" cy="2133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9225000" y="6301864"/>
            <a:ext cx="27000" cy="3477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9252000" y="6296237"/>
            <a:ext cx="27000" cy="5627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9279000" y="6287238"/>
            <a:ext cx="27000" cy="8999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9306000" y="6273113"/>
            <a:ext cx="27000" cy="14125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9333000" y="6251579"/>
            <a:ext cx="27000" cy="21534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9360000" y="6220170"/>
            <a:ext cx="27000" cy="31409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9387000" y="6177189"/>
            <a:ext cx="27000" cy="42981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9414000" y="6123237"/>
            <a:ext cx="27000" cy="53952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9441000" y="6062400"/>
            <a:ext cx="27000" cy="60837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9468000" y="6001562"/>
            <a:ext cx="27000" cy="60838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9495000" y="5947610"/>
            <a:ext cx="27000" cy="53952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9522000" y="5904629"/>
            <a:ext cx="27000" cy="42981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9549000" y="5873220"/>
            <a:ext cx="27000" cy="31409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9576000" y="5851686"/>
            <a:ext cx="27000" cy="21534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9603000" y="5837561"/>
            <a:ext cx="27000" cy="14125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9630000" y="5828562"/>
            <a:ext cx="27000" cy="8999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657000" y="5822935"/>
            <a:ext cx="27000" cy="5627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684000" y="5819458"/>
            <a:ext cx="27000" cy="3477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711000" y="5817325"/>
            <a:ext cx="27000" cy="2133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738000" y="5816022"/>
            <a:ext cx="27000" cy="1303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765000" y="5815228"/>
            <a:ext cx="27000" cy="794"/>
          </a:xfrm>
          <a:prstGeom prst="line">
            <a:avLst/>
          </a:prstGeom>
          <a:ln w="30480">
            <a:solidFill>
              <a:srgbClr val="B23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>
            <a:off x="8928000" y="6469200"/>
            <a:ext cx="1080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B23A24"/>
                </a:solidFill>
                <a:latin typeface="Arial" panose="020B0604020202020204"/>
              </a:rPr>
              <a:t>Sigmoid</a:t>
            </a:r>
            <a:endParaRPr sz="900" b="1">
              <a:solidFill>
                <a:srgbClr val="B23A24"/>
              </a:solidFill>
              <a:latin typeface="Arial" panose="020B0604020202020204"/>
            </a:endParaRPr>
          </a:p>
        </p:txBody>
      </p:sp>
      <p:sp>
        <p:nvSpPr>
          <p:cNvPr id="310" name="Rounded Rectangle 309"/>
          <p:cNvSpPr/>
          <p:nvPr/>
        </p:nvSpPr>
        <p:spPr>
          <a:xfrm>
            <a:off x="10547070" y="5481160"/>
            <a:ext cx="1440000" cy="1080000"/>
          </a:xfrm>
          <a:prstGeom prst="roundRect">
            <a:avLst/>
          </a:prstGeom>
          <a:solidFill>
            <a:srgbClr val="F7D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1100" b="1">
                <a:solidFill>
                  <a:srgbClr val="B23A24"/>
                </a:solidFill>
                <a:latin typeface="Arial" panose="020B0604020202020204"/>
              </a:rPr>
              <a:t>ŷ ∈ [0, 1]</a:t>
            </a:r>
            <a:endParaRPr sz="1100" b="1">
              <a:solidFill>
                <a:srgbClr val="B23A24"/>
              </a:solidFill>
              <a:latin typeface="Arial" panose="020B0604020202020204"/>
            </a:endParaRPr>
          </a:p>
          <a:p>
            <a:pPr algn="ctr"/>
          </a:p>
          <a:p>
            <a:pPr algn="ctr"/>
            <a:r>
              <a:rPr sz="1100" b="1">
                <a:solidFill>
                  <a:srgbClr val="B23A24"/>
                </a:solidFill>
                <a:latin typeface="Arial" panose="020B0604020202020204"/>
              </a:rPr>
              <a:t>Interaction</a:t>
            </a:r>
            <a:endParaRPr sz="1100" b="1">
              <a:solidFill>
                <a:srgbClr val="B23A24"/>
              </a:solidFill>
              <a:latin typeface="Arial" panose="020B0604020202020204"/>
            </a:endParaRPr>
          </a:p>
          <a:p>
            <a:pPr algn="ctr"/>
            <a:r>
              <a:rPr sz="1100" b="1">
                <a:solidFill>
                  <a:srgbClr val="B23A24"/>
                </a:solidFill>
                <a:latin typeface="Arial" panose="020B0604020202020204"/>
              </a:rPr>
              <a:t>Probability</a:t>
            </a:r>
            <a:endParaRPr sz="1100" b="1">
              <a:solidFill>
                <a:srgbClr val="B23A24"/>
              </a:solidFill>
              <a:latin typeface="Arial" panose="020B0604020202020204"/>
            </a:endParaRPr>
          </a:p>
        </p:txBody>
      </p:sp>
      <p:sp>
        <p:nvSpPr>
          <p:cNvPr id="311" name="Freeform 310"/>
          <p:cNvSpPr/>
          <p:nvPr/>
        </p:nvSpPr>
        <p:spPr>
          <a:xfrm>
            <a:off x="8298180" y="4679950"/>
            <a:ext cx="1531620" cy="918210"/>
          </a:xfrm>
          <a:custGeom>
            <a:avLst/>
            <a:gdLst/>
            <a:ahLst/>
            <a:cxnLst/>
            <a:rect l="l" t="t" r="r" b="b"/>
            <a:pathLst>
              <a:path w="1980000" h="918000">
                <a:moveTo>
                  <a:pt x="1980000" y="0"/>
                </a:moveTo>
                <a:lnTo>
                  <a:pt x="1980000" y="351000"/>
                </a:lnTo>
                <a:lnTo>
                  <a:pt x="1978312" y="376312"/>
                </a:lnTo>
                <a:lnTo>
                  <a:pt x="1973250" y="398250"/>
                </a:lnTo>
                <a:lnTo>
                  <a:pt x="1964812" y="416812"/>
                </a:lnTo>
                <a:lnTo>
                  <a:pt x="1953000" y="432000"/>
                </a:lnTo>
                <a:lnTo>
                  <a:pt x="1937812" y="443812"/>
                </a:lnTo>
                <a:lnTo>
                  <a:pt x="1919250" y="452250"/>
                </a:lnTo>
                <a:lnTo>
                  <a:pt x="1897312" y="457312"/>
                </a:lnTo>
                <a:lnTo>
                  <a:pt x="1872000" y="459000"/>
                </a:lnTo>
                <a:lnTo>
                  <a:pt x="108000" y="459000"/>
                </a:lnTo>
                <a:lnTo>
                  <a:pt x="82688" y="460688"/>
                </a:lnTo>
                <a:lnTo>
                  <a:pt x="60750" y="465750"/>
                </a:lnTo>
                <a:lnTo>
                  <a:pt x="42188" y="474188"/>
                </a:lnTo>
                <a:lnTo>
                  <a:pt x="27000" y="486000"/>
                </a:lnTo>
                <a:lnTo>
                  <a:pt x="15188" y="501188"/>
                </a:lnTo>
                <a:lnTo>
                  <a:pt x="6750" y="519750"/>
                </a:lnTo>
                <a:lnTo>
                  <a:pt x="1688" y="541688"/>
                </a:lnTo>
                <a:lnTo>
                  <a:pt x="0" y="567000"/>
                </a:lnTo>
                <a:lnTo>
                  <a:pt x="0" y="918000"/>
                </a:lnTo>
              </a:path>
            </a:pathLst>
          </a:custGeom>
          <a:noFill/>
          <a:ln w="16510" cap="rnd">
            <a:solidFill>
              <a:srgbClr val="2E5496"/>
            </a:solidFill>
            <a:round/>
            <a:tailEnd type="arrow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2" name="Connector 311"/>
          <p:cNvCxnSpPr/>
          <p:nvPr/>
        </p:nvCxnSpPr>
        <p:spPr>
          <a:xfrm>
            <a:off x="8568000" y="6138000"/>
            <a:ext cx="360000" cy="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0008000" y="6138000"/>
            <a:ext cx="360000" cy="0"/>
          </a:xfrm>
          <a:prstGeom prst="line">
            <a:avLst/>
          </a:prstGeom>
          <a:ln w="16510" cap="rnd">
            <a:solidFill>
              <a:srgbClr val="2E549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5"/>
          <p:cNvCxnSpPr>
            <a:stCxn id="82" idx="2"/>
            <a:endCxn id="96" idx="0"/>
          </p:cNvCxnSpPr>
          <p:nvPr/>
        </p:nvCxnSpPr>
        <p:spPr>
          <a:xfrm>
            <a:off x="6517069" y="1072059"/>
            <a:ext cx="3175" cy="78486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46"/>
          <p:cNvSpPr/>
          <p:nvPr/>
        </p:nvSpPr>
        <p:spPr>
          <a:xfrm>
            <a:off x="453560" y="3436045"/>
            <a:ext cx="129600" cy="129600"/>
          </a:xfrm>
          <a:prstGeom prst="rect">
            <a:avLst/>
          </a:prstGeom>
          <a:solidFill>
            <a:srgbClr val="6C91D8"/>
          </a:solidFill>
          <a:ln w="6350">
            <a:solidFill>
              <a:srgbClr val="6C9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5"/>
          <p:cNvCxnSpPr/>
          <p:nvPr/>
        </p:nvCxnSpPr>
        <p:spPr>
          <a:xfrm>
            <a:off x="2037144" y="3688894"/>
            <a:ext cx="274320" cy="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2372360" y="3717290"/>
            <a:ext cx="5734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0" name="Connector 35"/>
          <p:cNvCxnSpPr/>
          <p:nvPr/>
        </p:nvCxnSpPr>
        <p:spPr>
          <a:xfrm>
            <a:off x="3117279" y="3688894"/>
            <a:ext cx="274320" cy="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35"/>
          <p:cNvCxnSpPr/>
          <p:nvPr/>
        </p:nvCxnSpPr>
        <p:spPr>
          <a:xfrm>
            <a:off x="3610039" y="3688894"/>
            <a:ext cx="274320" cy="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文本框 316"/>
          <p:cNvSpPr txBox="1"/>
          <p:nvPr/>
        </p:nvSpPr>
        <p:spPr>
          <a:xfrm>
            <a:off x="167640" y="6062345"/>
            <a:ext cx="1305560" cy="59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MAVSEQLKVEEL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  <a:p>
            <a:pPr algn="ctr">
              <a:buClrTx/>
              <a:buSzTx/>
              <a:buNone/>
            </a:pPr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LSKNYHLENEVAR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  <a:p>
            <a:pPr algn="ctr">
              <a:buClrTx/>
              <a:buSzTx/>
              <a:buNone/>
            </a:pPr>
            <a:r>
              <a:rPr sz="800" b="1">
                <a:solidFill>
                  <a:srgbClr val="2854A2"/>
                </a:solidFill>
                <a:latin typeface="Arial" panose="020B0604020202020204"/>
                <a:sym typeface="+mn-ea"/>
              </a:rPr>
              <a:t>LKKLV ...</a:t>
            </a:r>
            <a:endParaRPr sz="8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252095" y="4817110"/>
            <a:ext cx="106553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None/>
            </a:pPr>
            <a:r>
              <a:rPr sz="950" b="1">
                <a:solidFill>
                  <a:srgbClr val="2854A2"/>
                </a:solidFill>
                <a:latin typeface="Arial" panose="020B0604020202020204"/>
                <a:sym typeface="+mn-ea"/>
              </a:rPr>
              <a:t>Protein Sequenc</a:t>
            </a:r>
            <a:r>
              <a:rPr lang="en-US" sz="950" b="1">
                <a:solidFill>
                  <a:srgbClr val="2854A2"/>
                </a:solidFill>
                <a:latin typeface="Arial" panose="020B0604020202020204"/>
                <a:sym typeface="+mn-ea"/>
              </a:rPr>
              <a:t>e</a:t>
            </a:r>
            <a:endParaRPr lang="en-US" sz="950" b="1">
              <a:solidFill>
                <a:srgbClr val="2854A2"/>
              </a:solidFill>
              <a:latin typeface="Arial" panose="020B0604020202020204"/>
              <a:sym typeface="+mn-ea"/>
            </a:endParaRPr>
          </a:p>
        </p:txBody>
      </p:sp>
      <p:sp>
        <p:nvSpPr>
          <p:cNvPr id="340" name="Rectangle 27"/>
          <p:cNvSpPr/>
          <p:nvPr/>
        </p:nvSpPr>
        <p:spPr>
          <a:xfrm>
            <a:off x="4201160" y="2008505"/>
            <a:ext cx="956945" cy="539750"/>
          </a:xfrm>
          <a:prstGeom prst="rect">
            <a:avLst/>
          </a:prstGeom>
          <a:solidFill>
            <a:srgbClr val="FFFFFF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341" name="Rectangle 28"/>
          <p:cNvSpPr/>
          <p:nvPr/>
        </p:nvSpPr>
        <p:spPr>
          <a:xfrm>
            <a:off x="4267835" y="2026920"/>
            <a:ext cx="829945" cy="1797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t"/>
          <a:lstStyle/>
          <a:p>
            <a:pPr algn="l"/>
            <a: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  <a:t>Conformer </a:t>
            </a:r>
            <a:b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</a:br>
            <a:r>
              <a:rPr lang="en-US" altLang="zh-CN" sz="800" b="1">
                <a:solidFill>
                  <a:srgbClr val="266E46"/>
                </a:solidFill>
                <a:latin typeface="Arial" panose="020B0604020202020204"/>
              </a:rPr>
              <a:t>representations</a:t>
            </a:r>
            <a:endParaRPr lang="en-US" altLang="zh-CN" sz="8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342" name="Rectangle 29"/>
          <p:cNvSpPr/>
          <p:nvPr/>
        </p:nvSpPr>
        <p:spPr>
          <a:xfrm>
            <a:off x="4316585" y="233282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0"/>
          <p:cNvSpPr/>
          <p:nvPr/>
        </p:nvSpPr>
        <p:spPr>
          <a:xfrm>
            <a:off x="4474984" y="233282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1"/>
          <p:cNvSpPr/>
          <p:nvPr/>
        </p:nvSpPr>
        <p:spPr>
          <a:xfrm>
            <a:off x="4633384" y="2332820"/>
            <a:ext cx="129600" cy="129600"/>
          </a:xfrm>
          <a:prstGeom prst="rect">
            <a:avLst/>
          </a:prstGeom>
          <a:solidFill>
            <a:srgbClr val="5FB487"/>
          </a:solidFill>
          <a:ln w="6350">
            <a:solidFill>
              <a:srgbClr val="5FB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"/>
          <p:cNvSpPr/>
          <p:nvPr/>
        </p:nvSpPr>
        <p:spPr>
          <a:xfrm>
            <a:off x="4763144" y="2311220"/>
            <a:ext cx="251999" cy="172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l"/>
            <a:r>
              <a:rPr sz="1100" b="1">
                <a:solidFill>
                  <a:srgbClr val="282828"/>
                </a:solidFill>
                <a:latin typeface="Arial" panose="020B0604020202020204"/>
              </a:rPr>
              <a:t>...</a:t>
            </a:r>
            <a:endParaRPr sz="1100" b="1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347" name="直接箭头连接符 346"/>
          <p:cNvCxnSpPr/>
          <p:nvPr/>
        </p:nvCxnSpPr>
        <p:spPr>
          <a:xfrm>
            <a:off x="1373505" y="3493135"/>
            <a:ext cx="254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直接箭头连接符 347"/>
          <p:cNvCxnSpPr/>
          <p:nvPr/>
        </p:nvCxnSpPr>
        <p:spPr>
          <a:xfrm>
            <a:off x="1363980" y="3936365"/>
            <a:ext cx="2635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Rounded Rectangle 128"/>
          <p:cNvSpPr/>
          <p:nvPr/>
        </p:nvSpPr>
        <p:spPr>
          <a:xfrm>
            <a:off x="2350135" y="5540375"/>
            <a:ext cx="707390" cy="361315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700" b="1">
                <a:solidFill>
                  <a:srgbClr val="2854A2"/>
                </a:solidFill>
                <a:latin typeface="Arial" panose="020B0604020202020204"/>
              </a:rPr>
              <a:t>Masked Mean Pooling</a:t>
            </a:r>
            <a:endParaRPr lang="en-US" altLang="zh-CN" sz="700" b="1">
              <a:solidFill>
                <a:srgbClr val="2854A2"/>
              </a:solidFill>
              <a:latin typeface="Arial" panose="020B0604020202020204"/>
            </a:endParaRPr>
          </a:p>
        </p:txBody>
      </p:sp>
      <p:cxnSp>
        <p:nvCxnSpPr>
          <p:cNvPr id="356" name="肘形连接符 355"/>
          <p:cNvCxnSpPr>
            <a:endCxn id="129" idx="0"/>
          </p:cNvCxnSpPr>
          <p:nvPr/>
        </p:nvCxnSpPr>
        <p:spPr>
          <a:xfrm>
            <a:off x="1346200" y="4869180"/>
            <a:ext cx="458470" cy="228600"/>
          </a:xfrm>
          <a:prstGeom prst="bentConnector2">
            <a:avLst/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直接箭头连接符 356"/>
          <p:cNvCxnSpPr>
            <a:stCxn id="129" idx="2"/>
          </p:cNvCxnSpPr>
          <p:nvPr/>
        </p:nvCxnSpPr>
        <p:spPr>
          <a:xfrm>
            <a:off x="1804670" y="5796280"/>
            <a:ext cx="0" cy="259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肘形连接符 357"/>
          <p:cNvCxnSpPr/>
          <p:nvPr/>
        </p:nvCxnSpPr>
        <p:spPr>
          <a:xfrm rot="16200000">
            <a:off x="2199005" y="6278880"/>
            <a:ext cx="971550" cy="6985"/>
          </a:xfrm>
          <a:prstGeom prst="bentConnector3">
            <a:avLst>
              <a:gd name="adj1" fmla="val 4996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直接箭头连接符 358"/>
          <p:cNvCxnSpPr>
            <a:stCxn id="353" idx="0"/>
          </p:cNvCxnSpPr>
          <p:nvPr/>
        </p:nvCxnSpPr>
        <p:spPr>
          <a:xfrm flipV="1">
            <a:off x="2703830" y="5227320"/>
            <a:ext cx="0" cy="313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肘形连接符 359"/>
          <p:cNvCxnSpPr>
            <a:stCxn id="131" idx="0"/>
            <a:endCxn id="363" idx="0"/>
          </p:cNvCxnSpPr>
          <p:nvPr/>
        </p:nvCxnSpPr>
        <p:spPr>
          <a:xfrm rot="16200000" flipH="1">
            <a:off x="3259138" y="4247198"/>
            <a:ext cx="8255" cy="1018540"/>
          </a:xfrm>
          <a:prstGeom prst="bentConnector3">
            <a:avLst>
              <a:gd name="adj1" fmla="val -288846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文本框 362"/>
          <p:cNvSpPr txBox="1"/>
          <p:nvPr/>
        </p:nvSpPr>
        <p:spPr>
          <a:xfrm>
            <a:off x="3213735" y="4760595"/>
            <a:ext cx="1116965" cy="624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1000" b="1">
                <a:solidFill>
                  <a:srgbClr val="2854A2"/>
                </a:solidFill>
                <a:latin typeface="Arial" panose="020B0604020202020204"/>
                <a:sym typeface="+mn-ea"/>
              </a:rPr>
              <a:t>Ligand-conditioned</a:t>
            </a:r>
            <a:endParaRPr sz="100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r>
              <a:rPr sz="1000" b="1">
                <a:solidFill>
                  <a:srgbClr val="2854A2"/>
                </a:solidFill>
                <a:latin typeface="Arial" panose="020B0604020202020204"/>
                <a:sym typeface="+mn-ea"/>
              </a:rPr>
              <a:t>FiLM</a:t>
            </a:r>
            <a:endParaRPr sz="1000" b="1">
              <a:solidFill>
                <a:srgbClr val="2854A2"/>
              </a:solidFill>
              <a:latin typeface="Arial" panose="020B0604020202020204"/>
            </a:endParaRPr>
          </a:p>
          <a:p>
            <a:endParaRPr lang="zh-CN" altLang="en-US" sz="1000"/>
          </a:p>
        </p:txBody>
      </p:sp>
      <p:cxnSp>
        <p:nvCxnSpPr>
          <p:cNvPr id="368" name="肘形连接符 367"/>
          <p:cNvCxnSpPr/>
          <p:nvPr/>
        </p:nvCxnSpPr>
        <p:spPr>
          <a:xfrm rot="5400000">
            <a:off x="4430078" y="3413443"/>
            <a:ext cx="761365" cy="1925320"/>
          </a:xfrm>
          <a:prstGeom prst="bentConnector3">
            <a:avLst>
              <a:gd name="adj1" fmla="val 7122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Rounded Rectangle 128"/>
          <p:cNvSpPr/>
          <p:nvPr/>
        </p:nvSpPr>
        <p:spPr>
          <a:xfrm>
            <a:off x="4792980" y="5947410"/>
            <a:ext cx="963295" cy="438150"/>
          </a:xfrm>
          <a:prstGeom prst="roundRect">
            <a:avLst/>
          </a:prstGeom>
          <a:solidFill>
            <a:srgbClr val="D6E3F6"/>
          </a:solidFill>
          <a:ln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20204"/>
              </a:rPr>
              <a:t>Feed Forward</a:t>
            </a:r>
            <a:endParaRPr lang="en-US"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370" name="Rounded Rectangle 128"/>
          <p:cNvSpPr/>
          <p:nvPr/>
        </p:nvSpPr>
        <p:spPr>
          <a:xfrm>
            <a:off x="4814570" y="5111750"/>
            <a:ext cx="963295" cy="438150"/>
          </a:xfrm>
          <a:prstGeom prst="roundRect">
            <a:avLst/>
          </a:prstGeom>
          <a:solidFill>
            <a:srgbClr val="D6E3F6"/>
          </a:solidFill>
          <a:ln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20204"/>
              </a:rPr>
              <a:t>ACmix</a:t>
            </a:r>
            <a:endParaRPr lang="en-US"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371" name="Oval 66"/>
          <p:cNvSpPr/>
          <p:nvPr/>
        </p:nvSpPr>
        <p:spPr>
          <a:xfrm>
            <a:off x="5217160" y="5649595"/>
            <a:ext cx="193675" cy="1790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6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800" b="1">
                <a:solidFill>
                  <a:srgbClr val="B06816"/>
                </a:solidFill>
                <a:latin typeface="Arial" panose="020B0604020202020204"/>
              </a:rPr>
              <a:t>×</a:t>
            </a:r>
            <a:endParaRPr sz="800" b="1">
              <a:solidFill>
                <a:srgbClr val="B06816"/>
              </a:solidFill>
              <a:latin typeface="Arial" panose="020B0604020202020204"/>
            </a:endParaRPr>
          </a:p>
        </p:txBody>
      </p:sp>
      <p:cxnSp>
        <p:nvCxnSpPr>
          <p:cNvPr id="374" name="肘形连接符 373"/>
          <p:cNvCxnSpPr>
            <a:stCxn id="142" idx="2"/>
          </p:cNvCxnSpPr>
          <p:nvPr/>
        </p:nvCxnSpPr>
        <p:spPr>
          <a:xfrm rot="5400000" flipH="1" flipV="1">
            <a:off x="4138930" y="5434330"/>
            <a:ext cx="774065" cy="1383030"/>
          </a:xfrm>
          <a:prstGeom prst="bentConnector4">
            <a:avLst>
              <a:gd name="adj1" fmla="val -3404"/>
              <a:gd name="adj2" fmla="val 4488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肘形连接符 375"/>
          <p:cNvCxnSpPr/>
          <p:nvPr/>
        </p:nvCxnSpPr>
        <p:spPr>
          <a:xfrm>
            <a:off x="6073140" y="5549900"/>
            <a:ext cx="503555" cy="31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Rounded Rectangle 128"/>
          <p:cNvSpPr/>
          <p:nvPr/>
        </p:nvSpPr>
        <p:spPr>
          <a:xfrm>
            <a:off x="3469640" y="5260340"/>
            <a:ext cx="727710" cy="337820"/>
          </a:xfrm>
          <a:prstGeom prst="roundRect">
            <a:avLst/>
          </a:prstGeom>
          <a:solidFill>
            <a:srgbClr val="D6E3F6"/>
          </a:solidFill>
          <a:ln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20204"/>
              </a:rPr>
              <a:t>Linear</a:t>
            </a:r>
            <a:endParaRPr lang="en-US"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378" name="Rounded Rectangle 128"/>
          <p:cNvSpPr/>
          <p:nvPr/>
        </p:nvSpPr>
        <p:spPr>
          <a:xfrm>
            <a:off x="3469640" y="5752465"/>
            <a:ext cx="745490" cy="283845"/>
          </a:xfrm>
          <a:prstGeom prst="roundRect">
            <a:avLst/>
          </a:prstGeom>
          <a:solidFill>
            <a:srgbClr val="D6E3F6"/>
          </a:solidFill>
          <a:ln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20204"/>
              </a:rPr>
              <a:t>SiLU</a:t>
            </a:r>
            <a:endParaRPr lang="en-US" sz="1000" b="1">
              <a:solidFill>
                <a:srgbClr val="2854A2"/>
              </a:solidFill>
              <a:latin typeface="Arial" panose="020B0604020202020204"/>
            </a:endParaRPr>
          </a:p>
        </p:txBody>
      </p:sp>
      <p:sp>
        <p:nvSpPr>
          <p:cNvPr id="379" name="Rounded Rectangle 128"/>
          <p:cNvSpPr/>
          <p:nvPr/>
        </p:nvSpPr>
        <p:spPr>
          <a:xfrm>
            <a:off x="3412490" y="6145530"/>
            <a:ext cx="802640" cy="262890"/>
          </a:xfrm>
          <a:prstGeom prst="roundRect">
            <a:avLst/>
          </a:prstGeom>
          <a:solidFill>
            <a:srgbClr val="D6E3F6"/>
          </a:solidFill>
          <a:ln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sz="1000" b="1">
                <a:solidFill>
                  <a:srgbClr val="2854A2"/>
                </a:solidFill>
                <a:latin typeface="Arial" panose="020B0604020202020204"/>
              </a:rPr>
              <a:t>Linear</a:t>
            </a:r>
            <a:endParaRPr lang="en-US" sz="1000" b="1">
              <a:solidFill>
                <a:srgbClr val="2854A2"/>
              </a:solidFill>
              <a:latin typeface="Arial" panose="020B0604020202020204"/>
            </a:endParaRPr>
          </a:p>
        </p:txBody>
      </p:sp>
      <p:cxnSp>
        <p:nvCxnSpPr>
          <p:cNvPr id="380" name="肘形连接符 379"/>
          <p:cNvCxnSpPr>
            <a:stCxn id="136" idx="2"/>
            <a:endCxn id="369" idx="2"/>
          </p:cNvCxnSpPr>
          <p:nvPr/>
        </p:nvCxnSpPr>
        <p:spPr>
          <a:xfrm rot="5400000" flipH="1" flipV="1">
            <a:off x="3488690" y="4773295"/>
            <a:ext cx="174625" cy="3398520"/>
          </a:xfrm>
          <a:prstGeom prst="bentConnector3">
            <a:avLst>
              <a:gd name="adj1" fmla="val -13618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5"/>
          <p:cNvCxnSpPr/>
          <p:nvPr/>
        </p:nvCxnSpPr>
        <p:spPr>
          <a:xfrm>
            <a:off x="6647244" y="1641019"/>
            <a:ext cx="0" cy="184150"/>
          </a:xfrm>
          <a:prstGeom prst="line">
            <a:avLst/>
          </a:prstGeom>
          <a:ln w="15875" cap="rnd">
            <a:solidFill>
              <a:srgbClr val="2E5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Rounded Rectangle 95"/>
          <p:cNvSpPr/>
          <p:nvPr/>
        </p:nvSpPr>
        <p:spPr>
          <a:xfrm>
            <a:off x="5814695" y="3068955"/>
            <a:ext cx="1403985" cy="372110"/>
          </a:xfrm>
          <a:prstGeom prst="roundRect">
            <a:avLst/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lang="en-US" altLang="zh-CN" sz="1000" b="1">
                <a:solidFill>
                  <a:srgbClr val="266E46"/>
                </a:solidFill>
                <a:latin typeface="Arial" panose="020B0604020202020204"/>
              </a:rPr>
              <a:t>Mean Pooling</a:t>
            </a:r>
            <a:endParaRPr lang="en-US" altLang="zh-CN" sz="1000" b="1">
              <a:solidFill>
                <a:srgbClr val="266E46"/>
              </a:solidFill>
              <a:latin typeface="Arial" panose="020B0604020202020204"/>
            </a:endParaRPr>
          </a:p>
        </p:txBody>
      </p:sp>
      <p:sp>
        <p:nvSpPr>
          <p:cNvPr id="385" name="Rectangle 143"/>
          <p:cNvSpPr/>
          <p:nvPr/>
        </p:nvSpPr>
        <p:spPr>
          <a:xfrm>
            <a:off x="7550150" y="711835"/>
            <a:ext cx="261620" cy="302895"/>
          </a:xfrm>
          <a:prstGeom prst="rect">
            <a:avLst/>
          </a:prstGeom>
          <a:solidFill>
            <a:srgbClr val="D6E3F6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2854A2"/>
                </a:solidFill>
                <a:latin typeface="Arial" panose="020B0604020202020204"/>
                <a:sym typeface="+mn-ea"/>
              </a:rPr>
              <a:t>P</a:t>
            </a:r>
            <a:endParaRPr sz="900" b="0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392" name="肘形连接符 391"/>
          <p:cNvCxnSpPr>
            <a:stCxn id="386" idx="0"/>
            <a:endCxn id="168" idx="0"/>
          </p:cNvCxnSpPr>
          <p:nvPr/>
        </p:nvCxnSpPr>
        <p:spPr>
          <a:xfrm rot="16200000" flipH="1">
            <a:off x="8926830" y="-469265"/>
            <a:ext cx="43815" cy="2477770"/>
          </a:xfrm>
          <a:prstGeom prst="bentConnector3">
            <a:avLst>
              <a:gd name="adj1" fmla="val -54420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直接箭头连接符 392"/>
          <p:cNvCxnSpPr>
            <a:stCxn id="386" idx="3"/>
          </p:cNvCxnSpPr>
          <p:nvPr/>
        </p:nvCxnSpPr>
        <p:spPr>
          <a:xfrm flipV="1">
            <a:off x="7869555" y="826770"/>
            <a:ext cx="449580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Rectangle 106"/>
          <p:cNvSpPr/>
          <p:nvPr/>
        </p:nvSpPr>
        <p:spPr>
          <a:xfrm>
            <a:off x="7598410" y="1115695"/>
            <a:ext cx="321310" cy="240665"/>
          </a:xfrm>
          <a:prstGeom prst="rect">
            <a:avLst/>
          </a:prstGeom>
          <a:solidFill>
            <a:srgbClr val="D8ECDE"/>
          </a:solidFill>
          <a:ln w="10160">
            <a:solidFill>
              <a:srgbClr val="C8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r>
              <a:rPr sz="900" b="1">
                <a:solidFill>
                  <a:srgbClr val="266E46"/>
                </a:solidFill>
                <a:latin typeface="Arial" panose="020B0604020202020204"/>
                <a:sym typeface="+mn-ea"/>
              </a:rPr>
              <a:t>D</a:t>
            </a:r>
            <a:endParaRPr lang="en-US" sz="900" b="0">
              <a:solidFill>
                <a:srgbClr val="282828"/>
              </a:solidFill>
              <a:latin typeface="Arial" panose="020B0604020202020204"/>
            </a:endParaRPr>
          </a:p>
        </p:txBody>
      </p:sp>
      <p:cxnSp>
        <p:nvCxnSpPr>
          <p:cNvPr id="401" name="肘形连接符 400"/>
          <p:cNvCxnSpPr>
            <a:endCxn id="181" idx="0"/>
          </p:cNvCxnSpPr>
          <p:nvPr/>
        </p:nvCxnSpPr>
        <p:spPr>
          <a:xfrm>
            <a:off x="7759065" y="1355725"/>
            <a:ext cx="826770" cy="80391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Rounded Rectangle 251"/>
          <p:cNvSpPr/>
          <p:nvPr/>
        </p:nvSpPr>
        <p:spPr>
          <a:xfrm>
            <a:off x="7785100" y="3113405"/>
            <a:ext cx="1548130" cy="339090"/>
          </a:xfrm>
          <a:prstGeom prst="roundRect">
            <a:avLst/>
          </a:prstGeom>
          <a:solidFill>
            <a:srgbClr val="D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14400" rIns="28800" bIns="14400" rtlCol="0" anchor="ctr"/>
          <a:lstStyle/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r>
              <a:rPr sz="950" b="1">
                <a:solidFill>
                  <a:srgbClr val="2854A2"/>
                </a:solidFill>
                <a:latin typeface="Arial" panose="020B0604020202020204"/>
              </a:rPr>
              <a:t>Max</a:t>
            </a:r>
            <a:r>
              <a:rPr lang="en-US" sz="950" b="1">
                <a:solidFill>
                  <a:srgbClr val="2854A2"/>
                </a:solidFill>
                <a:latin typeface="Arial" panose="020B0604020202020204"/>
              </a:rPr>
              <a:t> </a:t>
            </a:r>
            <a:r>
              <a:rPr sz="950" b="1">
                <a:solidFill>
                  <a:srgbClr val="2854A2"/>
                </a:solidFill>
                <a:latin typeface="Arial" panose="020B0604020202020204"/>
              </a:rPr>
              <a:t>Pool</a:t>
            </a:r>
            <a:r>
              <a:rPr lang="en-US" sz="950" b="1">
                <a:solidFill>
                  <a:srgbClr val="2854A2"/>
                </a:solidFill>
                <a:latin typeface="Arial" panose="020B0604020202020204"/>
              </a:rPr>
              <a:t>ing</a:t>
            </a:r>
            <a:endParaRPr sz="950" b="1">
              <a:solidFill>
                <a:srgbClr val="2854A2"/>
              </a:solidFill>
              <a:latin typeface="Arial" panose="020B0604020202020204"/>
            </a:endParaRPr>
          </a:p>
          <a:p>
            <a:pPr algn="ctr"/>
            <a:endParaRPr sz="950" b="1">
              <a:solidFill>
                <a:srgbClr val="2854A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2090</Words>
  <Application>WPS 演示</Application>
  <PresentationFormat>On-screen Show (4:3)</PresentationFormat>
  <Paragraphs>350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Arial</vt:lpstr>
      <vt:lpstr>Calibri</vt:lpstr>
      <vt:lpstr>MS PGothic</vt:lpstr>
      <vt:lpstr>微软雅黑</vt:lpstr>
      <vt:lpstr>Arial Unicode MS</vt:lpstr>
      <vt:lpstr>Times New Roman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PilgrLC</cp:lastModifiedBy>
  <cp:revision>27</cp:revision>
  <dcterms:created xsi:type="dcterms:W3CDTF">2013-01-27T09:14:00Z</dcterms:created>
  <dcterms:modified xsi:type="dcterms:W3CDTF">2026-06-20T05:47:26Z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BECC8F373B484575A662E03033F98D6C_12</vt:lpwstr>
  </property>
</Properties>
</file>