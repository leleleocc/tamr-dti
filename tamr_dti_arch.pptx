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4000" y="144000"/>
            <a:ext cx="4680000" cy="2628000"/>
          </a:xfrm>
          <a:prstGeom prst="roundRect">
            <a:avLst/>
          </a:prstGeom>
          <a:solidFill>
            <a:srgbClr val="F1F8F4"/>
          </a:solidFill>
          <a:ln w="12700">
            <a:solidFill>
              <a:srgbClr val="CE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306000" y="208800"/>
            <a:ext cx="288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1100" b="1">
                <a:solidFill>
                  <a:srgbClr val="266E46"/>
                </a:solidFill>
                <a:latin typeface="Arial"/>
              </a:rPr>
              <a:t>Drug Representation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999" y="504000"/>
            <a:ext cx="1260000" cy="684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306000" y="522000"/>
            <a:ext cx="792000" cy="151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900" b="1">
                <a:solidFill>
                  <a:srgbClr val="266E46"/>
                </a:solidFill>
                <a:latin typeface="Arial"/>
              </a:rPr>
              <a:t>SMILES</a:t>
            </a:r>
          </a:p>
        </p:txBody>
      </p:sp>
      <p:pic>
        <p:nvPicPr>
          <p:cNvPr id="6" name="Picture 5" descr="m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000" y="702000"/>
            <a:ext cx="630000" cy="45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51999" y="1314000"/>
            <a:ext cx="1260000" cy="54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000" b="1">
                <a:solidFill>
                  <a:srgbClr val="266E46"/>
                </a:solidFill>
                <a:latin typeface="Arial"/>
              </a:rPr>
              <a:t>2D Molecular</a:t>
            </a:r>
          </a:p>
          <a:p>
            <a:pPr algn="ctr"/>
            <a:r>
              <a:rPr sz="1000" b="1">
                <a:solidFill>
                  <a:srgbClr val="266E46"/>
                </a:solidFill>
                <a:latin typeface="Arial"/>
              </a:rPr>
              <a:t>Graph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999" y="2016000"/>
            <a:ext cx="1260000" cy="61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000" b="1">
                <a:solidFill>
                  <a:srgbClr val="266E46"/>
                </a:solidFill>
                <a:latin typeface="Arial"/>
              </a:rPr>
              <a:t>K Conformers</a:t>
            </a:r>
          </a:p>
          <a:p>
            <a:pPr algn="ctr"/>
            <a:r>
              <a:rPr sz="1000" b="1">
                <a:solidFill>
                  <a:srgbClr val="266E46"/>
                </a:solidFill>
                <a:latin typeface="Arial"/>
              </a:rPr>
              <a:t>+ Energy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2000" y="576000"/>
            <a:ext cx="936000" cy="540000"/>
          </a:xfrm>
          <a:prstGeom prst="roundRect">
            <a:avLst/>
          </a:prstGeom>
          <a:solidFill>
            <a:srgbClr val="D8EC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000" b="1">
                <a:solidFill>
                  <a:srgbClr val="266E46"/>
                </a:solidFill>
                <a:latin typeface="Arial"/>
              </a:rPr>
              <a:t>ChemBERTa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92000" y="1314000"/>
            <a:ext cx="936000" cy="540000"/>
          </a:xfrm>
          <a:prstGeom prst="roundRect">
            <a:avLst/>
          </a:prstGeom>
          <a:solidFill>
            <a:srgbClr val="D8EC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000" b="1">
                <a:solidFill>
                  <a:srgbClr val="266E46"/>
                </a:solidFill>
                <a:latin typeface="Arial"/>
              </a:rPr>
              <a:t>GCN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2000" y="2052000"/>
            <a:ext cx="936000" cy="540000"/>
          </a:xfrm>
          <a:prstGeom prst="roundRect">
            <a:avLst/>
          </a:prstGeom>
          <a:solidFill>
            <a:srgbClr val="D8EC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000" b="1">
                <a:solidFill>
                  <a:srgbClr val="266E46"/>
                </a:solidFill>
                <a:latin typeface="Arial"/>
              </a:rPr>
              <a:t>EGNN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72000" y="576000"/>
            <a:ext cx="1835999" cy="54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2815200" y="604800"/>
            <a:ext cx="1749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1">
                <a:solidFill>
                  <a:srgbClr val="266E46"/>
                </a:solidFill>
                <a:latin typeface="Arial"/>
              </a:rPr>
              <a:t>Molecular Semantics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87200" y="900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45599" y="900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3999" y="900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62399" y="900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20799" y="900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79199" y="87840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1100" b="1">
                <a:solidFill>
                  <a:srgbClr val="282828"/>
                </a:solidFill>
                <a:latin typeface="Arial"/>
              </a:rPr>
              <a:t>...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72000" y="1314000"/>
            <a:ext cx="1835999" cy="54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2815200" y="1342800"/>
            <a:ext cx="1749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1">
                <a:solidFill>
                  <a:srgbClr val="266E46"/>
                </a:solidFill>
                <a:latin typeface="Arial"/>
              </a:rPr>
              <a:t>Topology Tokens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7200" y="1638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45599" y="1638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3999" y="1638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62399" y="1638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520799" y="1638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79199" y="161640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1100" b="1">
                <a:solidFill>
                  <a:srgbClr val="282828"/>
                </a:solidFill>
                <a:latin typeface="Arial"/>
              </a:rPr>
              <a:t>...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72000" y="2052000"/>
            <a:ext cx="1835999" cy="540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2815200" y="2080800"/>
            <a:ext cx="1749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1">
                <a:solidFill>
                  <a:srgbClr val="266E46"/>
                </a:solidFill>
                <a:latin typeface="Arial"/>
              </a:rPr>
              <a:t>Conformer Summaries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7200" y="2376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45599" y="2376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3999" y="2376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62399" y="2376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20799" y="2376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79199" y="235440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1100" b="1">
                <a:solidFill>
                  <a:srgbClr val="282828"/>
                </a:solidFill>
                <a:latin typeface="Arial"/>
              </a:rPr>
              <a:t>...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511999" y="845999"/>
            <a:ext cx="180001" cy="1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628000" y="846000"/>
            <a:ext cx="144000" cy="0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511999" y="1584000"/>
            <a:ext cx="180001" cy="0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628000" y="1584000"/>
            <a:ext cx="144000" cy="0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511999" y="2321999"/>
            <a:ext cx="180001" cy="1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628000" y="2322000"/>
            <a:ext cx="144000" cy="0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144000" y="2844000"/>
            <a:ext cx="4680000" cy="1404000"/>
          </a:xfrm>
          <a:prstGeom prst="roundRect">
            <a:avLst/>
          </a:prstGeom>
          <a:solidFill>
            <a:srgbClr val="FDF7EE"/>
          </a:solidFill>
          <a:ln w="12700">
            <a:solidFill>
              <a:srgbClr val="CE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306000" y="2901600"/>
            <a:ext cx="288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1000" b="1">
                <a:solidFill>
                  <a:srgbClr val="B06816"/>
                </a:solidFill>
                <a:latin typeface="Arial"/>
              </a:rPr>
              <a:t>Target-aware Conformer Weighting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01999" y="2901600"/>
            <a:ext cx="1332000" cy="180000"/>
          </a:xfrm>
          <a:prstGeom prst="roundRect">
            <a:avLst/>
          </a:prstGeom>
          <a:solidFill>
            <a:srgbClr val="F6D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800" b="1">
                <a:solidFill>
                  <a:srgbClr val="5A3C00"/>
                </a:solidFill>
                <a:latin typeface="Arial"/>
              </a:rPr>
              <a:t>★ Key Contribution ①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1999" y="3150000"/>
            <a:ext cx="1260000" cy="39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295200" y="3178800"/>
            <a:ext cx="1173600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1">
                <a:solidFill>
                  <a:srgbClr val="2854A2"/>
                </a:solidFill>
                <a:latin typeface="Arial"/>
              </a:rPr>
              <a:t>Protein Seed Context  p_g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7200" y="333000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600" y="333000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4000" y="333000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42400" y="333000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00799" y="330840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1100" b="1">
                <a:solidFill>
                  <a:srgbClr val="282828"/>
                </a:solidFill>
                <a:latin typeface="Arial"/>
              </a:rPr>
              <a:t>...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1999" y="3636000"/>
            <a:ext cx="1260000" cy="39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295200" y="3664800"/>
            <a:ext cx="1173600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1">
                <a:solidFill>
                  <a:srgbClr val="B06816"/>
                </a:solidFill>
                <a:latin typeface="Arial"/>
              </a:rPr>
              <a:t>Energy Embedding  u_k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7200" y="3816000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25600" y="3816000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4000" y="3816000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42400" y="3816000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00799" y="379440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1100" b="1">
                <a:solidFill>
                  <a:srgbClr val="282828"/>
                </a:solidFill>
                <a:latin typeface="Arial"/>
              </a:rPr>
              <a:t>...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692000" y="3204000"/>
            <a:ext cx="648000" cy="720000"/>
          </a:xfrm>
          <a:prstGeom prst="roundRect">
            <a:avLst/>
          </a:prstGeom>
          <a:solidFill>
            <a:srgbClr val="FAE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000" b="1">
                <a:solidFill>
                  <a:srgbClr val="B06816"/>
                </a:solidFill>
                <a:latin typeface="Arial"/>
              </a:rPr>
              <a:t>Score</a:t>
            </a:r>
          </a:p>
          <a:p>
            <a:pPr algn="ctr"/>
            <a:r>
              <a:rPr sz="1000" b="1">
                <a:solidFill>
                  <a:srgbClr val="B06816"/>
                </a:solidFill>
                <a:latin typeface="Arial"/>
              </a:rPr>
              <a:t>MLP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84000" y="3024000"/>
            <a:ext cx="936000" cy="151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900" b="1">
                <a:solidFill>
                  <a:srgbClr val="B06816"/>
                </a:solidFill>
                <a:latin typeface="Arial"/>
              </a:rPr>
              <a:t>α_k  (softmax)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84000" y="3204000"/>
            <a:ext cx="230760" cy="144000"/>
          </a:xfrm>
          <a:prstGeom prst="rect">
            <a:avLst/>
          </a:prstGeom>
          <a:solidFill>
            <a:srgbClr val="EEB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2750760" y="3196799"/>
            <a:ext cx="342000" cy="158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850" b="0">
                <a:solidFill>
                  <a:srgbClr val="282828"/>
                </a:solidFill>
                <a:latin typeface="Arial"/>
              </a:rPr>
              <a:t>0.23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484000" y="3492000"/>
            <a:ext cx="377640" cy="144000"/>
          </a:xfrm>
          <a:prstGeom prst="rect">
            <a:avLst/>
          </a:prstGeom>
          <a:solidFill>
            <a:srgbClr val="EEB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2897640" y="3484800"/>
            <a:ext cx="342000" cy="158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850" b="0">
                <a:solidFill>
                  <a:srgbClr val="282828"/>
                </a:solidFill>
                <a:latin typeface="Arial"/>
              </a:rPr>
              <a:t>0.47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484000" y="3780000"/>
            <a:ext cx="138960" cy="144000"/>
          </a:xfrm>
          <a:prstGeom prst="rect">
            <a:avLst/>
          </a:prstGeom>
          <a:solidFill>
            <a:srgbClr val="EEB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66" name="Rectangle 65"/>
          <p:cNvSpPr/>
          <p:nvPr/>
        </p:nvSpPr>
        <p:spPr>
          <a:xfrm>
            <a:off x="2658960" y="3772799"/>
            <a:ext cx="342000" cy="158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850" b="0">
                <a:solidFill>
                  <a:srgbClr val="282828"/>
                </a:solidFill>
                <a:latin typeface="Arial"/>
              </a:rPr>
              <a:t>0.08</a:t>
            </a:r>
          </a:p>
        </p:txBody>
      </p:sp>
      <p:sp>
        <p:nvSpPr>
          <p:cNvPr id="67" name="Oval 66"/>
          <p:cNvSpPr/>
          <p:nvPr/>
        </p:nvSpPr>
        <p:spPr>
          <a:xfrm>
            <a:off x="3420000" y="3420000"/>
            <a:ext cx="306000" cy="306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068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400" b="1">
                <a:solidFill>
                  <a:srgbClr val="B06816"/>
                </a:solidFill>
                <a:latin typeface="Arial"/>
              </a:rPr>
              <a:t>×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816000" y="3150000"/>
            <a:ext cx="972000" cy="827999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69" name="Rectangle 68"/>
          <p:cNvSpPr/>
          <p:nvPr/>
        </p:nvSpPr>
        <p:spPr>
          <a:xfrm>
            <a:off x="3859199" y="3178800"/>
            <a:ext cx="885600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1">
                <a:solidFill>
                  <a:srgbClr val="B06816"/>
                </a:solidFill>
                <a:latin typeface="Arial"/>
              </a:rPr>
              <a:t>Target-aware</a:t>
            </a:r>
          </a:p>
          <a:p>
            <a:pPr algn="l"/>
            <a:r>
              <a:rPr sz="800" b="1">
                <a:solidFill>
                  <a:srgbClr val="B06816"/>
                </a:solidFill>
                <a:latin typeface="Arial"/>
              </a:rPr>
              <a:t>Geometry Tokens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931200" y="3762000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089600" y="3762000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248000" y="3762000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406399" y="374040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1100" b="1">
                <a:solidFill>
                  <a:srgbClr val="282828"/>
                </a:solidFill>
                <a:latin typeface="Arial"/>
              </a:rPr>
              <a:t>...</a:t>
            </a:r>
          </a:p>
        </p:txBody>
      </p:sp>
      <p:sp>
        <p:nvSpPr>
          <p:cNvPr id="74" name="Freeform 73"/>
          <p:cNvSpPr/>
          <p:nvPr/>
        </p:nvSpPr>
        <p:spPr>
          <a:xfrm>
            <a:off x="1511999" y="3348000"/>
            <a:ext cx="180001" cy="216000"/>
          </a:xfrm>
          <a:custGeom>
            <a:avLst/>
            <a:gdLst/>
            <a:ahLst/>
            <a:cxnLst/>
            <a:rect l="l" t="t" r="r" b="b"/>
            <a:pathLst>
              <a:path w="180001" h="216000">
                <a:moveTo>
                  <a:pt x="0" y="0"/>
                </a:moveTo>
                <a:lnTo>
                  <a:pt x="45000" y="0"/>
                </a:lnTo>
                <a:lnTo>
                  <a:pt x="55547" y="703"/>
                </a:lnTo>
                <a:lnTo>
                  <a:pt x="64688" y="2813"/>
                </a:lnTo>
                <a:lnTo>
                  <a:pt x="72422" y="6328"/>
                </a:lnTo>
                <a:lnTo>
                  <a:pt x="78750" y="11250"/>
                </a:lnTo>
                <a:lnTo>
                  <a:pt x="83672" y="17578"/>
                </a:lnTo>
                <a:lnTo>
                  <a:pt x="87188" y="25313"/>
                </a:lnTo>
                <a:lnTo>
                  <a:pt x="89297" y="34453"/>
                </a:lnTo>
                <a:lnTo>
                  <a:pt x="90001" y="45000"/>
                </a:lnTo>
                <a:lnTo>
                  <a:pt x="90001" y="171000"/>
                </a:lnTo>
                <a:lnTo>
                  <a:pt x="90704" y="181547"/>
                </a:lnTo>
                <a:lnTo>
                  <a:pt x="92813" y="190687"/>
                </a:lnTo>
                <a:lnTo>
                  <a:pt x="96329" y="198422"/>
                </a:lnTo>
                <a:lnTo>
                  <a:pt x="101251" y="204750"/>
                </a:lnTo>
                <a:lnTo>
                  <a:pt x="107579" y="209672"/>
                </a:lnTo>
                <a:lnTo>
                  <a:pt x="115313" y="213187"/>
                </a:lnTo>
                <a:lnTo>
                  <a:pt x="124454" y="215297"/>
                </a:lnTo>
                <a:lnTo>
                  <a:pt x="135001" y="216000"/>
                </a:lnTo>
                <a:lnTo>
                  <a:pt x="180001" y="21600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511999" y="3564000"/>
            <a:ext cx="180001" cy="270000"/>
          </a:xfrm>
          <a:custGeom>
            <a:avLst/>
            <a:gdLst/>
            <a:ahLst/>
            <a:cxnLst/>
            <a:rect l="l" t="t" r="r" b="b"/>
            <a:pathLst>
              <a:path w="180001" h="270000">
                <a:moveTo>
                  <a:pt x="0" y="270000"/>
                </a:moveTo>
                <a:lnTo>
                  <a:pt x="45000" y="270000"/>
                </a:lnTo>
                <a:lnTo>
                  <a:pt x="55547" y="269297"/>
                </a:lnTo>
                <a:lnTo>
                  <a:pt x="64688" y="267187"/>
                </a:lnTo>
                <a:lnTo>
                  <a:pt x="72422" y="263672"/>
                </a:lnTo>
                <a:lnTo>
                  <a:pt x="78750" y="258750"/>
                </a:lnTo>
                <a:lnTo>
                  <a:pt x="83672" y="252422"/>
                </a:lnTo>
                <a:lnTo>
                  <a:pt x="87188" y="244687"/>
                </a:lnTo>
                <a:lnTo>
                  <a:pt x="89297" y="235547"/>
                </a:lnTo>
                <a:lnTo>
                  <a:pt x="90001" y="225000"/>
                </a:lnTo>
                <a:lnTo>
                  <a:pt x="90001" y="45000"/>
                </a:lnTo>
                <a:lnTo>
                  <a:pt x="90704" y="34453"/>
                </a:lnTo>
                <a:lnTo>
                  <a:pt x="92813" y="25313"/>
                </a:lnTo>
                <a:lnTo>
                  <a:pt x="96329" y="17578"/>
                </a:lnTo>
                <a:lnTo>
                  <a:pt x="101251" y="11250"/>
                </a:lnTo>
                <a:lnTo>
                  <a:pt x="107579" y="6328"/>
                </a:lnTo>
                <a:lnTo>
                  <a:pt x="115313" y="2813"/>
                </a:lnTo>
                <a:lnTo>
                  <a:pt x="124454" y="703"/>
                </a:lnTo>
                <a:lnTo>
                  <a:pt x="135001" y="0"/>
                </a:lnTo>
                <a:lnTo>
                  <a:pt x="180001" y="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 flipV="1">
            <a:off x="2340000" y="3563999"/>
            <a:ext cx="144000" cy="1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861640" y="3563999"/>
            <a:ext cx="558360" cy="9001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726000" y="3563999"/>
            <a:ext cx="90000" cy="9001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4932000" y="144000"/>
            <a:ext cx="1655999" cy="4104000"/>
          </a:xfrm>
          <a:prstGeom prst="roundRect">
            <a:avLst/>
          </a:prstGeom>
          <a:solidFill>
            <a:srgbClr val="F1F8F4"/>
          </a:solidFill>
          <a:ln w="12700">
            <a:solidFill>
              <a:srgbClr val="CE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80" name="Rectangle 79"/>
          <p:cNvSpPr/>
          <p:nvPr/>
        </p:nvSpPr>
        <p:spPr>
          <a:xfrm>
            <a:off x="5058000" y="201600"/>
            <a:ext cx="288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1000" b="1">
                <a:solidFill>
                  <a:srgbClr val="266E46"/>
                </a:solidFill>
                <a:latin typeface="Arial"/>
              </a:rPr>
              <a:t>Token-wise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58000" y="381600"/>
            <a:ext cx="288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1000" b="1">
                <a:solidFill>
                  <a:srgbClr val="266E46"/>
                </a:solidFill>
                <a:latin typeface="Arial"/>
              </a:rPr>
              <a:t>Fusion Gate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58000" y="720000"/>
            <a:ext cx="1403999" cy="39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83" name="Rectangle 82"/>
          <p:cNvSpPr/>
          <p:nvPr/>
        </p:nvSpPr>
        <p:spPr>
          <a:xfrm>
            <a:off x="5101199" y="748800"/>
            <a:ext cx="1317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1">
                <a:solidFill>
                  <a:srgbClr val="266E46"/>
                </a:solidFill>
                <a:latin typeface="Arial"/>
              </a:rPr>
              <a:t>1D Semantics  d_1d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173200" y="900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331600" y="900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489999" y="900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648399" y="900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806800" y="87840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1100" b="1">
                <a:solidFill>
                  <a:srgbClr val="282828"/>
                </a:solidFill>
                <a:latin typeface="Arial"/>
              </a:rPr>
              <a:t>...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058000" y="1224000"/>
            <a:ext cx="1403999" cy="39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90" name="Rectangle 89"/>
          <p:cNvSpPr/>
          <p:nvPr/>
        </p:nvSpPr>
        <p:spPr>
          <a:xfrm>
            <a:off x="5101199" y="1252800"/>
            <a:ext cx="1317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1">
                <a:solidFill>
                  <a:srgbClr val="B06816"/>
                </a:solidFill>
                <a:latin typeface="Arial"/>
              </a:rPr>
              <a:t>2D/3D Geometry  d_geo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173200" y="1404000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331600" y="1404000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489999" y="1404000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648399" y="1404000"/>
            <a:ext cx="129600" cy="129600"/>
          </a:xfrm>
          <a:prstGeom prst="rect">
            <a:avLst/>
          </a:prstGeom>
          <a:solidFill>
            <a:srgbClr val="EEB65C"/>
          </a:solidFill>
          <a:ln w="6350">
            <a:solidFill>
              <a:srgbClr val="EEB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806800" y="138240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1100" b="1">
                <a:solidFill>
                  <a:srgbClr val="282828"/>
                </a:solidFill>
                <a:latin typeface="Arial"/>
              </a:rPr>
              <a:t>...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058000" y="1836000"/>
            <a:ext cx="1403999" cy="612000"/>
          </a:xfrm>
          <a:prstGeom prst="roundRect">
            <a:avLst/>
          </a:prstGeom>
          <a:solidFill>
            <a:srgbClr val="D8EC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000" b="1">
                <a:solidFill>
                  <a:srgbClr val="266E46"/>
                </a:solidFill>
                <a:latin typeface="Arial"/>
              </a:rPr>
              <a:t/>
            </a:r>
          </a:p>
        </p:txBody>
      </p:sp>
      <p:sp>
        <p:nvSpPr>
          <p:cNvPr id="97" name="Rectangle 96"/>
          <p:cNvSpPr/>
          <p:nvPr/>
        </p:nvSpPr>
        <p:spPr>
          <a:xfrm>
            <a:off x="5101199" y="1879200"/>
            <a:ext cx="1317599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800" b="1">
                <a:solidFill>
                  <a:srgbClr val="266E46"/>
                </a:solidFill>
                <a:latin typeface="Arial"/>
              </a:rPr>
              <a:t>Sigmoid Gate (per token)</a:t>
            </a:r>
          </a:p>
        </p:txBody>
      </p:sp>
      <p:sp>
        <p:nvSpPr>
          <p:cNvPr id="98" name="Oval 97"/>
          <p:cNvSpPr/>
          <p:nvPr/>
        </p:nvSpPr>
        <p:spPr>
          <a:xfrm>
            <a:off x="5166000" y="2070000"/>
            <a:ext cx="198000" cy="19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66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000" b="1">
                <a:solidFill>
                  <a:srgbClr val="266E46"/>
                </a:solidFill>
                <a:latin typeface="Arial"/>
              </a:rPr>
              <a:t>σ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122800" y="2286000"/>
            <a:ext cx="288000" cy="1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700" b="0">
                <a:solidFill>
                  <a:srgbClr val="282828"/>
                </a:solidFill>
                <a:latin typeface="Arial"/>
              </a:rPr>
              <a:t>0.15</a:t>
            </a:r>
          </a:p>
        </p:txBody>
      </p:sp>
      <p:sp>
        <p:nvSpPr>
          <p:cNvPr id="100" name="Oval 99"/>
          <p:cNvSpPr/>
          <p:nvPr/>
        </p:nvSpPr>
        <p:spPr>
          <a:xfrm>
            <a:off x="5482800" y="2070000"/>
            <a:ext cx="198000" cy="19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66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000" b="1">
                <a:solidFill>
                  <a:srgbClr val="266E46"/>
                </a:solidFill>
                <a:latin typeface="Arial"/>
              </a:rPr>
              <a:t>σ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439600" y="2286000"/>
            <a:ext cx="288000" cy="1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700" b="0">
                <a:solidFill>
                  <a:srgbClr val="282828"/>
                </a:solidFill>
                <a:latin typeface="Arial"/>
              </a:rPr>
              <a:t>0.62</a:t>
            </a:r>
          </a:p>
        </p:txBody>
      </p:sp>
      <p:sp>
        <p:nvSpPr>
          <p:cNvPr id="102" name="Oval 101"/>
          <p:cNvSpPr/>
          <p:nvPr/>
        </p:nvSpPr>
        <p:spPr>
          <a:xfrm>
            <a:off x="5799600" y="2070000"/>
            <a:ext cx="198000" cy="19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66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000" b="1">
                <a:solidFill>
                  <a:srgbClr val="266E46"/>
                </a:solidFill>
                <a:latin typeface="Arial"/>
              </a:rPr>
              <a:t>σ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756400" y="2286000"/>
            <a:ext cx="288000" cy="1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700" b="0">
                <a:solidFill>
                  <a:srgbClr val="282828"/>
                </a:solidFill>
                <a:latin typeface="Arial"/>
              </a:rPr>
              <a:t>0.81</a:t>
            </a:r>
          </a:p>
        </p:txBody>
      </p:sp>
      <p:sp>
        <p:nvSpPr>
          <p:cNvPr id="104" name="Oval 103"/>
          <p:cNvSpPr/>
          <p:nvPr/>
        </p:nvSpPr>
        <p:spPr>
          <a:xfrm>
            <a:off x="6116399" y="2070000"/>
            <a:ext cx="198000" cy="19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66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000" b="1">
                <a:solidFill>
                  <a:srgbClr val="266E46"/>
                </a:solidFill>
                <a:latin typeface="Arial"/>
              </a:rPr>
              <a:t>σ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073199" y="2286000"/>
            <a:ext cx="288000" cy="10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700" b="0">
                <a:solidFill>
                  <a:srgbClr val="282828"/>
                </a:solidFill>
                <a:latin typeface="Arial"/>
              </a:rPr>
              <a:t>0.33</a:t>
            </a:r>
          </a:p>
        </p:txBody>
      </p:sp>
      <p:sp>
        <p:nvSpPr>
          <p:cNvPr id="106" name="Oval 105"/>
          <p:cNvSpPr/>
          <p:nvPr/>
        </p:nvSpPr>
        <p:spPr>
          <a:xfrm>
            <a:off x="5644800" y="2646000"/>
            <a:ext cx="230400" cy="198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66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300" b="1">
                <a:solidFill>
                  <a:srgbClr val="282828"/>
                </a:solidFill>
                <a:latin typeface="Arial"/>
              </a:rPr>
              <a:t>=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058000" y="2988000"/>
            <a:ext cx="1403999" cy="468000"/>
          </a:xfrm>
          <a:prstGeom prst="rect">
            <a:avLst/>
          </a:prstGeom>
          <a:solidFill>
            <a:srgbClr val="D8ECDE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5101199" y="3016800"/>
            <a:ext cx="1317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1">
                <a:solidFill>
                  <a:srgbClr val="266E46"/>
                </a:solidFill>
                <a:latin typeface="Arial"/>
              </a:rPr>
              <a:t>DURG : Fused Drug  D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173200" y="3240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331600" y="3240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489999" y="3240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648399" y="3240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806800" y="321840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1100" b="1">
                <a:solidFill>
                  <a:srgbClr val="282828"/>
                </a:solidFill>
                <a:latin typeface="Arial"/>
              </a:rPr>
              <a:t>...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058000" y="3744000"/>
            <a:ext cx="1403999" cy="46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115" name="Rectangle 114"/>
          <p:cNvSpPr/>
          <p:nvPr/>
        </p:nvSpPr>
        <p:spPr>
          <a:xfrm>
            <a:off x="5101199" y="3772800"/>
            <a:ext cx="1317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1">
                <a:solidFill>
                  <a:srgbClr val="266E46"/>
                </a:solidFill>
                <a:latin typeface="Arial"/>
              </a:rPr>
              <a:t>Ligand Context  d_g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173200" y="3996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331600" y="3996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489999" y="3996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648399" y="3996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806800" y="397440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1100" b="1">
                <a:solidFill>
                  <a:srgbClr val="282828"/>
                </a:solidFill>
                <a:latin typeface="Arial"/>
              </a:rPr>
              <a:t>...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5759999" y="1116000"/>
            <a:ext cx="0" cy="108000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5759999" y="1620000"/>
            <a:ext cx="0" cy="215999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5759999" y="2448000"/>
            <a:ext cx="1" cy="198000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>
            <a:off x="5759999" y="2844000"/>
            <a:ext cx="1" cy="144000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5759999" y="3456000"/>
            <a:ext cx="0" cy="288000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144000" y="4284000"/>
            <a:ext cx="6443999" cy="2484000"/>
          </a:xfrm>
          <a:prstGeom prst="roundRect">
            <a:avLst/>
          </a:prstGeom>
          <a:solidFill>
            <a:srgbClr val="EFF4FC"/>
          </a:solidFill>
          <a:ln w="12700">
            <a:solidFill>
              <a:srgbClr val="CE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127" name="Rectangle 126"/>
          <p:cNvSpPr/>
          <p:nvPr/>
        </p:nvSpPr>
        <p:spPr>
          <a:xfrm>
            <a:off x="306000" y="4341600"/>
            <a:ext cx="288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1100" b="1">
                <a:solidFill>
                  <a:srgbClr val="2854A2"/>
                </a:solidFill>
                <a:latin typeface="Arial"/>
              </a:rPr>
              <a:t>Protein Representation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51999" y="4608000"/>
            <a:ext cx="1080000" cy="2015999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ctr"/>
            <a:r>
              <a:rPr sz="800" b="0">
                <a:solidFill>
                  <a:srgbClr val="282828"/>
                </a:solidFill>
                <a:latin typeface="Arial"/>
              </a:rPr>
              <a:t>Protein Sequence</a:t>
            </a:r>
          </a:p>
          <a:p>
            <a:pPr algn="ctr"/>
            <a:r>
              <a:rPr sz="800" b="0">
                <a:solidFill>
                  <a:srgbClr val="282828"/>
                </a:solidFill>
                <a:latin typeface="Arial"/>
              </a:rPr>
              <a:t>/ Structure</a:t>
            </a:r>
          </a:p>
          <a:p>
            <a:pPr algn="ctr"/>
            <a:r>
              <a:rPr sz="800" b="0">
                <a:solidFill>
                  <a:srgbClr val="282828"/>
                </a:solidFill>
                <a:latin typeface="Arial"/>
              </a:rPr>
              <a:t/>
            </a:r>
          </a:p>
          <a:p>
            <a:pPr algn="ctr"/>
            <a:r>
              <a:rPr sz="800" b="0">
                <a:solidFill>
                  <a:srgbClr val="282828"/>
                </a:solidFill>
                <a:latin typeface="Arial"/>
              </a:rPr>
              <a:t>[ insert BioRender</a:t>
            </a:r>
          </a:p>
          <a:p>
            <a:pPr algn="ctr"/>
            <a:r>
              <a:rPr sz="800" b="0">
                <a:solidFill>
                  <a:srgbClr val="282828"/>
                </a:solidFill>
                <a:latin typeface="Arial"/>
              </a:rPr>
              <a:t>ribbon here ]</a:t>
            </a:r>
          </a:p>
          <a:p>
            <a:pPr algn="ctr"/>
            <a:r>
              <a:rPr sz="800" b="0">
                <a:solidFill>
                  <a:srgbClr val="282828"/>
                </a:solidFill>
                <a:latin typeface="Arial"/>
              </a:rPr>
              <a:t/>
            </a:r>
          </a:p>
          <a:p>
            <a:pPr algn="ctr"/>
            <a:r>
              <a:rPr sz="800" b="0">
                <a:solidFill>
                  <a:srgbClr val="282828"/>
                </a:solidFill>
                <a:latin typeface="Arial"/>
              </a:rPr>
              <a:t>MAVSEQLKVEEL</a:t>
            </a:r>
          </a:p>
          <a:p>
            <a:pPr algn="ctr"/>
            <a:r>
              <a:rPr sz="800" b="0">
                <a:solidFill>
                  <a:srgbClr val="282828"/>
                </a:solidFill>
                <a:latin typeface="Arial"/>
              </a:rPr>
              <a:t>LSKNYHLENEVAR</a:t>
            </a:r>
          </a:p>
          <a:p>
            <a:pPr algn="ctr"/>
            <a:r>
              <a:rPr sz="800" b="0">
                <a:solidFill>
                  <a:srgbClr val="282828"/>
                </a:solidFill>
                <a:latin typeface="Arial"/>
              </a:rPr>
              <a:t>LKKLV ...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440000" y="5364000"/>
            <a:ext cx="756000" cy="503999"/>
          </a:xfrm>
          <a:prstGeom prst="round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000" b="1">
                <a:solidFill>
                  <a:srgbClr val="2854A2"/>
                </a:solidFill>
                <a:latin typeface="Arial"/>
              </a:rPr>
              <a:t>ProtBERT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268000" y="4788000"/>
            <a:ext cx="1007999" cy="503999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131" name="Rectangle 130"/>
          <p:cNvSpPr/>
          <p:nvPr/>
        </p:nvSpPr>
        <p:spPr>
          <a:xfrm>
            <a:off x="2311200" y="4816800"/>
            <a:ext cx="921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1">
                <a:solidFill>
                  <a:srgbClr val="2854A2"/>
                </a:solidFill>
                <a:latin typeface="Arial"/>
              </a:rPr>
              <a:t>Protein Seed Tokens  P0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383200" y="507600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541600" y="507600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700000" y="507600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858400" y="505440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1100" b="1">
                <a:solidFill>
                  <a:srgbClr val="282828"/>
                </a:solidFill>
                <a:latin typeface="Arial"/>
              </a:rPr>
              <a:t>...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2268000" y="5868000"/>
            <a:ext cx="1007999" cy="503999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137" name="Rectangle 136"/>
          <p:cNvSpPr/>
          <p:nvPr/>
        </p:nvSpPr>
        <p:spPr>
          <a:xfrm>
            <a:off x="2311200" y="5896800"/>
            <a:ext cx="921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1">
                <a:solidFill>
                  <a:srgbClr val="2854A2"/>
                </a:solidFill>
                <a:latin typeface="Arial"/>
              </a:rPr>
              <a:t>Protein Seed Context  p_g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383200" y="615599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541600" y="615599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700000" y="615599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858400" y="613440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1100" b="1">
                <a:solidFill>
                  <a:srgbClr val="282828"/>
                </a:solidFill>
                <a:latin typeface="Arial"/>
              </a:rPr>
              <a:t>...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384000" y="4788000"/>
            <a:ext cx="1007999" cy="1512000"/>
          </a:xfrm>
          <a:prstGeom prst="round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ctr"/>
            <a:r>
              <a:rPr sz="950" b="1">
                <a:solidFill>
                  <a:srgbClr val="2854A2"/>
                </a:solidFill>
                <a:latin typeface="Arial"/>
              </a:rPr>
              <a:t>Ligand-conditioned</a:t>
            </a:r>
          </a:p>
          <a:p>
            <a:pPr algn="ctr"/>
            <a:r>
              <a:rPr sz="950" b="1">
                <a:solidFill>
                  <a:srgbClr val="2854A2"/>
                </a:solidFill>
                <a:latin typeface="Arial"/>
              </a:rPr>
              <a:t>FiLM</a:t>
            </a:r>
          </a:p>
          <a:p>
            <a:pPr algn="ctr"/>
            <a:r>
              <a:rPr sz="950" b="1">
                <a:solidFill>
                  <a:srgbClr val="2854A2"/>
                </a:solidFill>
                <a:latin typeface="Arial"/>
              </a:rPr>
              <a:t/>
            </a:r>
          </a:p>
          <a:p>
            <a:pPr algn="ctr"/>
            <a:r>
              <a:rPr sz="950" b="1">
                <a:solidFill>
                  <a:srgbClr val="2854A2"/>
                </a:solidFill>
                <a:latin typeface="Arial"/>
              </a:rPr>
              <a:t/>
            </a:r>
          </a:p>
          <a:p>
            <a:pPr algn="ctr"/>
            <a:r>
              <a:rPr sz="950" b="1">
                <a:solidFill>
                  <a:srgbClr val="2854A2"/>
                </a:solidFill>
                <a:latin typeface="Arial"/>
              </a:rPr>
              <a:t>γ  (scale)</a:t>
            </a:r>
          </a:p>
          <a:p>
            <a:pPr algn="ctr"/>
            <a:r>
              <a:rPr sz="950" b="1">
                <a:solidFill>
                  <a:srgbClr val="2854A2"/>
                </a:solidFill>
                <a:latin typeface="Arial"/>
              </a:rPr>
              <a:t/>
            </a:r>
          </a:p>
          <a:p>
            <a:pPr algn="ctr"/>
            <a:r>
              <a:rPr sz="950" b="1">
                <a:solidFill>
                  <a:srgbClr val="2854A2"/>
                </a:solidFill>
                <a:latin typeface="Arial"/>
              </a:rPr>
              <a:t>β  (shift)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4500000" y="4788000"/>
            <a:ext cx="1007999" cy="1512000"/>
          </a:xfrm>
          <a:prstGeom prst="round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ctr"/>
            <a:r>
              <a:rPr sz="950" b="1">
                <a:solidFill>
                  <a:srgbClr val="2854A2"/>
                </a:solidFill>
                <a:latin typeface="Arial"/>
              </a:rPr>
              <a:t>ProteinACmix</a:t>
            </a:r>
          </a:p>
          <a:p>
            <a:pPr algn="ctr"/>
            <a:r>
              <a:rPr sz="950" b="1">
                <a:solidFill>
                  <a:srgbClr val="2854A2"/>
                </a:solidFill>
                <a:latin typeface="Arial"/>
              </a:rPr>
              <a:t>× 3</a:t>
            </a:r>
          </a:p>
          <a:p>
            <a:pPr algn="ctr"/>
            <a:r>
              <a:rPr sz="950" b="1">
                <a:solidFill>
                  <a:srgbClr val="2854A2"/>
                </a:solidFill>
                <a:latin typeface="Arial"/>
              </a:rPr>
              <a:t/>
            </a:r>
          </a:p>
          <a:p>
            <a:pPr algn="ctr"/>
            <a:r>
              <a:rPr sz="950" b="1">
                <a:solidFill>
                  <a:srgbClr val="2854A2"/>
                </a:solidFill>
                <a:latin typeface="Arial"/>
              </a:rPr>
              <a:t/>
            </a:r>
          </a:p>
          <a:p>
            <a:pPr algn="ctr"/>
            <a:r>
              <a:rPr sz="950" b="1">
                <a:solidFill>
                  <a:srgbClr val="2854A2"/>
                </a:solidFill>
                <a:latin typeface="Arial"/>
              </a:rPr>
              <a:t>( dynamic conv</a:t>
            </a:r>
          </a:p>
          <a:p>
            <a:pPr algn="ctr"/>
            <a:r>
              <a:rPr sz="950" b="1">
                <a:solidFill>
                  <a:srgbClr val="2854A2"/>
                </a:solidFill>
                <a:latin typeface="Arial"/>
              </a:rPr>
              <a:t>+ self-attention )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16000" y="5292000"/>
            <a:ext cx="936000" cy="503999"/>
          </a:xfrm>
          <a:prstGeom prst="rect">
            <a:avLst/>
          </a:prstGeom>
          <a:solidFill>
            <a:srgbClr val="D6E3F6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145" name="Rectangle 144"/>
          <p:cNvSpPr/>
          <p:nvPr/>
        </p:nvSpPr>
        <p:spPr>
          <a:xfrm>
            <a:off x="5659200" y="5320800"/>
            <a:ext cx="849600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1">
                <a:solidFill>
                  <a:srgbClr val="2854A2"/>
                </a:solidFill>
                <a:latin typeface="Arial"/>
              </a:rPr>
              <a:t>Protein Tokens  P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731200" y="557999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889600" y="557999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048000" y="557999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206400" y="5558399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1100" b="1">
                <a:solidFill>
                  <a:srgbClr val="282828"/>
                </a:solidFill>
                <a:latin typeface="Arial"/>
              </a:rPr>
              <a:t>...</a:t>
            </a:r>
          </a:p>
        </p:txBody>
      </p:sp>
      <p:cxnSp>
        <p:nvCxnSpPr>
          <p:cNvPr id="150" name="Connector 149"/>
          <p:cNvCxnSpPr/>
          <p:nvPr/>
        </p:nvCxnSpPr>
        <p:spPr>
          <a:xfrm>
            <a:off x="1331999" y="5615999"/>
            <a:ext cx="108001" cy="0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Freeform 150"/>
          <p:cNvSpPr/>
          <p:nvPr/>
        </p:nvSpPr>
        <p:spPr>
          <a:xfrm>
            <a:off x="2196000" y="5040000"/>
            <a:ext cx="72000" cy="576000"/>
          </a:xfrm>
          <a:custGeom>
            <a:avLst/>
            <a:gdLst/>
            <a:ahLst/>
            <a:cxnLst/>
            <a:rect l="l" t="t" r="r" b="b"/>
            <a:pathLst>
              <a:path w="72000" h="576000">
                <a:moveTo>
                  <a:pt x="0" y="576000"/>
                </a:moveTo>
                <a:lnTo>
                  <a:pt x="18000" y="576000"/>
                </a:lnTo>
                <a:lnTo>
                  <a:pt x="22219" y="575718"/>
                </a:lnTo>
                <a:lnTo>
                  <a:pt x="25875" y="574874"/>
                </a:lnTo>
                <a:lnTo>
                  <a:pt x="28969" y="573468"/>
                </a:lnTo>
                <a:lnTo>
                  <a:pt x="31500" y="571500"/>
                </a:lnTo>
                <a:lnTo>
                  <a:pt x="33469" y="568968"/>
                </a:lnTo>
                <a:lnTo>
                  <a:pt x="34875" y="565874"/>
                </a:lnTo>
                <a:lnTo>
                  <a:pt x="35719" y="562218"/>
                </a:lnTo>
                <a:lnTo>
                  <a:pt x="36000" y="558000"/>
                </a:lnTo>
                <a:lnTo>
                  <a:pt x="36000" y="18000"/>
                </a:lnTo>
                <a:lnTo>
                  <a:pt x="36281" y="13781"/>
                </a:lnTo>
                <a:lnTo>
                  <a:pt x="37125" y="10125"/>
                </a:lnTo>
                <a:lnTo>
                  <a:pt x="38531" y="7031"/>
                </a:lnTo>
                <a:lnTo>
                  <a:pt x="40500" y="4500"/>
                </a:lnTo>
                <a:lnTo>
                  <a:pt x="43031" y="2531"/>
                </a:lnTo>
                <a:lnTo>
                  <a:pt x="46125" y="1124"/>
                </a:lnTo>
                <a:lnTo>
                  <a:pt x="49781" y="281"/>
                </a:lnTo>
                <a:lnTo>
                  <a:pt x="54000" y="0"/>
                </a:lnTo>
                <a:lnTo>
                  <a:pt x="72000" y="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2" name="Connector 151"/>
          <p:cNvCxnSpPr/>
          <p:nvPr/>
        </p:nvCxnSpPr>
        <p:spPr>
          <a:xfrm>
            <a:off x="2771999" y="5291999"/>
            <a:ext cx="0" cy="576001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Freeform 152"/>
          <p:cNvSpPr/>
          <p:nvPr/>
        </p:nvSpPr>
        <p:spPr>
          <a:xfrm>
            <a:off x="3275999" y="5040000"/>
            <a:ext cx="108001" cy="504000"/>
          </a:xfrm>
          <a:custGeom>
            <a:avLst/>
            <a:gdLst/>
            <a:ahLst/>
            <a:cxnLst/>
            <a:rect l="l" t="t" r="r" b="b"/>
            <a:pathLst>
              <a:path w="108001" h="504000">
                <a:moveTo>
                  <a:pt x="0" y="0"/>
                </a:moveTo>
                <a:lnTo>
                  <a:pt x="27000" y="0"/>
                </a:lnTo>
                <a:lnTo>
                  <a:pt x="33328" y="421"/>
                </a:lnTo>
                <a:lnTo>
                  <a:pt x="38813" y="1687"/>
                </a:lnTo>
                <a:lnTo>
                  <a:pt x="43454" y="3796"/>
                </a:lnTo>
                <a:lnTo>
                  <a:pt x="47250" y="6750"/>
                </a:lnTo>
                <a:lnTo>
                  <a:pt x="50204" y="10546"/>
                </a:lnTo>
                <a:lnTo>
                  <a:pt x="52313" y="15187"/>
                </a:lnTo>
                <a:lnTo>
                  <a:pt x="53579" y="20672"/>
                </a:lnTo>
                <a:lnTo>
                  <a:pt x="54000" y="27000"/>
                </a:lnTo>
                <a:lnTo>
                  <a:pt x="54000" y="477000"/>
                </a:lnTo>
                <a:lnTo>
                  <a:pt x="54422" y="483328"/>
                </a:lnTo>
                <a:lnTo>
                  <a:pt x="55688" y="488812"/>
                </a:lnTo>
                <a:lnTo>
                  <a:pt x="57797" y="493453"/>
                </a:lnTo>
                <a:lnTo>
                  <a:pt x="60751" y="497250"/>
                </a:lnTo>
                <a:lnTo>
                  <a:pt x="64547" y="500203"/>
                </a:lnTo>
                <a:lnTo>
                  <a:pt x="69188" y="502312"/>
                </a:lnTo>
                <a:lnTo>
                  <a:pt x="74673" y="503578"/>
                </a:lnTo>
                <a:lnTo>
                  <a:pt x="81001" y="504000"/>
                </a:lnTo>
                <a:lnTo>
                  <a:pt x="108001" y="50400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4" name="Connector 153"/>
          <p:cNvCxnSpPr/>
          <p:nvPr/>
        </p:nvCxnSpPr>
        <p:spPr>
          <a:xfrm>
            <a:off x="4391999" y="5544000"/>
            <a:ext cx="108001" cy="0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5507999" y="5543999"/>
            <a:ext cx="108001" cy="1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ounded Rectangle 155"/>
          <p:cNvSpPr/>
          <p:nvPr/>
        </p:nvSpPr>
        <p:spPr>
          <a:xfrm>
            <a:off x="6696000" y="144000"/>
            <a:ext cx="5364000" cy="4896000"/>
          </a:xfrm>
          <a:prstGeom prst="roundRect">
            <a:avLst/>
          </a:prstGeom>
          <a:solidFill>
            <a:srgbClr val="F7F7F9"/>
          </a:solidFill>
          <a:ln w="12700">
            <a:solidFill>
              <a:srgbClr val="CE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157" name="Rectangle 156"/>
          <p:cNvSpPr/>
          <p:nvPr/>
        </p:nvSpPr>
        <p:spPr>
          <a:xfrm>
            <a:off x="6822000" y="201600"/>
            <a:ext cx="288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1100" b="1">
                <a:solidFill>
                  <a:srgbClr val="6242AA"/>
                </a:solidFill>
                <a:latin typeface="Arial"/>
              </a:rPr>
              <a:t>Protein-Mamba BiIntention Fusion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10548000" y="201600"/>
            <a:ext cx="1332000" cy="180000"/>
          </a:xfrm>
          <a:prstGeom prst="roundRect">
            <a:avLst/>
          </a:prstGeom>
          <a:solidFill>
            <a:srgbClr val="F6D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800" b="1">
                <a:solidFill>
                  <a:srgbClr val="5A3C00"/>
                </a:solidFill>
                <a:latin typeface="Arial"/>
              </a:rPr>
              <a:t>★ Key Contribution ②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876000" y="737999"/>
            <a:ext cx="1080000" cy="46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160" name="Rectangle 159"/>
          <p:cNvSpPr/>
          <p:nvPr/>
        </p:nvSpPr>
        <p:spPr>
          <a:xfrm>
            <a:off x="6919200" y="766800"/>
            <a:ext cx="993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1">
                <a:solidFill>
                  <a:srgbClr val="2854A2"/>
                </a:solidFill>
                <a:latin typeface="Arial"/>
              </a:rPr>
              <a:t>Protein Tokens  P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991200" y="98999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7149600" y="98999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7308000" y="98999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7466400" y="968399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1100" b="1">
                <a:solidFill>
                  <a:srgbClr val="282828"/>
                </a:solidFill>
                <a:latin typeface="Arial"/>
              </a:rPr>
              <a:t>...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8208000" y="503999"/>
            <a:ext cx="1548000" cy="936000"/>
          </a:xfrm>
          <a:prstGeom prst="roundRect">
            <a:avLst/>
          </a:prstGeom>
          <a:solidFill>
            <a:srgbClr val="E3D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ctr"/>
            <a:r>
              <a:rPr sz="1100" b="1">
                <a:solidFill>
                  <a:srgbClr val="6242AA"/>
                </a:solidFill>
                <a:latin typeface="Arial"/>
              </a:rPr>
              <a:t>Bidirectional</a:t>
            </a:r>
          </a:p>
          <a:p>
            <a:pPr algn="ctr"/>
            <a:r>
              <a:rPr sz="1100" b="1">
                <a:solidFill>
                  <a:srgbClr val="6242AA"/>
                </a:solidFill>
                <a:latin typeface="Arial"/>
              </a:rPr>
              <a:t>Mamba (SSM)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8298000" y="1062000"/>
            <a:ext cx="1368000" cy="129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750" b="0">
                <a:solidFill>
                  <a:srgbClr val="6242AA"/>
                </a:solidFill>
                <a:latin typeface="Arial"/>
              </a:rPr>
              <a:t>→  forward scan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298000" y="1209600"/>
            <a:ext cx="1368000" cy="129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750" b="0">
                <a:solidFill>
                  <a:srgbClr val="6242AA"/>
                </a:solidFill>
                <a:latin typeface="Arial"/>
              </a:rPr>
              <a:t>←  backward scan</a:t>
            </a:r>
          </a:p>
        </p:txBody>
      </p:sp>
      <p:sp>
        <p:nvSpPr>
          <p:cNvPr id="168" name="Oval 167"/>
          <p:cNvSpPr/>
          <p:nvPr/>
        </p:nvSpPr>
        <p:spPr>
          <a:xfrm>
            <a:off x="10008000" y="791999"/>
            <a:ext cx="360000" cy="360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24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1">
                <a:solidFill>
                  <a:srgbClr val="6242AA"/>
                </a:solidFill>
                <a:latin typeface="Arial"/>
              </a:rPr>
              <a:t>g ⊙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0548000" y="737999"/>
            <a:ext cx="1152000" cy="468000"/>
          </a:xfrm>
          <a:prstGeom prst="rect">
            <a:avLst/>
          </a:prstGeom>
          <a:solidFill>
            <a:srgbClr val="E3DCF3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170" name="Rectangle 169"/>
          <p:cNvSpPr/>
          <p:nvPr/>
        </p:nvSpPr>
        <p:spPr>
          <a:xfrm>
            <a:off x="10591200" y="766800"/>
            <a:ext cx="1065600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1">
                <a:solidFill>
                  <a:srgbClr val="6242AA"/>
                </a:solidFill>
                <a:latin typeface="Arial"/>
              </a:rPr>
              <a:t>Refined Protein  P'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0663200" y="98999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10821600" y="98999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10980000" y="989999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1138400" y="968399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1100" b="1">
                <a:solidFill>
                  <a:srgbClr val="282828"/>
                </a:solidFill>
                <a:latin typeface="Arial"/>
              </a:rPr>
              <a:t>...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8208000" y="1530000"/>
            <a:ext cx="3491999" cy="151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850" b="0">
                <a:solidFill>
                  <a:srgbClr val="645096"/>
                </a:solidFill>
                <a:latin typeface="Arial"/>
              </a:rPr>
              <a:t>gated residual:   P  ←  P + σ(g) · ( Mamba(P) − P )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7956000" y="971999"/>
            <a:ext cx="252000" cy="0"/>
          </a:xfrm>
          <a:prstGeom prst="line">
            <a:avLst/>
          </a:prstGeom>
          <a:ln w="16510" cap="rnd">
            <a:solidFill>
              <a:srgbClr val="6242AA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9756000" y="971999"/>
            <a:ext cx="252000" cy="0"/>
          </a:xfrm>
          <a:prstGeom prst="line">
            <a:avLst/>
          </a:prstGeom>
          <a:ln w="16510" cap="rnd">
            <a:solidFill>
              <a:srgbClr val="6242AA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10368000" y="971999"/>
            <a:ext cx="180000" cy="0"/>
          </a:xfrm>
          <a:prstGeom prst="line">
            <a:avLst/>
          </a:prstGeom>
          <a:ln w="16510" cap="rnd">
            <a:solidFill>
              <a:srgbClr val="6242AA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ounded Rectangle 178"/>
          <p:cNvSpPr/>
          <p:nvPr/>
        </p:nvSpPr>
        <p:spPr>
          <a:xfrm>
            <a:off x="8208000" y="1836000"/>
            <a:ext cx="3456000" cy="2988000"/>
          </a:xfrm>
          <a:prstGeom prst="roundRect">
            <a:avLst/>
          </a:prstGeom>
          <a:solidFill>
            <a:srgbClr val="EFF4FC"/>
          </a:solidFill>
          <a:ln w="12700">
            <a:solidFill>
              <a:srgbClr val="CE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180" name="Rectangle 179"/>
          <p:cNvSpPr/>
          <p:nvPr/>
        </p:nvSpPr>
        <p:spPr>
          <a:xfrm>
            <a:off x="8280000" y="1886400"/>
            <a:ext cx="33119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000" b="1">
                <a:solidFill>
                  <a:srgbClr val="2854A2"/>
                </a:solidFill>
                <a:latin typeface="Arial"/>
              </a:rPr>
              <a:t>BiIntention · Bidirectional Cross-Attention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8352000" y="2160000"/>
            <a:ext cx="1548000" cy="540000"/>
          </a:xfrm>
          <a:prstGeom prst="round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1">
                <a:solidFill>
                  <a:srgbClr val="2854A2"/>
                </a:solidFill>
                <a:latin typeface="Arial"/>
              </a:rPr>
              <a:t>Drug → Protein</a:t>
            </a:r>
          </a:p>
          <a:p>
            <a:pPr algn="ctr"/>
            <a:r>
              <a:rPr sz="900" b="1">
                <a:solidFill>
                  <a:srgbClr val="2854A2"/>
                </a:solidFill>
                <a:latin typeface="Arial"/>
              </a:rPr>
              <a:t>Cross-Attn  (Q = D)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9972000" y="2160000"/>
            <a:ext cx="1548000" cy="540000"/>
          </a:xfrm>
          <a:prstGeom prst="round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1">
                <a:solidFill>
                  <a:srgbClr val="2854A2"/>
                </a:solidFill>
                <a:latin typeface="Arial"/>
              </a:rPr>
              <a:t>Protein → Drug</a:t>
            </a:r>
          </a:p>
          <a:p>
            <a:pPr algn="ctr"/>
            <a:r>
              <a:rPr sz="900" b="1">
                <a:solidFill>
                  <a:srgbClr val="2854A2"/>
                </a:solidFill>
                <a:latin typeface="Arial"/>
              </a:rPr>
              <a:t>Cross-Attn  (Q = P)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876000" y="2196000"/>
            <a:ext cx="1080000" cy="468000"/>
          </a:xfrm>
          <a:prstGeom prst="rect">
            <a:avLst/>
          </a:prstGeom>
          <a:solidFill>
            <a:srgbClr val="D8ECDE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184" name="Rectangle 183"/>
          <p:cNvSpPr/>
          <p:nvPr/>
        </p:nvSpPr>
        <p:spPr>
          <a:xfrm>
            <a:off x="6919200" y="2224800"/>
            <a:ext cx="993599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1">
                <a:solidFill>
                  <a:srgbClr val="266E46"/>
                </a:solidFill>
                <a:latin typeface="Arial"/>
              </a:rPr>
              <a:t>Fused Drug  D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991200" y="2448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7149600" y="2448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7308000" y="2448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7466400" y="2448000"/>
            <a:ext cx="129600" cy="129600"/>
          </a:xfrm>
          <a:prstGeom prst="rect">
            <a:avLst/>
          </a:prstGeom>
          <a:solidFill>
            <a:srgbClr val="5FB487"/>
          </a:solidFill>
          <a:ln w="6350">
            <a:solidFill>
              <a:srgbClr val="5FB4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7624800" y="242640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1100" b="1">
                <a:solidFill>
                  <a:srgbClr val="282828"/>
                </a:solidFill>
                <a:latin typeface="Arial"/>
              </a:rPr>
              <a:t>...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8352000" y="2934000"/>
            <a:ext cx="1548000" cy="936000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191" name="Rectangle 190"/>
          <p:cNvSpPr/>
          <p:nvPr/>
        </p:nvSpPr>
        <p:spPr>
          <a:xfrm>
            <a:off x="8406000" y="2952000"/>
            <a:ext cx="1440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780" b="1">
                <a:solidFill>
                  <a:srgbClr val="2854A2"/>
                </a:solidFill>
                <a:latin typeface="Arial"/>
              </a:rPr>
              <a:t>Cross-Attention Map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8460000" y="3139200"/>
            <a:ext cx="133200" cy="114000"/>
          </a:xfrm>
          <a:prstGeom prst="rect">
            <a:avLst/>
          </a:prstGeom>
          <a:solidFill>
            <a:srgbClr val="CFDBF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593200" y="3139200"/>
            <a:ext cx="133200" cy="114000"/>
          </a:xfrm>
          <a:prstGeom prst="rect">
            <a:avLst/>
          </a:prstGeom>
          <a:solidFill>
            <a:srgbClr val="E8EEF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8726400" y="3139200"/>
            <a:ext cx="133200" cy="114000"/>
          </a:xfrm>
          <a:prstGeom prst="rect">
            <a:avLst/>
          </a:prstGeom>
          <a:solidFill>
            <a:srgbClr val="9FB7E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8859600" y="3139200"/>
            <a:ext cx="133200" cy="114000"/>
          </a:xfrm>
          <a:prstGeom prst="rect">
            <a:avLst/>
          </a:prstGeom>
          <a:solidFill>
            <a:srgbClr val="F4F7F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992800" y="3139200"/>
            <a:ext cx="133200" cy="114000"/>
          </a:xfrm>
          <a:prstGeom prst="rect">
            <a:avLst/>
          </a:prstGeom>
          <a:solidFill>
            <a:srgbClr val="B0C4E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9126000" y="3139200"/>
            <a:ext cx="133200" cy="114000"/>
          </a:xfrm>
          <a:prstGeom prst="rect">
            <a:avLst/>
          </a:prstGeom>
          <a:solidFill>
            <a:srgbClr val="C9D6F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9259200" y="3139200"/>
            <a:ext cx="133200" cy="114000"/>
          </a:xfrm>
          <a:prstGeom prst="rect">
            <a:avLst/>
          </a:prstGeom>
          <a:solidFill>
            <a:srgbClr val="F6F8F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9392400" y="3139200"/>
            <a:ext cx="133200" cy="114000"/>
          </a:xfrm>
          <a:prstGeom prst="rect">
            <a:avLst/>
          </a:prstGeom>
          <a:solidFill>
            <a:srgbClr val="B4C7E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9525600" y="3139200"/>
            <a:ext cx="133200" cy="114000"/>
          </a:xfrm>
          <a:prstGeom prst="rect">
            <a:avLst/>
          </a:prstGeom>
          <a:solidFill>
            <a:srgbClr val="F9FA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9658800" y="3139200"/>
            <a:ext cx="133200" cy="114000"/>
          </a:xfrm>
          <a:prstGeom prst="rect">
            <a:avLst/>
          </a:prstGeom>
          <a:solidFill>
            <a:srgbClr val="BFCFE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460000" y="3253200"/>
            <a:ext cx="133200" cy="114000"/>
          </a:xfrm>
          <a:prstGeom prst="rect">
            <a:avLst/>
          </a:prstGeom>
          <a:solidFill>
            <a:srgbClr val="F4F7F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593200" y="3253200"/>
            <a:ext cx="133200" cy="114000"/>
          </a:xfrm>
          <a:prstGeom prst="rect">
            <a:avLst/>
          </a:prstGeom>
          <a:solidFill>
            <a:srgbClr val="F1F5F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8726400" y="3253200"/>
            <a:ext cx="133200" cy="114000"/>
          </a:xfrm>
          <a:prstGeom prst="rect">
            <a:avLst/>
          </a:prstGeom>
          <a:solidFill>
            <a:srgbClr val="C0D0E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8859600" y="3253200"/>
            <a:ext cx="133200" cy="114000"/>
          </a:xfrm>
          <a:prstGeom prst="rect">
            <a:avLst/>
          </a:prstGeom>
          <a:solidFill>
            <a:srgbClr val="85A4D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8992800" y="3253200"/>
            <a:ext cx="133200" cy="114000"/>
          </a:xfrm>
          <a:prstGeom prst="rect">
            <a:avLst/>
          </a:prstGeom>
          <a:solidFill>
            <a:srgbClr val="ECF1F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9126000" y="3253200"/>
            <a:ext cx="133200" cy="114000"/>
          </a:xfrm>
          <a:prstGeom prst="rect">
            <a:avLst/>
          </a:prstGeom>
          <a:solidFill>
            <a:srgbClr val="DEE6F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9259200" y="3253200"/>
            <a:ext cx="133200" cy="114000"/>
          </a:xfrm>
          <a:prstGeom prst="rect">
            <a:avLst/>
          </a:prstGeom>
          <a:solidFill>
            <a:srgbClr val="A2B9E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9392400" y="3253200"/>
            <a:ext cx="133200" cy="114000"/>
          </a:xfrm>
          <a:prstGeom prst="rect">
            <a:avLst/>
          </a:prstGeom>
          <a:solidFill>
            <a:srgbClr val="7396D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9525600" y="3253200"/>
            <a:ext cx="133200" cy="114000"/>
          </a:xfrm>
          <a:prstGeom prst="rect">
            <a:avLst/>
          </a:prstGeom>
          <a:solidFill>
            <a:srgbClr val="AABFE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9658800" y="3253200"/>
            <a:ext cx="133200" cy="114000"/>
          </a:xfrm>
          <a:prstGeom prst="rect">
            <a:avLst/>
          </a:prstGeom>
          <a:solidFill>
            <a:srgbClr val="C4D3E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460000" y="3367200"/>
            <a:ext cx="133200" cy="114000"/>
          </a:xfrm>
          <a:prstGeom prst="rect">
            <a:avLst/>
          </a:prstGeom>
          <a:solidFill>
            <a:srgbClr val="6F93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593200" y="3367200"/>
            <a:ext cx="133200" cy="114000"/>
          </a:xfrm>
          <a:prstGeom prst="rect">
            <a:avLst/>
          </a:prstGeom>
          <a:solidFill>
            <a:srgbClr val="F8F9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726400" y="3367200"/>
            <a:ext cx="133200" cy="114000"/>
          </a:xfrm>
          <a:prstGeom prst="rect">
            <a:avLst/>
          </a:prstGeom>
          <a:solidFill>
            <a:srgbClr val="80A0D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859600" y="3367200"/>
            <a:ext cx="133200" cy="114000"/>
          </a:xfrm>
          <a:prstGeom prst="rect">
            <a:avLst/>
          </a:prstGeom>
          <a:solidFill>
            <a:srgbClr val="D4DFF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8992800" y="3367200"/>
            <a:ext cx="133200" cy="114000"/>
          </a:xfrm>
          <a:prstGeom prst="rect">
            <a:avLst/>
          </a:prstGeom>
          <a:solidFill>
            <a:srgbClr val="E9EFF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9126000" y="3367200"/>
            <a:ext cx="133200" cy="114000"/>
          </a:xfrm>
          <a:prstGeom prst="rect">
            <a:avLst/>
          </a:prstGeom>
          <a:solidFill>
            <a:srgbClr val="EDF2F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9259200" y="3367200"/>
            <a:ext cx="133200" cy="114000"/>
          </a:xfrm>
          <a:prstGeom prst="rect">
            <a:avLst/>
          </a:prstGeom>
          <a:solidFill>
            <a:srgbClr val="D1DDF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9392400" y="3367200"/>
            <a:ext cx="133200" cy="114000"/>
          </a:xfrm>
          <a:prstGeom prst="rect">
            <a:avLst/>
          </a:prstGeom>
          <a:solidFill>
            <a:srgbClr val="87A5DF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9525600" y="3367200"/>
            <a:ext cx="133200" cy="114000"/>
          </a:xfrm>
          <a:prstGeom prst="rect">
            <a:avLst/>
          </a:prstGeom>
          <a:solidFill>
            <a:srgbClr val="E4EBF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9658800" y="3367200"/>
            <a:ext cx="133200" cy="114000"/>
          </a:xfrm>
          <a:prstGeom prst="rect">
            <a:avLst/>
          </a:prstGeom>
          <a:solidFill>
            <a:srgbClr val="A9BFE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460000" y="3481200"/>
            <a:ext cx="133200" cy="114000"/>
          </a:xfrm>
          <a:prstGeom prst="rect">
            <a:avLst/>
          </a:prstGeom>
          <a:solidFill>
            <a:srgbClr val="A1B8E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593200" y="3481200"/>
            <a:ext cx="133200" cy="114000"/>
          </a:xfrm>
          <a:prstGeom prst="rect">
            <a:avLst/>
          </a:prstGeom>
          <a:solidFill>
            <a:srgbClr val="C8D6F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8726400" y="3481200"/>
            <a:ext cx="133200" cy="114000"/>
          </a:xfrm>
          <a:prstGeom prst="rect">
            <a:avLst/>
          </a:prstGeom>
          <a:solidFill>
            <a:srgbClr val="AEC2E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8859600" y="3481200"/>
            <a:ext cx="133200" cy="114000"/>
          </a:xfrm>
          <a:prstGeom prst="rect">
            <a:avLst/>
          </a:prstGeom>
          <a:solidFill>
            <a:srgbClr val="F5F8F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8992800" y="3481200"/>
            <a:ext cx="133200" cy="114000"/>
          </a:xfrm>
          <a:prstGeom prst="rect">
            <a:avLst/>
          </a:prstGeom>
          <a:solidFill>
            <a:srgbClr val="F6F8F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9126000" y="3481200"/>
            <a:ext cx="133200" cy="114000"/>
          </a:xfrm>
          <a:prstGeom prst="rect">
            <a:avLst/>
          </a:prstGeom>
          <a:solidFill>
            <a:srgbClr val="E0E8F6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9259200" y="3481200"/>
            <a:ext cx="133200" cy="114000"/>
          </a:xfrm>
          <a:prstGeom prst="rect">
            <a:avLst/>
          </a:prstGeom>
          <a:solidFill>
            <a:srgbClr val="9AB4E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9392400" y="3481200"/>
            <a:ext cx="133200" cy="114000"/>
          </a:xfrm>
          <a:prstGeom prst="rect">
            <a:avLst/>
          </a:prstGeom>
          <a:solidFill>
            <a:srgbClr val="C0CFE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9525600" y="3481200"/>
            <a:ext cx="133200" cy="114000"/>
          </a:xfrm>
          <a:prstGeom prst="rect">
            <a:avLst/>
          </a:prstGeom>
          <a:solidFill>
            <a:srgbClr val="D0DCF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9658800" y="3481200"/>
            <a:ext cx="133200" cy="114000"/>
          </a:xfrm>
          <a:prstGeom prst="rect">
            <a:avLst/>
          </a:prstGeom>
          <a:solidFill>
            <a:srgbClr val="A8BEE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8460000" y="3595200"/>
            <a:ext cx="133200" cy="114000"/>
          </a:xfrm>
          <a:prstGeom prst="rect">
            <a:avLst/>
          </a:prstGeom>
          <a:solidFill>
            <a:srgbClr val="BCCDE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8593200" y="3595200"/>
            <a:ext cx="133200" cy="114000"/>
          </a:xfrm>
          <a:prstGeom prst="rect">
            <a:avLst/>
          </a:prstGeom>
          <a:solidFill>
            <a:srgbClr val="D2DEF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8726400" y="3595200"/>
            <a:ext cx="133200" cy="114000"/>
          </a:xfrm>
          <a:prstGeom prst="rect">
            <a:avLst/>
          </a:prstGeom>
          <a:solidFill>
            <a:srgbClr val="8AA7E0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8859600" y="3595200"/>
            <a:ext cx="133200" cy="114000"/>
          </a:xfrm>
          <a:prstGeom prst="rect">
            <a:avLst/>
          </a:prstGeom>
          <a:solidFill>
            <a:srgbClr val="98B2E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8992800" y="3595200"/>
            <a:ext cx="133200" cy="114000"/>
          </a:xfrm>
          <a:prstGeom prst="rect">
            <a:avLst/>
          </a:prstGeom>
          <a:solidFill>
            <a:srgbClr val="DBE4F5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9126000" y="3595200"/>
            <a:ext cx="133200" cy="114000"/>
          </a:xfrm>
          <a:prstGeom prst="rect">
            <a:avLst/>
          </a:prstGeom>
          <a:solidFill>
            <a:srgbClr val="AABFE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9259200" y="3595200"/>
            <a:ext cx="133200" cy="114000"/>
          </a:xfrm>
          <a:prstGeom prst="rect">
            <a:avLst/>
          </a:prstGeom>
          <a:solidFill>
            <a:srgbClr val="B1C5E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9392400" y="3595200"/>
            <a:ext cx="133200" cy="114000"/>
          </a:xfrm>
          <a:prstGeom prst="rect">
            <a:avLst/>
          </a:prstGeom>
          <a:solidFill>
            <a:srgbClr val="7E9ED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9525600" y="3595200"/>
            <a:ext cx="133200" cy="114000"/>
          </a:xfrm>
          <a:prstGeom prst="rect">
            <a:avLst/>
          </a:prstGeom>
          <a:solidFill>
            <a:srgbClr val="93AEE2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9658800" y="3595200"/>
            <a:ext cx="133200" cy="114000"/>
          </a:xfrm>
          <a:prstGeom prst="rect">
            <a:avLst/>
          </a:prstGeom>
          <a:solidFill>
            <a:srgbClr val="D4DFF3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460000" y="3709200"/>
            <a:ext cx="133200" cy="114000"/>
          </a:xfrm>
          <a:prstGeom prst="rect">
            <a:avLst/>
          </a:prstGeom>
          <a:solidFill>
            <a:srgbClr val="6E93D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593200" y="3709200"/>
            <a:ext cx="133200" cy="114000"/>
          </a:xfrm>
          <a:prstGeom prst="rect">
            <a:avLst/>
          </a:prstGeom>
          <a:solidFill>
            <a:srgbClr val="EDF2F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8726400" y="3709200"/>
            <a:ext cx="133200" cy="114000"/>
          </a:xfrm>
          <a:prstGeom prst="rect">
            <a:avLst/>
          </a:prstGeom>
          <a:solidFill>
            <a:srgbClr val="C1D1E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8859600" y="3709200"/>
            <a:ext cx="133200" cy="114000"/>
          </a:xfrm>
          <a:prstGeom prst="rect">
            <a:avLst/>
          </a:prstGeom>
          <a:solidFill>
            <a:srgbClr val="8FABE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8992800" y="3709200"/>
            <a:ext cx="133200" cy="114000"/>
          </a:xfrm>
          <a:prstGeom prst="rect">
            <a:avLst/>
          </a:prstGeom>
          <a:solidFill>
            <a:srgbClr val="E8EEF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9126000" y="3709200"/>
            <a:ext cx="133200" cy="114000"/>
          </a:xfrm>
          <a:prstGeom prst="rect">
            <a:avLst/>
          </a:prstGeom>
          <a:solidFill>
            <a:srgbClr val="B7C9E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9259200" y="3709200"/>
            <a:ext cx="133200" cy="114000"/>
          </a:xfrm>
          <a:prstGeom prst="rect">
            <a:avLst/>
          </a:prstGeom>
          <a:solidFill>
            <a:srgbClr val="F9FA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9392400" y="3709200"/>
            <a:ext cx="133200" cy="114000"/>
          </a:xfrm>
          <a:prstGeom prst="rect">
            <a:avLst/>
          </a:prstGeom>
          <a:solidFill>
            <a:srgbClr val="9CB5E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9525600" y="3709200"/>
            <a:ext cx="133200" cy="114000"/>
          </a:xfrm>
          <a:prstGeom prst="rect">
            <a:avLst/>
          </a:prstGeom>
          <a:solidFill>
            <a:srgbClr val="8EAAE1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9658800" y="3709200"/>
            <a:ext cx="133200" cy="114000"/>
          </a:xfrm>
          <a:prstGeom prst="rect">
            <a:avLst/>
          </a:prstGeom>
          <a:solidFill>
            <a:srgbClr val="AABFE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9972000" y="3114000"/>
            <a:ext cx="1548000" cy="576000"/>
          </a:xfrm>
          <a:prstGeom prst="round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50" b="1">
                <a:solidFill>
                  <a:srgbClr val="2854A2"/>
                </a:solidFill>
                <a:latin typeface="Arial"/>
              </a:rPr>
              <a:t>Max-Pool</a:t>
            </a:r>
          </a:p>
          <a:p>
            <a:pPr algn="ctr"/>
            <a:r>
              <a:rPr sz="950" b="1">
                <a:solidFill>
                  <a:srgbClr val="2854A2"/>
                </a:solidFill>
                <a:latin typeface="Arial"/>
              </a:rPr>
              <a:t>over tokens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8784000" y="4140000"/>
            <a:ext cx="2232000" cy="540000"/>
          </a:xfrm>
          <a:prstGeom prst="rect">
            <a:avLst/>
          </a:prstGeom>
          <a:solidFill>
            <a:srgbClr val="D6E3F6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254" name="Rectangle 253"/>
          <p:cNvSpPr/>
          <p:nvPr/>
        </p:nvSpPr>
        <p:spPr>
          <a:xfrm>
            <a:off x="8827200" y="4168800"/>
            <a:ext cx="2145600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1">
                <a:solidFill>
                  <a:srgbClr val="2854A2"/>
                </a:solidFill>
                <a:latin typeface="Arial"/>
              </a:rPr>
              <a:t>Joint Representation  f   [bs, 256]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8899200" y="446400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9057600" y="446400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9216000" y="446400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9374400" y="446400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9532800" y="446400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9691200" y="446400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9849600" y="4464000"/>
            <a:ext cx="129600" cy="129600"/>
          </a:xfrm>
          <a:prstGeom prst="rect">
            <a:avLst/>
          </a:prstGeom>
          <a:solidFill>
            <a:srgbClr val="6C91D8"/>
          </a:solidFill>
          <a:ln w="6350">
            <a:solidFill>
              <a:srgbClr val="6C9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0008000" y="4442400"/>
            <a:ext cx="251999" cy="172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1100" b="1">
                <a:solidFill>
                  <a:srgbClr val="282828"/>
                </a:solidFill>
                <a:latin typeface="Arial"/>
              </a:rPr>
              <a:t>...</a:t>
            </a:r>
          </a:p>
        </p:txBody>
      </p:sp>
      <p:cxnSp>
        <p:nvCxnSpPr>
          <p:cNvPr id="263" name="Connector 262"/>
          <p:cNvCxnSpPr/>
          <p:nvPr/>
        </p:nvCxnSpPr>
        <p:spPr>
          <a:xfrm>
            <a:off x="7956000" y="2430000"/>
            <a:ext cx="396000" cy="0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Freeform 263"/>
          <p:cNvSpPr/>
          <p:nvPr/>
        </p:nvSpPr>
        <p:spPr>
          <a:xfrm>
            <a:off x="10746000" y="1205999"/>
            <a:ext cx="378000" cy="954001"/>
          </a:xfrm>
          <a:custGeom>
            <a:avLst/>
            <a:gdLst/>
            <a:ahLst/>
            <a:cxnLst/>
            <a:rect l="l" t="t" r="r" b="b"/>
            <a:pathLst>
              <a:path w="378000" h="954001">
                <a:moveTo>
                  <a:pt x="378000" y="0"/>
                </a:moveTo>
                <a:lnTo>
                  <a:pt x="378000" y="369000"/>
                </a:lnTo>
                <a:lnTo>
                  <a:pt x="376313" y="394313"/>
                </a:lnTo>
                <a:lnTo>
                  <a:pt x="371250" y="416250"/>
                </a:lnTo>
                <a:lnTo>
                  <a:pt x="362812" y="434813"/>
                </a:lnTo>
                <a:lnTo>
                  <a:pt x="351000" y="450000"/>
                </a:lnTo>
                <a:lnTo>
                  <a:pt x="335812" y="461813"/>
                </a:lnTo>
                <a:lnTo>
                  <a:pt x="317250" y="470250"/>
                </a:lnTo>
                <a:lnTo>
                  <a:pt x="295312" y="475313"/>
                </a:lnTo>
                <a:lnTo>
                  <a:pt x="270000" y="477000"/>
                </a:lnTo>
                <a:lnTo>
                  <a:pt x="108000" y="477000"/>
                </a:lnTo>
                <a:lnTo>
                  <a:pt x="82688" y="478688"/>
                </a:lnTo>
                <a:lnTo>
                  <a:pt x="60750" y="483750"/>
                </a:lnTo>
                <a:lnTo>
                  <a:pt x="42188" y="492188"/>
                </a:lnTo>
                <a:lnTo>
                  <a:pt x="27000" y="504000"/>
                </a:lnTo>
                <a:lnTo>
                  <a:pt x="15188" y="519188"/>
                </a:lnTo>
                <a:lnTo>
                  <a:pt x="6750" y="537750"/>
                </a:lnTo>
                <a:lnTo>
                  <a:pt x="1687" y="559688"/>
                </a:lnTo>
                <a:lnTo>
                  <a:pt x="0" y="585000"/>
                </a:lnTo>
                <a:lnTo>
                  <a:pt x="0" y="954001"/>
                </a:lnTo>
              </a:path>
            </a:pathLst>
          </a:custGeom>
          <a:noFill/>
          <a:ln w="16510" cap="rnd">
            <a:solidFill>
              <a:srgbClr val="6242AA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5" name="Connector 264"/>
          <p:cNvCxnSpPr/>
          <p:nvPr/>
        </p:nvCxnSpPr>
        <p:spPr>
          <a:xfrm>
            <a:off x="9126000" y="2700000"/>
            <a:ext cx="0" cy="234000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10746000" y="2700000"/>
            <a:ext cx="0" cy="414000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7" name="Freeform 266"/>
          <p:cNvSpPr/>
          <p:nvPr/>
        </p:nvSpPr>
        <p:spPr>
          <a:xfrm>
            <a:off x="9126000" y="3870000"/>
            <a:ext cx="774000" cy="270000"/>
          </a:xfrm>
          <a:custGeom>
            <a:avLst/>
            <a:gdLst/>
            <a:ahLst/>
            <a:cxnLst/>
            <a:rect l="l" t="t" r="r" b="b"/>
            <a:pathLst>
              <a:path w="774000" h="270000">
                <a:moveTo>
                  <a:pt x="0" y="0"/>
                </a:moveTo>
                <a:lnTo>
                  <a:pt x="0" y="67500"/>
                </a:lnTo>
                <a:lnTo>
                  <a:pt x="1055" y="83320"/>
                </a:lnTo>
                <a:lnTo>
                  <a:pt x="4219" y="97031"/>
                </a:lnTo>
                <a:lnTo>
                  <a:pt x="9492" y="108633"/>
                </a:lnTo>
                <a:lnTo>
                  <a:pt x="16875" y="118125"/>
                </a:lnTo>
                <a:lnTo>
                  <a:pt x="26367" y="125508"/>
                </a:lnTo>
                <a:lnTo>
                  <a:pt x="37969" y="130781"/>
                </a:lnTo>
                <a:lnTo>
                  <a:pt x="51680" y="133945"/>
                </a:lnTo>
                <a:lnTo>
                  <a:pt x="67500" y="135000"/>
                </a:lnTo>
                <a:lnTo>
                  <a:pt x="706500" y="135000"/>
                </a:lnTo>
                <a:lnTo>
                  <a:pt x="722320" y="136055"/>
                </a:lnTo>
                <a:lnTo>
                  <a:pt x="736031" y="139219"/>
                </a:lnTo>
                <a:lnTo>
                  <a:pt x="747633" y="144492"/>
                </a:lnTo>
                <a:lnTo>
                  <a:pt x="757125" y="151875"/>
                </a:lnTo>
                <a:lnTo>
                  <a:pt x="764508" y="161367"/>
                </a:lnTo>
                <a:lnTo>
                  <a:pt x="769781" y="172969"/>
                </a:lnTo>
                <a:lnTo>
                  <a:pt x="772945" y="186680"/>
                </a:lnTo>
                <a:lnTo>
                  <a:pt x="774000" y="202500"/>
                </a:lnTo>
                <a:lnTo>
                  <a:pt x="774000" y="27000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9900000" y="3690000"/>
            <a:ext cx="846000" cy="450000"/>
          </a:xfrm>
          <a:custGeom>
            <a:avLst/>
            <a:gdLst/>
            <a:ahLst/>
            <a:cxnLst/>
            <a:rect l="l" t="t" r="r" b="b"/>
            <a:pathLst>
              <a:path w="846000" h="450000">
                <a:moveTo>
                  <a:pt x="846000" y="0"/>
                </a:moveTo>
                <a:lnTo>
                  <a:pt x="846000" y="117000"/>
                </a:lnTo>
                <a:lnTo>
                  <a:pt x="844312" y="142312"/>
                </a:lnTo>
                <a:lnTo>
                  <a:pt x="839250" y="164250"/>
                </a:lnTo>
                <a:lnTo>
                  <a:pt x="830812" y="182812"/>
                </a:lnTo>
                <a:lnTo>
                  <a:pt x="819000" y="198000"/>
                </a:lnTo>
                <a:lnTo>
                  <a:pt x="803812" y="209812"/>
                </a:lnTo>
                <a:lnTo>
                  <a:pt x="785250" y="218250"/>
                </a:lnTo>
                <a:lnTo>
                  <a:pt x="763312" y="223313"/>
                </a:lnTo>
                <a:lnTo>
                  <a:pt x="738000" y="225000"/>
                </a:lnTo>
                <a:lnTo>
                  <a:pt x="108000" y="225000"/>
                </a:lnTo>
                <a:lnTo>
                  <a:pt x="82688" y="226687"/>
                </a:lnTo>
                <a:lnTo>
                  <a:pt x="60750" y="231750"/>
                </a:lnTo>
                <a:lnTo>
                  <a:pt x="42188" y="240188"/>
                </a:lnTo>
                <a:lnTo>
                  <a:pt x="27000" y="252000"/>
                </a:lnTo>
                <a:lnTo>
                  <a:pt x="15188" y="267188"/>
                </a:lnTo>
                <a:lnTo>
                  <a:pt x="6750" y="285750"/>
                </a:lnTo>
                <a:lnTo>
                  <a:pt x="1688" y="307688"/>
                </a:lnTo>
                <a:lnTo>
                  <a:pt x="0" y="333000"/>
                </a:lnTo>
                <a:lnTo>
                  <a:pt x="0" y="45000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6858000" y="2916000"/>
            <a:ext cx="1224000" cy="1835999"/>
          </a:xfrm>
          <a:prstGeom prst="rect">
            <a:avLst/>
          </a:prstGeom>
          <a:solidFill>
            <a:srgbClr val="FFFFFF"/>
          </a:solidFill>
          <a:ln w="10160">
            <a:solidFill>
              <a:srgbClr val="C8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270" name="Rectangle 269"/>
          <p:cNvSpPr/>
          <p:nvPr/>
        </p:nvSpPr>
        <p:spPr>
          <a:xfrm>
            <a:off x="6912000" y="2970000"/>
            <a:ext cx="1116000" cy="16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950" b="1">
                <a:solidFill>
                  <a:srgbClr val="282828"/>
                </a:solidFill>
                <a:latin typeface="Arial"/>
              </a:rPr>
              <a:t>Legend</a:t>
            </a:r>
          </a:p>
        </p:txBody>
      </p:sp>
      <p:cxnSp>
        <p:nvCxnSpPr>
          <p:cNvPr id="271" name="Connector 270"/>
          <p:cNvCxnSpPr/>
          <p:nvPr/>
        </p:nvCxnSpPr>
        <p:spPr>
          <a:xfrm>
            <a:off x="6930000" y="3276000"/>
            <a:ext cx="360000" cy="0"/>
          </a:xfrm>
          <a:prstGeom prst="line">
            <a:avLst/>
          </a:prstGeom>
          <a:ln w="2540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Rectangle 271"/>
          <p:cNvSpPr/>
          <p:nvPr/>
        </p:nvSpPr>
        <p:spPr>
          <a:xfrm>
            <a:off x="7326000" y="3186000"/>
            <a:ext cx="756000" cy="1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800" b="0">
                <a:solidFill>
                  <a:srgbClr val="282828"/>
                </a:solidFill>
                <a:latin typeface="Arial"/>
              </a:rPr>
              <a:t>data flow</a:t>
            </a:r>
          </a:p>
        </p:txBody>
      </p:sp>
      <p:cxnSp>
        <p:nvCxnSpPr>
          <p:cNvPr id="273" name="Connector 272"/>
          <p:cNvCxnSpPr/>
          <p:nvPr/>
        </p:nvCxnSpPr>
        <p:spPr>
          <a:xfrm>
            <a:off x="6930000" y="3600000"/>
            <a:ext cx="360000" cy="0"/>
          </a:xfrm>
          <a:prstGeom prst="line">
            <a:avLst/>
          </a:prstGeom>
          <a:ln w="25400" cap="rnd">
            <a:solidFill>
              <a:srgbClr val="BA3C30"/>
            </a:solidFill>
            <a:prstDash val="dash"/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Rectangle 273"/>
          <p:cNvSpPr/>
          <p:nvPr/>
        </p:nvSpPr>
        <p:spPr>
          <a:xfrm>
            <a:off x="7326000" y="3456000"/>
            <a:ext cx="756000" cy="30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0">
                <a:solidFill>
                  <a:srgbClr val="BA3C30"/>
                </a:solidFill>
                <a:latin typeface="Arial"/>
              </a:rPr>
              <a:t>target-aware</a:t>
            </a:r>
          </a:p>
          <a:p>
            <a:pPr algn="l"/>
            <a:r>
              <a:rPr sz="800" b="0">
                <a:solidFill>
                  <a:srgbClr val="BA3C30"/>
                </a:solidFill>
                <a:latin typeface="Arial"/>
              </a:rPr>
              <a:t>modulation</a:t>
            </a:r>
          </a:p>
        </p:txBody>
      </p:sp>
      <p:sp>
        <p:nvSpPr>
          <p:cNvPr id="275" name="Oval 274"/>
          <p:cNvSpPr/>
          <p:nvPr/>
        </p:nvSpPr>
        <p:spPr>
          <a:xfrm>
            <a:off x="7002000" y="3906000"/>
            <a:ext cx="216000" cy="216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242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1">
                <a:solidFill>
                  <a:srgbClr val="6242AA"/>
                </a:solidFill>
                <a:latin typeface="Arial"/>
              </a:rPr>
              <a:t>⊙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7326000" y="3906000"/>
            <a:ext cx="756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l"/>
            <a:r>
              <a:rPr sz="800" b="0">
                <a:solidFill>
                  <a:srgbClr val="282828"/>
                </a:solidFill>
                <a:latin typeface="Arial"/>
              </a:rPr>
              <a:t>gated fusion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6966000" y="4230000"/>
            <a:ext cx="28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300" b="1">
                <a:solidFill>
                  <a:srgbClr val="D2A51E"/>
                </a:solidFill>
                <a:latin typeface="Arial"/>
              </a:rPr>
              <a:t>★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7326000" y="4230000"/>
            <a:ext cx="756000" cy="30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800" b="0">
                <a:solidFill>
                  <a:srgbClr val="966E0A"/>
                </a:solidFill>
                <a:latin typeface="Arial"/>
              </a:rPr>
              <a:t>our key</a:t>
            </a:r>
          </a:p>
          <a:p>
            <a:pPr algn="l"/>
            <a:r>
              <a:rPr sz="800" b="0">
                <a:solidFill>
                  <a:srgbClr val="966E0A"/>
                </a:solidFill>
                <a:latin typeface="Arial"/>
              </a:rPr>
              <a:t>contribution</a:t>
            </a:r>
          </a:p>
        </p:txBody>
      </p:sp>
      <p:sp>
        <p:nvSpPr>
          <p:cNvPr id="279" name="Rounded Rectangle 278"/>
          <p:cNvSpPr/>
          <p:nvPr/>
        </p:nvSpPr>
        <p:spPr>
          <a:xfrm>
            <a:off x="6696000" y="5112000"/>
            <a:ext cx="5364000" cy="1655999"/>
          </a:xfrm>
          <a:prstGeom prst="roundRect">
            <a:avLst/>
          </a:prstGeom>
          <a:solidFill>
            <a:srgbClr val="FDF5F2"/>
          </a:solidFill>
          <a:ln w="12700">
            <a:solidFill>
              <a:srgbClr val="CE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0">
                <a:solidFill>
                  <a:srgbClr val="282828"/>
                </a:solidFill>
                <a:latin typeface="Arial"/>
              </a:rPr>
              <a:t/>
            </a:r>
          </a:p>
        </p:txBody>
      </p:sp>
      <p:sp>
        <p:nvSpPr>
          <p:cNvPr id="280" name="Rectangle 279"/>
          <p:cNvSpPr/>
          <p:nvPr/>
        </p:nvSpPr>
        <p:spPr>
          <a:xfrm>
            <a:off x="6822000" y="5169600"/>
            <a:ext cx="288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4400" bIns="14400" lIns="28800" rIns="28800"/>
          <a:lstStyle/>
          <a:p>
            <a:pPr algn="l"/>
            <a:r>
              <a:rPr sz="1100" b="1">
                <a:solidFill>
                  <a:srgbClr val="B23A24"/>
                </a:solidFill>
                <a:latin typeface="Arial"/>
              </a:rPr>
              <a:t>Interaction Prediction Head</a:t>
            </a:r>
          </a:p>
        </p:txBody>
      </p:sp>
      <p:sp>
        <p:nvSpPr>
          <p:cNvPr id="281" name="Rounded Rectangle 280"/>
          <p:cNvSpPr/>
          <p:nvPr/>
        </p:nvSpPr>
        <p:spPr>
          <a:xfrm>
            <a:off x="7272000" y="5598000"/>
            <a:ext cx="1296000" cy="1080000"/>
          </a:xfrm>
          <a:prstGeom prst="roundRect">
            <a:avLst/>
          </a:prstGeom>
          <a:solidFill>
            <a:srgbClr val="F7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000" b="1">
                <a:solidFill>
                  <a:srgbClr val="B23A24"/>
                </a:solidFill>
                <a:latin typeface="Arial"/>
              </a:rPr>
              <a:t>MLP Decoder</a:t>
            </a:r>
          </a:p>
          <a:p>
            <a:pPr algn="ctr"/>
            <a:r>
              <a:rPr sz="1000" b="1">
                <a:solidFill>
                  <a:srgbClr val="B23A24"/>
                </a:solidFill>
                <a:latin typeface="Arial"/>
              </a:rPr>
              <a:t>(FC × 3 + ReLU)</a:t>
            </a:r>
          </a:p>
        </p:txBody>
      </p:sp>
      <p:sp>
        <p:nvSpPr>
          <p:cNvPr id="282" name="Rounded Rectangle 281"/>
          <p:cNvSpPr/>
          <p:nvPr/>
        </p:nvSpPr>
        <p:spPr>
          <a:xfrm>
            <a:off x="8928000" y="5598000"/>
            <a:ext cx="1080000" cy="1080000"/>
          </a:xfrm>
          <a:prstGeom prst="roundRect">
            <a:avLst/>
          </a:prstGeom>
          <a:solidFill>
            <a:srgbClr val="F7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000" b="1">
                <a:solidFill>
                  <a:srgbClr val="B23A24"/>
                </a:solidFill>
                <a:latin typeface="Arial"/>
              </a:rPr>
              <a:t/>
            </a:r>
          </a:p>
        </p:txBody>
      </p:sp>
      <p:cxnSp>
        <p:nvCxnSpPr>
          <p:cNvPr id="283" name="Connector 282"/>
          <p:cNvCxnSpPr/>
          <p:nvPr/>
        </p:nvCxnSpPr>
        <p:spPr>
          <a:xfrm>
            <a:off x="9144000" y="5778000"/>
            <a:ext cx="0" cy="540000"/>
          </a:xfrm>
          <a:prstGeom prst="line">
            <a:avLst/>
          </a:prstGeom>
          <a:ln w="1270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9144000" y="6318000"/>
            <a:ext cx="702000" cy="0"/>
          </a:xfrm>
          <a:prstGeom prst="line">
            <a:avLst/>
          </a:prstGeom>
          <a:ln w="12700">
            <a:solidFill>
              <a:srgbClr val="AAAA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9144000" y="6308777"/>
            <a:ext cx="27000" cy="794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9171000" y="6307474"/>
            <a:ext cx="27000" cy="1303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9198000" y="6305341"/>
            <a:ext cx="27000" cy="2133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9225000" y="6301864"/>
            <a:ext cx="27000" cy="3477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9252000" y="6296237"/>
            <a:ext cx="27000" cy="5627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9279000" y="6287238"/>
            <a:ext cx="27000" cy="8999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9306000" y="6273113"/>
            <a:ext cx="27000" cy="14125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9333000" y="6251579"/>
            <a:ext cx="27000" cy="21534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9360000" y="6220170"/>
            <a:ext cx="27000" cy="31409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9387000" y="6177189"/>
            <a:ext cx="27000" cy="42981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9414000" y="6123237"/>
            <a:ext cx="27000" cy="53952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9441000" y="6062400"/>
            <a:ext cx="27000" cy="60837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9468000" y="6001562"/>
            <a:ext cx="27000" cy="60838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9495000" y="5947610"/>
            <a:ext cx="27000" cy="53952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9522000" y="5904629"/>
            <a:ext cx="27000" cy="42981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9549000" y="5873220"/>
            <a:ext cx="27000" cy="31409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9576000" y="5851686"/>
            <a:ext cx="27000" cy="21534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9603000" y="5837561"/>
            <a:ext cx="27000" cy="14125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9630000" y="5828562"/>
            <a:ext cx="27000" cy="8999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9657000" y="5822935"/>
            <a:ext cx="27000" cy="5627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9684000" y="5819458"/>
            <a:ext cx="27000" cy="3477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9711000" y="5817325"/>
            <a:ext cx="27000" cy="2133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9738000" y="5816022"/>
            <a:ext cx="27000" cy="1303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9765000" y="5815228"/>
            <a:ext cx="27000" cy="794"/>
          </a:xfrm>
          <a:prstGeom prst="line">
            <a:avLst/>
          </a:prstGeom>
          <a:ln w="30480">
            <a:solidFill>
              <a:srgbClr val="B23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9" name="Rectangle 308"/>
          <p:cNvSpPr/>
          <p:nvPr/>
        </p:nvSpPr>
        <p:spPr>
          <a:xfrm>
            <a:off x="8928000" y="6469200"/>
            <a:ext cx="1080000" cy="14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900" b="1">
                <a:solidFill>
                  <a:srgbClr val="B23A24"/>
                </a:solidFill>
                <a:latin typeface="Arial"/>
              </a:rPr>
              <a:t>Sigmoid</a:t>
            </a:r>
          </a:p>
        </p:txBody>
      </p:sp>
      <p:sp>
        <p:nvSpPr>
          <p:cNvPr id="310" name="Rounded Rectangle 309"/>
          <p:cNvSpPr/>
          <p:nvPr/>
        </p:nvSpPr>
        <p:spPr>
          <a:xfrm>
            <a:off x="10368000" y="5598000"/>
            <a:ext cx="1440000" cy="1080000"/>
          </a:xfrm>
          <a:prstGeom prst="roundRect">
            <a:avLst/>
          </a:prstGeom>
          <a:solidFill>
            <a:srgbClr val="F7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400" bIns="14400" lIns="28800" rIns="28800"/>
          <a:lstStyle/>
          <a:p>
            <a:pPr algn="ctr"/>
            <a:r>
              <a:rPr sz="1100" b="1">
                <a:solidFill>
                  <a:srgbClr val="B23A24"/>
                </a:solidFill>
                <a:latin typeface="Arial"/>
              </a:rPr>
              <a:t>ŷ ∈ [0, 1]</a:t>
            </a:r>
          </a:p>
          <a:p>
            <a:pPr algn="ctr"/>
            <a:r>
              <a:rPr sz="1100" b="1">
                <a:solidFill>
                  <a:srgbClr val="B23A24"/>
                </a:solidFill>
                <a:latin typeface="Arial"/>
              </a:rPr>
              <a:t/>
            </a:r>
          </a:p>
          <a:p>
            <a:pPr algn="ctr"/>
            <a:r>
              <a:rPr sz="1100" b="1">
                <a:solidFill>
                  <a:srgbClr val="B23A24"/>
                </a:solidFill>
                <a:latin typeface="Arial"/>
              </a:rPr>
              <a:t>Interaction</a:t>
            </a:r>
          </a:p>
          <a:p>
            <a:pPr algn="ctr"/>
            <a:r>
              <a:rPr sz="1100" b="1">
                <a:solidFill>
                  <a:srgbClr val="B23A24"/>
                </a:solidFill>
                <a:latin typeface="Arial"/>
              </a:rPr>
              <a:t>Probability</a:t>
            </a:r>
          </a:p>
        </p:txBody>
      </p:sp>
      <p:sp>
        <p:nvSpPr>
          <p:cNvPr id="311" name="Freeform 310"/>
          <p:cNvSpPr/>
          <p:nvPr/>
        </p:nvSpPr>
        <p:spPr>
          <a:xfrm>
            <a:off x="7920000" y="4680000"/>
            <a:ext cx="1980000" cy="918000"/>
          </a:xfrm>
          <a:custGeom>
            <a:avLst/>
            <a:gdLst/>
            <a:ahLst/>
            <a:cxnLst/>
            <a:rect l="l" t="t" r="r" b="b"/>
            <a:pathLst>
              <a:path w="1980000" h="918000">
                <a:moveTo>
                  <a:pt x="1980000" y="0"/>
                </a:moveTo>
                <a:lnTo>
                  <a:pt x="1980000" y="351000"/>
                </a:lnTo>
                <a:lnTo>
                  <a:pt x="1978312" y="376312"/>
                </a:lnTo>
                <a:lnTo>
                  <a:pt x="1973250" y="398250"/>
                </a:lnTo>
                <a:lnTo>
                  <a:pt x="1964812" y="416812"/>
                </a:lnTo>
                <a:lnTo>
                  <a:pt x="1953000" y="432000"/>
                </a:lnTo>
                <a:lnTo>
                  <a:pt x="1937812" y="443812"/>
                </a:lnTo>
                <a:lnTo>
                  <a:pt x="1919250" y="452250"/>
                </a:lnTo>
                <a:lnTo>
                  <a:pt x="1897312" y="457312"/>
                </a:lnTo>
                <a:lnTo>
                  <a:pt x="1872000" y="459000"/>
                </a:lnTo>
                <a:lnTo>
                  <a:pt x="108000" y="459000"/>
                </a:lnTo>
                <a:lnTo>
                  <a:pt x="82688" y="460688"/>
                </a:lnTo>
                <a:lnTo>
                  <a:pt x="60750" y="465750"/>
                </a:lnTo>
                <a:lnTo>
                  <a:pt x="42188" y="474188"/>
                </a:lnTo>
                <a:lnTo>
                  <a:pt x="27000" y="486000"/>
                </a:lnTo>
                <a:lnTo>
                  <a:pt x="15188" y="501188"/>
                </a:lnTo>
                <a:lnTo>
                  <a:pt x="6750" y="519750"/>
                </a:lnTo>
                <a:lnTo>
                  <a:pt x="1688" y="541688"/>
                </a:lnTo>
                <a:lnTo>
                  <a:pt x="0" y="567000"/>
                </a:lnTo>
                <a:lnTo>
                  <a:pt x="0" y="91800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2" name="Connector 311"/>
          <p:cNvCxnSpPr/>
          <p:nvPr/>
        </p:nvCxnSpPr>
        <p:spPr>
          <a:xfrm>
            <a:off x="8568000" y="6138000"/>
            <a:ext cx="360000" cy="0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10008000" y="6138000"/>
            <a:ext cx="360000" cy="0"/>
          </a:xfrm>
          <a:prstGeom prst="line">
            <a:avLst/>
          </a:prstGeom>
          <a:ln w="16510" cap="rnd">
            <a:solidFill>
              <a:srgbClr val="2E5496"/>
            </a:solidFill>
            <a:tailEnd type="arrow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4" name="Freeform 313"/>
          <p:cNvSpPr/>
          <p:nvPr/>
        </p:nvSpPr>
        <p:spPr>
          <a:xfrm>
            <a:off x="4607999" y="846000"/>
            <a:ext cx="450001" cy="72000"/>
          </a:xfrm>
          <a:custGeom>
            <a:avLst/>
            <a:gdLst/>
            <a:ahLst/>
            <a:cxnLst/>
            <a:rect l="l" t="t" r="r" b="b"/>
            <a:pathLst>
              <a:path w="450001" h="72000">
                <a:moveTo>
                  <a:pt x="0" y="0"/>
                </a:moveTo>
                <a:lnTo>
                  <a:pt x="189001" y="0"/>
                </a:lnTo>
                <a:lnTo>
                  <a:pt x="197438" y="562"/>
                </a:lnTo>
                <a:lnTo>
                  <a:pt x="204751" y="2250"/>
                </a:lnTo>
                <a:lnTo>
                  <a:pt x="210938" y="5063"/>
                </a:lnTo>
                <a:lnTo>
                  <a:pt x="216001" y="9000"/>
                </a:lnTo>
                <a:lnTo>
                  <a:pt x="219938" y="14062"/>
                </a:lnTo>
                <a:lnTo>
                  <a:pt x="222751" y="20250"/>
                </a:lnTo>
                <a:lnTo>
                  <a:pt x="224438" y="27563"/>
                </a:lnTo>
                <a:lnTo>
                  <a:pt x="225001" y="36000"/>
                </a:lnTo>
                <a:lnTo>
                  <a:pt x="225001" y="36000"/>
                </a:lnTo>
                <a:lnTo>
                  <a:pt x="225563" y="44438"/>
                </a:lnTo>
                <a:lnTo>
                  <a:pt x="227251" y="51750"/>
                </a:lnTo>
                <a:lnTo>
                  <a:pt x="230063" y="57937"/>
                </a:lnTo>
                <a:lnTo>
                  <a:pt x="234001" y="63000"/>
                </a:lnTo>
                <a:lnTo>
                  <a:pt x="239063" y="66937"/>
                </a:lnTo>
                <a:lnTo>
                  <a:pt x="245251" y="69750"/>
                </a:lnTo>
                <a:lnTo>
                  <a:pt x="252563" y="71438"/>
                </a:lnTo>
                <a:lnTo>
                  <a:pt x="261001" y="72000"/>
                </a:lnTo>
                <a:lnTo>
                  <a:pt x="450001" y="7200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4607999" y="1422000"/>
            <a:ext cx="450001" cy="162000"/>
          </a:xfrm>
          <a:custGeom>
            <a:avLst/>
            <a:gdLst/>
            <a:ahLst/>
            <a:cxnLst/>
            <a:rect l="l" t="t" r="r" b="b"/>
            <a:pathLst>
              <a:path w="450001" h="162000">
                <a:moveTo>
                  <a:pt x="0" y="162000"/>
                </a:moveTo>
                <a:lnTo>
                  <a:pt x="144001" y="162000"/>
                </a:lnTo>
                <a:lnTo>
                  <a:pt x="162985" y="160734"/>
                </a:lnTo>
                <a:lnTo>
                  <a:pt x="179438" y="156938"/>
                </a:lnTo>
                <a:lnTo>
                  <a:pt x="193360" y="150609"/>
                </a:lnTo>
                <a:lnTo>
                  <a:pt x="204751" y="141750"/>
                </a:lnTo>
                <a:lnTo>
                  <a:pt x="213610" y="130359"/>
                </a:lnTo>
                <a:lnTo>
                  <a:pt x="219938" y="116438"/>
                </a:lnTo>
                <a:lnTo>
                  <a:pt x="223735" y="99984"/>
                </a:lnTo>
                <a:lnTo>
                  <a:pt x="225001" y="81000"/>
                </a:lnTo>
                <a:lnTo>
                  <a:pt x="225001" y="81000"/>
                </a:lnTo>
                <a:lnTo>
                  <a:pt x="226266" y="62016"/>
                </a:lnTo>
                <a:lnTo>
                  <a:pt x="230063" y="45563"/>
                </a:lnTo>
                <a:lnTo>
                  <a:pt x="236391" y="31641"/>
                </a:lnTo>
                <a:lnTo>
                  <a:pt x="245251" y="20250"/>
                </a:lnTo>
                <a:lnTo>
                  <a:pt x="256641" y="11391"/>
                </a:lnTo>
                <a:lnTo>
                  <a:pt x="270563" y="5063"/>
                </a:lnTo>
                <a:lnTo>
                  <a:pt x="287016" y="1266"/>
                </a:lnTo>
                <a:lnTo>
                  <a:pt x="306001" y="0"/>
                </a:lnTo>
                <a:lnTo>
                  <a:pt x="450001" y="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3573000" y="2592000"/>
            <a:ext cx="117000" cy="828000"/>
          </a:xfrm>
          <a:custGeom>
            <a:avLst/>
            <a:gdLst/>
            <a:ahLst/>
            <a:cxnLst/>
            <a:rect l="l" t="t" r="r" b="b"/>
            <a:pathLst>
              <a:path w="117000" h="828000">
                <a:moveTo>
                  <a:pt x="117000" y="0"/>
                </a:moveTo>
                <a:lnTo>
                  <a:pt x="117000" y="355500"/>
                </a:lnTo>
                <a:lnTo>
                  <a:pt x="116085" y="369211"/>
                </a:lnTo>
                <a:lnTo>
                  <a:pt x="113343" y="381094"/>
                </a:lnTo>
                <a:lnTo>
                  <a:pt x="108773" y="391149"/>
                </a:lnTo>
                <a:lnTo>
                  <a:pt x="102375" y="399375"/>
                </a:lnTo>
                <a:lnTo>
                  <a:pt x="94148" y="405773"/>
                </a:lnTo>
                <a:lnTo>
                  <a:pt x="84093" y="410344"/>
                </a:lnTo>
                <a:lnTo>
                  <a:pt x="72211" y="413086"/>
                </a:lnTo>
                <a:lnTo>
                  <a:pt x="58500" y="414000"/>
                </a:lnTo>
                <a:lnTo>
                  <a:pt x="58500" y="414000"/>
                </a:lnTo>
                <a:lnTo>
                  <a:pt x="44789" y="414914"/>
                </a:lnTo>
                <a:lnTo>
                  <a:pt x="32906" y="417656"/>
                </a:lnTo>
                <a:lnTo>
                  <a:pt x="22851" y="422227"/>
                </a:lnTo>
                <a:lnTo>
                  <a:pt x="14625" y="428625"/>
                </a:lnTo>
                <a:lnTo>
                  <a:pt x="8227" y="436851"/>
                </a:lnTo>
                <a:lnTo>
                  <a:pt x="3656" y="446906"/>
                </a:lnTo>
                <a:lnTo>
                  <a:pt x="914" y="458789"/>
                </a:lnTo>
                <a:lnTo>
                  <a:pt x="0" y="472500"/>
                </a:lnTo>
                <a:lnTo>
                  <a:pt x="0" y="82800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4788000" y="1422000"/>
            <a:ext cx="270000" cy="2142000"/>
          </a:xfrm>
          <a:custGeom>
            <a:avLst/>
            <a:gdLst/>
            <a:ahLst/>
            <a:cxnLst/>
            <a:rect l="l" t="t" r="r" b="b"/>
            <a:pathLst>
              <a:path w="270000" h="2142000">
                <a:moveTo>
                  <a:pt x="0" y="2142000"/>
                </a:moveTo>
                <a:lnTo>
                  <a:pt x="67500" y="2142000"/>
                </a:lnTo>
                <a:lnTo>
                  <a:pt x="83320" y="2140945"/>
                </a:lnTo>
                <a:lnTo>
                  <a:pt x="97031" y="2137781"/>
                </a:lnTo>
                <a:lnTo>
                  <a:pt x="108633" y="2132507"/>
                </a:lnTo>
                <a:lnTo>
                  <a:pt x="118125" y="2125125"/>
                </a:lnTo>
                <a:lnTo>
                  <a:pt x="125508" y="2115632"/>
                </a:lnTo>
                <a:lnTo>
                  <a:pt x="130781" y="2104031"/>
                </a:lnTo>
                <a:lnTo>
                  <a:pt x="133945" y="2090320"/>
                </a:lnTo>
                <a:lnTo>
                  <a:pt x="135000" y="2074500"/>
                </a:lnTo>
                <a:lnTo>
                  <a:pt x="135000" y="67500"/>
                </a:lnTo>
                <a:lnTo>
                  <a:pt x="136055" y="51680"/>
                </a:lnTo>
                <a:lnTo>
                  <a:pt x="139219" y="37969"/>
                </a:lnTo>
                <a:lnTo>
                  <a:pt x="144492" y="26367"/>
                </a:lnTo>
                <a:lnTo>
                  <a:pt x="151875" y="16875"/>
                </a:lnTo>
                <a:lnTo>
                  <a:pt x="161367" y="9492"/>
                </a:lnTo>
                <a:lnTo>
                  <a:pt x="172969" y="4219"/>
                </a:lnTo>
                <a:lnTo>
                  <a:pt x="186680" y="1055"/>
                </a:lnTo>
                <a:lnTo>
                  <a:pt x="202500" y="0"/>
                </a:lnTo>
                <a:lnTo>
                  <a:pt x="270000" y="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81999" y="3546000"/>
            <a:ext cx="1386001" cy="2574000"/>
          </a:xfrm>
          <a:custGeom>
            <a:avLst/>
            <a:gdLst/>
            <a:ahLst/>
            <a:cxnLst/>
            <a:rect l="l" t="t" r="r" b="b"/>
            <a:pathLst>
              <a:path w="1386001" h="2574000">
                <a:moveTo>
                  <a:pt x="1386001" y="2574000"/>
                </a:moveTo>
                <a:lnTo>
                  <a:pt x="108000" y="2574000"/>
                </a:lnTo>
                <a:lnTo>
                  <a:pt x="82687" y="2572312"/>
                </a:lnTo>
                <a:lnTo>
                  <a:pt x="60750" y="2567250"/>
                </a:lnTo>
                <a:lnTo>
                  <a:pt x="42187" y="2558812"/>
                </a:lnTo>
                <a:lnTo>
                  <a:pt x="27000" y="2547000"/>
                </a:lnTo>
                <a:lnTo>
                  <a:pt x="15187" y="2531812"/>
                </a:lnTo>
                <a:lnTo>
                  <a:pt x="6750" y="2513250"/>
                </a:lnTo>
                <a:lnTo>
                  <a:pt x="1687" y="2491312"/>
                </a:lnTo>
                <a:lnTo>
                  <a:pt x="0" y="2466000"/>
                </a:lnTo>
                <a:lnTo>
                  <a:pt x="0" y="0"/>
                </a:lnTo>
              </a:path>
            </a:pathLst>
          </a:custGeom>
          <a:noFill/>
          <a:ln w="16510" cap="rnd">
            <a:solidFill>
              <a:srgbClr val="BA3C30"/>
            </a:solidFill>
            <a:prstDash val="dash"/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3888000" y="3978000"/>
            <a:ext cx="1170000" cy="810000"/>
          </a:xfrm>
          <a:custGeom>
            <a:avLst/>
            <a:gdLst/>
            <a:ahLst/>
            <a:cxnLst/>
            <a:rect l="l" t="t" r="r" b="b"/>
            <a:pathLst>
              <a:path w="1170000" h="810000">
                <a:moveTo>
                  <a:pt x="1170000" y="0"/>
                </a:moveTo>
                <a:lnTo>
                  <a:pt x="108000" y="0"/>
                </a:lnTo>
                <a:lnTo>
                  <a:pt x="82687" y="1688"/>
                </a:lnTo>
                <a:lnTo>
                  <a:pt x="60750" y="6750"/>
                </a:lnTo>
                <a:lnTo>
                  <a:pt x="42187" y="15188"/>
                </a:lnTo>
                <a:lnTo>
                  <a:pt x="26999" y="27000"/>
                </a:lnTo>
                <a:lnTo>
                  <a:pt x="15187" y="42188"/>
                </a:lnTo>
                <a:lnTo>
                  <a:pt x="6750" y="60750"/>
                </a:lnTo>
                <a:lnTo>
                  <a:pt x="1687" y="82688"/>
                </a:lnTo>
                <a:lnTo>
                  <a:pt x="0" y="108000"/>
                </a:lnTo>
                <a:lnTo>
                  <a:pt x="0" y="810000"/>
                </a:lnTo>
              </a:path>
            </a:pathLst>
          </a:custGeom>
          <a:noFill/>
          <a:ln w="16510" cap="rnd">
            <a:solidFill>
              <a:srgbClr val="BA3C30"/>
            </a:solidFill>
            <a:prstDash val="dash"/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6461999" y="2430000"/>
            <a:ext cx="414001" cy="792000"/>
          </a:xfrm>
          <a:custGeom>
            <a:avLst/>
            <a:gdLst/>
            <a:ahLst/>
            <a:cxnLst/>
            <a:rect l="l" t="t" r="r" b="b"/>
            <a:pathLst>
              <a:path w="414001" h="792000">
                <a:moveTo>
                  <a:pt x="0" y="792000"/>
                </a:moveTo>
                <a:lnTo>
                  <a:pt x="103500" y="792000"/>
                </a:lnTo>
                <a:lnTo>
                  <a:pt x="127758" y="790383"/>
                </a:lnTo>
                <a:lnTo>
                  <a:pt x="148782" y="785531"/>
                </a:lnTo>
                <a:lnTo>
                  <a:pt x="166571" y="777445"/>
                </a:lnTo>
                <a:lnTo>
                  <a:pt x="181125" y="766125"/>
                </a:lnTo>
                <a:lnTo>
                  <a:pt x="192446" y="751570"/>
                </a:lnTo>
                <a:lnTo>
                  <a:pt x="200532" y="733781"/>
                </a:lnTo>
                <a:lnTo>
                  <a:pt x="205383" y="712758"/>
                </a:lnTo>
                <a:lnTo>
                  <a:pt x="207001" y="688500"/>
                </a:lnTo>
                <a:lnTo>
                  <a:pt x="207001" y="103500"/>
                </a:lnTo>
                <a:lnTo>
                  <a:pt x="208618" y="79242"/>
                </a:lnTo>
                <a:lnTo>
                  <a:pt x="213469" y="58219"/>
                </a:lnTo>
                <a:lnTo>
                  <a:pt x="221555" y="40430"/>
                </a:lnTo>
                <a:lnTo>
                  <a:pt x="232876" y="25875"/>
                </a:lnTo>
                <a:lnTo>
                  <a:pt x="247430" y="14555"/>
                </a:lnTo>
                <a:lnTo>
                  <a:pt x="265219" y="6469"/>
                </a:lnTo>
                <a:lnTo>
                  <a:pt x="286243" y="1617"/>
                </a:lnTo>
                <a:lnTo>
                  <a:pt x="310501" y="0"/>
                </a:lnTo>
                <a:lnTo>
                  <a:pt x="414001" y="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6552000" y="971999"/>
            <a:ext cx="324000" cy="4572001"/>
          </a:xfrm>
          <a:custGeom>
            <a:avLst/>
            <a:gdLst/>
            <a:ahLst/>
            <a:cxnLst/>
            <a:rect l="l" t="t" r="r" b="b"/>
            <a:pathLst>
              <a:path w="324000" h="4572001">
                <a:moveTo>
                  <a:pt x="0" y="4572001"/>
                </a:moveTo>
                <a:lnTo>
                  <a:pt x="81000" y="4572001"/>
                </a:lnTo>
                <a:lnTo>
                  <a:pt x="99984" y="4570735"/>
                </a:lnTo>
                <a:lnTo>
                  <a:pt x="116437" y="4566938"/>
                </a:lnTo>
                <a:lnTo>
                  <a:pt x="130359" y="4560610"/>
                </a:lnTo>
                <a:lnTo>
                  <a:pt x="141750" y="4551751"/>
                </a:lnTo>
                <a:lnTo>
                  <a:pt x="150609" y="4540360"/>
                </a:lnTo>
                <a:lnTo>
                  <a:pt x="156937" y="4526438"/>
                </a:lnTo>
                <a:lnTo>
                  <a:pt x="160734" y="4509985"/>
                </a:lnTo>
                <a:lnTo>
                  <a:pt x="162000" y="4491001"/>
                </a:lnTo>
                <a:lnTo>
                  <a:pt x="162000" y="81000"/>
                </a:lnTo>
                <a:lnTo>
                  <a:pt x="163266" y="62016"/>
                </a:lnTo>
                <a:lnTo>
                  <a:pt x="167062" y="45563"/>
                </a:lnTo>
                <a:lnTo>
                  <a:pt x="173391" y="31641"/>
                </a:lnTo>
                <a:lnTo>
                  <a:pt x="182250" y="20250"/>
                </a:lnTo>
                <a:lnTo>
                  <a:pt x="193641" y="11391"/>
                </a:lnTo>
                <a:lnTo>
                  <a:pt x="207562" y="5063"/>
                </a:lnTo>
                <a:lnTo>
                  <a:pt x="224016" y="1266"/>
                </a:lnTo>
                <a:lnTo>
                  <a:pt x="243000" y="0"/>
                </a:lnTo>
                <a:lnTo>
                  <a:pt x="324000" y="0"/>
                </a:lnTo>
              </a:path>
            </a:pathLst>
          </a:custGeom>
          <a:noFill/>
          <a:ln w="16510" cap="rnd">
            <a:solidFill>
              <a:srgbClr val="2E5496"/>
            </a:solidFill>
            <a:round/>
            <a:tailEnd type="arrow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