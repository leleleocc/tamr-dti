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9" r:id="rId3"/>
  </p:sldIdLst>
  <p:sldSz cx="1219263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 userDrawn="1">
          <p15:clr>
            <a:srgbClr val="A4A3A4"/>
          </p15:clr>
        </p15:guide>
        <p15:guide id="2" pos="299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58"/>
        <p:guide pos="299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657" y="1143000"/>
            <a:ext cx="548668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9700" y="144145"/>
            <a:ext cx="5271135" cy="2339340"/>
          </a:xfrm>
          <a:prstGeom prst="roundRect">
            <a:avLst/>
          </a:prstGeom>
          <a:solidFill>
            <a:srgbClr val="F1F8F4"/>
          </a:solidFill>
          <a:ln w="12700" cap="sq">
            <a:solidFill>
              <a:srgbClr val="CED0D6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77825" y="205105"/>
            <a:ext cx="2879725" cy="212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266E46"/>
                </a:solidFill>
                <a:latin typeface="Arial" panose="020B0604020202020204"/>
              </a:rPr>
              <a:t>Drug Representation</a:t>
            </a:r>
            <a:endParaRPr sz="11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7665" y="504190"/>
            <a:ext cx="1259840" cy="5822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21570" y="522000"/>
            <a:ext cx="792000" cy="15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00" b="1">
                <a:solidFill>
                  <a:srgbClr val="266E46"/>
                </a:solidFill>
                <a:latin typeface="Arial" panose="020B0604020202020204"/>
              </a:rPr>
              <a:t>SMILES</a:t>
            </a:r>
            <a:endParaRPr sz="900" b="1">
              <a:solidFill>
                <a:srgbClr val="266E46"/>
              </a:solidFill>
              <a:latin typeface="Arial" panose="020B0604020202020204"/>
            </a:endParaRPr>
          </a:p>
        </p:txBody>
      </p:sp>
      <p:pic>
        <p:nvPicPr>
          <p:cNvPr id="6" name="Picture 5" descr="mo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880" y="620720"/>
            <a:ext cx="630000" cy="45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7665" y="1235075"/>
            <a:ext cx="1259840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2D Molecular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Graph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7665" y="1835785"/>
            <a:ext cx="1259840" cy="4679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K Conformers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+ Energy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009500" y="562030"/>
            <a:ext cx="936000" cy="45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ChemBERTa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09500" y="1235260"/>
            <a:ext cx="936000" cy="45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GCN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009500" y="1836100"/>
            <a:ext cx="936000" cy="45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66E46"/>
                </a:solidFill>
                <a:latin typeface="Arial" panose="020B0604020202020204"/>
              </a:rPr>
              <a:t>EGNN</a:t>
            </a:r>
            <a:endParaRPr sz="10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90900" y="538480"/>
            <a:ext cx="1767205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34325" y="567335"/>
            <a:ext cx="1749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20204"/>
              </a:rPr>
              <a:t>Molecular Semantics</a:t>
            </a:r>
            <a:endParaRPr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506325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47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231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815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39924" y="8072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8324" y="78569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391535" y="1205865"/>
            <a:ext cx="1767205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4960" y="1234850"/>
            <a:ext cx="1749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20204"/>
              </a:rPr>
              <a:t>Topology Tokens</a:t>
            </a:r>
            <a:endParaRPr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506960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653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237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821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40559" y="146718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8959" y="1445585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390900" y="1780540"/>
            <a:ext cx="730885" cy="53975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434080" y="1798955"/>
            <a:ext cx="687705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lang="en-US" altLang="zh-CN" sz="800" b="1">
                <a:solidFill>
                  <a:srgbClr val="266E46"/>
                </a:solidFill>
                <a:latin typeface="Arial" panose="020B0604020202020204"/>
              </a:rPr>
              <a:t>Conformer </a:t>
            </a:r>
            <a:br>
              <a:rPr lang="en-US" altLang="zh-CN" sz="800" b="1">
                <a:solidFill>
                  <a:srgbClr val="266E46"/>
                </a:solidFill>
                <a:latin typeface="Arial" panose="020B0604020202020204"/>
              </a:rPr>
            </a:br>
            <a:r>
              <a:rPr lang="en-US" altLang="zh-CN" sz="800" b="1">
                <a:solidFill>
                  <a:srgbClr val="266E46"/>
                </a:solidFill>
                <a:latin typeface="Arial" panose="020B0604020202020204"/>
              </a:rPr>
              <a:t>Summaries</a:t>
            </a:r>
            <a:endParaRPr lang="en-US" altLang="zh-CN"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73940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339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90739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20499" y="2083255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144145" y="2592070"/>
            <a:ext cx="5266690" cy="1642745"/>
          </a:xfrm>
          <a:prstGeom prst="roundRect">
            <a:avLst/>
          </a:prstGeom>
          <a:solidFill>
            <a:srgbClr val="FDF7EE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52990" y="2720625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000" b="1">
                <a:solidFill>
                  <a:srgbClr val="B06816"/>
                </a:solidFill>
                <a:latin typeface="Arial" panose="020B0604020202020204"/>
              </a:rPr>
              <a:t>Target-aware Conformer Weighting</a:t>
            </a:r>
            <a:endParaRPr sz="10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67665" y="2988945"/>
            <a:ext cx="1259840" cy="5060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210185" y="3039110"/>
            <a:ext cx="1522730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800" b="1">
                <a:solidFill>
                  <a:srgbClr val="2854A2"/>
                </a:solidFill>
                <a:latin typeface="Arial" panose="020B0604020202020204"/>
              </a:rPr>
              <a:t>Protein Seed</a:t>
            </a:r>
            <a:r>
              <a:rPr lang="en-US" sz="800" b="1">
                <a:solidFill>
                  <a:srgbClr val="2854A2"/>
                </a:solidFill>
                <a:latin typeface="Arial" panose="020B0604020202020204"/>
              </a:rPr>
              <a:t> </a:t>
            </a:r>
            <a:r>
              <a:rPr sz="800" b="1">
                <a:solidFill>
                  <a:srgbClr val="2854A2"/>
                </a:solidFill>
                <a:latin typeface="Arial" panose="020B0604020202020204"/>
              </a:rPr>
              <a:t>Context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1231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071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911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87794" y="326903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67665" y="3596640"/>
            <a:ext cx="1259840" cy="53975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34950" y="3646805"/>
            <a:ext cx="1449705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800" b="1">
                <a:solidFill>
                  <a:srgbClr val="B06816"/>
                </a:solidFill>
                <a:latin typeface="Arial" panose="020B0604020202020204"/>
              </a:rPr>
              <a:t>Energy Embedding</a:t>
            </a:r>
            <a:endParaRPr sz="8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535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19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03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8760" y="392839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7159" y="3906795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002155" y="3197225"/>
            <a:ext cx="481330" cy="720090"/>
          </a:xfrm>
          <a:prstGeom prst="roundRect">
            <a:avLst/>
          </a:prstGeom>
          <a:solidFill>
            <a:srgbClr val="FA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B06816"/>
                </a:solidFill>
                <a:latin typeface="Arial" panose="020B0604020202020204"/>
              </a:rPr>
              <a:t>MLP</a:t>
            </a:r>
            <a:endParaRPr sz="10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797690" y="2888110"/>
            <a:ext cx="936000" cy="15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900" b="1">
                <a:solidFill>
                  <a:srgbClr val="B06816"/>
                </a:solidFill>
                <a:latin typeface="Arial" panose="020B0604020202020204"/>
              </a:rPr>
              <a:t>α_k</a:t>
            </a:r>
            <a:endParaRPr sz="9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2797690" y="3108750"/>
            <a:ext cx="23076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3064450" y="3101549"/>
            <a:ext cx="342000" cy="158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850" b="0">
                <a:solidFill>
                  <a:srgbClr val="282828"/>
                </a:solidFill>
                <a:latin typeface="Arial" panose="020B0604020202020204"/>
              </a:rPr>
              <a:t>0.23</a:t>
            </a:r>
            <a:endParaRPr sz="85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797690" y="3396750"/>
            <a:ext cx="37764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3204345" y="3385740"/>
            <a:ext cx="342000" cy="158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850" b="0">
                <a:solidFill>
                  <a:srgbClr val="282828"/>
                </a:solidFill>
                <a:latin typeface="Arial" panose="020B0604020202020204"/>
              </a:rPr>
              <a:t>0.47</a:t>
            </a:r>
            <a:endParaRPr sz="85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2797690" y="3861915"/>
            <a:ext cx="13896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948520" y="3854714"/>
            <a:ext cx="342000" cy="158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850" b="0">
                <a:solidFill>
                  <a:srgbClr val="282828"/>
                </a:solidFill>
                <a:latin typeface="Arial" panose="020B0604020202020204"/>
              </a:rPr>
              <a:t>0.08</a:t>
            </a:r>
            <a:endParaRPr sz="85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3791585" y="3435350"/>
            <a:ext cx="193675" cy="17907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068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800" b="1">
                <a:solidFill>
                  <a:srgbClr val="B06816"/>
                </a:solidFill>
                <a:latin typeface="Arial" panose="020B0604020202020204"/>
              </a:rPr>
              <a:t>×</a:t>
            </a:r>
            <a:endParaRPr sz="8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284345" y="3186430"/>
            <a:ext cx="827405" cy="70294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374515" y="3219450"/>
            <a:ext cx="885825" cy="206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B06816"/>
                </a:solidFill>
                <a:latin typeface="Arial" panose="020B0604020202020204"/>
              </a:rPr>
              <a:t>Target-aware</a:t>
            </a:r>
            <a:endParaRPr sz="800" b="1">
              <a:solidFill>
                <a:srgbClr val="B06816"/>
              </a:solidFill>
              <a:latin typeface="Arial" panose="020B0604020202020204"/>
            </a:endParaRPr>
          </a:p>
          <a:p>
            <a:pPr algn="l"/>
            <a:r>
              <a:rPr sz="800" b="1">
                <a:solidFill>
                  <a:srgbClr val="B06816"/>
                </a:solidFill>
                <a:latin typeface="Arial" panose="020B0604020202020204"/>
              </a:rPr>
              <a:t>Geometry Tokens</a:t>
            </a:r>
            <a:endParaRPr sz="8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399830" y="36731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58230" y="36731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16630" y="36731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75029" y="36515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543550" y="128270"/>
            <a:ext cx="1925320" cy="410591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5662930" y="226695"/>
            <a:ext cx="1821180" cy="27749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266E46"/>
                </a:solidFill>
                <a:latin typeface="Arial" panose="020B0604020202020204"/>
              </a:rPr>
              <a:t>Token-wise</a:t>
            </a:r>
            <a:r>
              <a:rPr lang="en-US" sz="1100" b="1">
                <a:solidFill>
                  <a:srgbClr val="266E46"/>
                </a:solidFill>
                <a:latin typeface="Arial" panose="020B0604020202020204"/>
              </a:rPr>
              <a:t> </a:t>
            </a:r>
            <a:r>
              <a:rPr sz="1100" b="1">
                <a:solidFill>
                  <a:srgbClr val="266E46"/>
                </a:solidFill>
                <a:latin typeface="Arial" panose="020B0604020202020204"/>
                <a:sym typeface="+mn-ea"/>
              </a:rPr>
              <a:t>Fusion Gate</a:t>
            </a:r>
            <a:endParaRPr sz="1100" b="1">
              <a:solidFill>
                <a:srgbClr val="266E46"/>
              </a:solidFill>
              <a:latin typeface="Arial" panose="020B0604020202020204"/>
            </a:endParaRPr>
          </a:p>
          <a:p>
            <a:pPr algn="l"/>
            <a:endParaRPr lang="en-US" sz="11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5807300" y="538390"/>
            <a:ext cx="1403999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5850499" y="567190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20204"/>
              </a:rPr>
              <a:t>1D Semantics  d_1d</a:t>
            </a:r>
            <a:endParaRPr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5922500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0900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39299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97699" y="71839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556100" y="69679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807300" y="997305"/>
            <a:ext cx="1403999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5850500" y="1026105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B06816"/>
                </a:solidFill>
                <a:latin typeface="Arial" panose="020B0604020202020204"/>
              </a:rPr>
              <a:t>2D/3D Geometry  d_geo</a:t>
            </a:r>
            <a:endParaRPr sz="8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5922500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080900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239299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97699" y="1177305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56100" y="1155705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5969300" y="1670685"/>
            <a:ext cx="1080000" cy="216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900" b="1">
                <a:solidFill>
                  <a:srgbClr val="266E46"/>
                </a:solidFill>
                <a:latin typeface="Arial" panose="020B0604020202020204"/>
              </a:rPr>
              <a:t>Gated Fusion</a:t>
            </a:r>
            <a:endParaRPr lang="en-US" altLang="zh-CN" sz="9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5807075" y="2211070"/>
            <a:ext cx="1403985" cy="509270"/>
          </a:xfrm>
          <a:prstGeom prst="rect">
            <a:avLst/>
          </a:prstGeom>
          <a:solidFill>
            <a:srgbClr val="D8ECDE"/>
          </a:solidFill>
          <a:ln w="10160"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5893680" y="2282105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20204"/>
              </a:rPr>
              <a:t>DURG : Fused Drug  D</a:t>
            </a:r>
            <a:endParaRPr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5951710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110110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268509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426909" y="250467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85310" y="248307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5807300" y="3544035"/>
            <a:ext cx="1403999" cy="46799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5850499" y="3572140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66E46"/>
                </a:solidFill>
                <a:latin typeface="Arial" panose="020B0604020202020204"/>
              </a:rPr>
              <a:t>Ligand Context  d_g</a:t>
            </a:r>
            <a:endParaRPr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5922500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080900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239299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97699" y="379534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556100" y="377374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159385" y="4349115"/>
            <a:ext cx="7324725" cy="2419350"/>
          </a:xfrm>
          <a:prstGeom prst="roundRect">
            <a:avLst/>
          </a:prstGeom>
          <a:solidFill>
            <a:srgbClr val="EFF4FC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421570" y="4442565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2854A2"/>
                </a:solidFill>
                <a:latin typeface="Arial" panose="020B0604020202020204"/>
              </a:rPr>
              <a:t>Protein Representation</a:t>
            </a:r>
            <a:endParaRPr sz="11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492760" y="4725035"/>
            <a:ext cx="1057275" cy="1838325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endParaRPr sz="8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29" name="Rounded Rectangle 128"/>
          <p:cNvSpPr/>
          <p:nvPr/>
        </p:nvSpPr>
        <p:spPr>
          <a:xfrm>
            <a:off x="1943735" y="5035550"/>
            <a:ext cx="739775" cy="680085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854A2"/>
                </a:solidFill>
                <a:latin typeface="Arial" panose="020B0604020202020204"/>
              </a:rPr>
              <a:t>ProtBERT</a:t>
            </a:r>
            <a:endParaRPr sz="10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3064510" y="4680585"/>
            <a:ext cx="880745" cy="50419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3107490" y="4709485"/>
            <a:ext cx="921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Protein Seed </a:t>
            </a:r>
            <a:r>
              <a:rPr lang="en-US"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Context </a:t>
            </a:r>
            <a:r>
              <a:rPr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P</a:t>
            </a:r>
            <a:r>
              <a:rPr lang="en-US"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_g</a:t>
            </a:r>
            <a:endParaRPr lang="en-US" sz="800" b="1">
              <a:solidFill>
                <a:srgbClr val="2854A2"/>
              </a:solidFill>
              <a:latin typeface="Arial" panose="020B0604020202020204"/>
              <a:sym typeface="+mn-ea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3179490" y="4968685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337890" y="4968685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496290" y="4968685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4690" y="4947085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1900555" y="6062345"/>
            <a:ext cx="871855" cy="50419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1943535" y="6091110"/>
            <a:ext cx="921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Protein Seed Tokens  P0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2015535" y="63503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173935" y="63503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332335" y="63503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90735" y="632871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42" name="Rounded Rectangle 141"/>
          <p:cNvSpPr/>
          <p:nvPr/>
        </p:nvSpPr>
        <p:spPr>
          <a:xfrm>
            <a:off x="4271010" y="4591685"/>
            <a:ext cx="967105" cy="198628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endParaRPr sz="95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43" name="Rounded Rectangle 142"/>
          <p:cNvSpPr/>
          <p:nvPr/>
        </p:nvSpPr>
        <p:spPr>
          <a:xfrm>
            <a:off x="5666105" y="5169535"/>
            <a:ext cx="1301750" cy="1546225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</a:p>
          <a:p>
            <a:pPr algn="ctr"/>
          </a:p>
          <a:p>
            <a:pPr algn="ctr"/>
            <a:endParaRPr sz="95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5807075" y="4471670"/>
            <a:ext cx="1002030" cy="504190"/>
          </a:xfrm>
          <a:prstGeom prst="rect">
            <a:avLst/>
          </a:prstGeom>
          <a:solidFill>
            <a:srgbClr val="D6E3F6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5844540" y="4530090"/>
            <a:ext cx="1029335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20204"/>
              </a:rPr>
              <a:t>Protein Tokens  P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6138870" y="475640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968975" y="475640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312795" y="4756404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491515" y="4725279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7631430" y="144780"/>
            <a:ext cx="4429125" cy="4866640"/>
          </a:xfrm>
          <a:prstGeom prst="roundRect">
            <a:avLst/>
          </a:prstGeom>
          <a:solidFill>
            <a:srgbClr val="F7F7F9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8259005" y="201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6242AA"/>
                </a:solidFill>
                <a:latin typeface="Arial" panose="020B0604020202020204"/>
              </a:rPr>
              <a:t>Protein-Mamba BiIntention Fusion</a:t>
            </a:r>
            <a:endParaRPr sz="1100" b="1">
              <a:solidFill>
                <a:srgbClr val="6242AA"/>
              </a:solidFill>
              <a:latin typeface="Arial" panose="020B0604020202020204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8529320" y="703580"/>
            <a:ext cx="1262380" cy="690245"/>
          </a:xfrm>
          <a:prstGeom prst="roundRect">
            <a:avLst/>
          </a:prstGeom>
          <a:solidFill>
            <a:srgbClr val="E3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endParaRPr sz="1000" b="1">
              <a:solidFill>
                <a:srgbClr val="6242AA"/>
              </a:solidFill>
              <a:latin typeface="Arial" panose="020B0604020202020204"/>
              <a:sym typeface="+mn-ea"/>
            </a:endParaRPr>
          </a:p>
          <a:p>
            <a:pPr algn="ctr"/>
            <a:r>
              <a:rPr sz="1000" b="1">
                <a:solidFill>
                  <a:srgbClr val="6242AA"/>
                </a:solidFill>
                <a:latin typeface="Arial" panose="020B0604020202020204"/>
                <a:sym typeface="+mn-ea"/>
              </a:rPr>
              <a:t>Bidirectional</a:t>
            </a:r>
            <a:endParaRPr sz="1000" b="1">
              <a:solidFill>
                <a:srgbClr val="6242AA"/>
              </a:solidFill>
              <a:latin typeface="Arial" panose="020B0604020202020204"/>
            </a:endParaRPr>
          </a:p>
          <a:p>
            <a:pPr algn="ctr"/>
            <a:r>
              <a:rPr sz="1000" b="1">
                <a:solidFill>
                  <a:srgbClr val="6242AA"/>
                </a:solidFill>
                <a:latin typeface="Arial" panose="020B0604020202020204"/>
                <a:sym typeface="+mn-ea"/>
              </a:rPr>
              <a:t>Mamba (SSM)</a:t>
            </a:r>
            <a:endParaRPr sz="1000" b="1">
              <a:solidFill>
                <a:srgbClr val="6242AA"/>
              </a:solidFill>
              <a:latin typeface="Arial" panose="020B0604020202020204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10105155" y="791999"/>
            <a:ext cx="360000" cy="36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24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00" b="1">
                <a:solidFill>
                  <a:srgbClr val="6242AA"/>
                </a:solidFill>
                <a:latin typeface="Arial" panose="020B0604020202020204"/>
              </a:rPr>
              <a:t>g </a:t>
            </a:r>
            <a:endParaRPr sz="900" b="1">
              <a:solidFill>
                <a:srgbClr val="6242AA"/>
              </a:solidFill>
              <a:latin typeface="Arial" panose="020B0604020202020204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10760075" y="767080"/>
            <a:ext cx="1019175" cy="467995"/>
          </a:xfrm>
          <a:prstGeom prst="rect">
            <a:avLst/>
          </a:prstGeom>
          <a:solidFill>
            <a:srgbClr val="E3DCF3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10803290" y="796010"/>
            <a:ext cx="1065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6242AA"/>
                </a:solidFill>
                <a:latin typeface="Arial" panose="020B0604020202020204"/>
              </a:rPr>
              <a:t>Refined Protein  P'</a:t>
            </a:r>
            <a:endParaRPr sz="800" b="1">
              <a:solidFill>
                <a:srgbClr val="6242AA"/>
              </a:solidFill>
              <a:latin typeface="Arial" panose="020B0604020202020204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875290" y="10192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1033690" y="10192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1192090" y="101920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350490" y="997609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cxnSp>
        <p:nvCxnSpPr>
          <p:cNvPr id="177" name="Connector 176"/>
          <p:cNvCxnSpPr/>
          <p:nvPr/>
        </p:nvCxnSpPr>
        <p:spPr>
          <a:xfrm>
            <a:off x="9853155" y="971999"/>
            <a:ext cx="252000" cy="0"/>
          </a:xfrm>
          <a:prstGeom prst="line">
            <a:avLst/>
          </a:prstGeom>
          <a:ln w="16510" cap="rnd">
            <a:solidFill>
              <a:srgbClr val="6242AA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0465155" y="971999"/>
            <a:ext cx="180000" cy="0"/>
          </a:xfrm>
          <a:prstGeom prst="line">
            <a:avLst/>
          </a:prstGeom>
          <a:ln w="16510" cap="rnd">
            <a:solidFill>
              <a:srgbClr val="6242AA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unded Rectangle 178"/>
          <p:cNvSpPr/>
          <p:nvPr/>
        </p:nvSpPr>
        <p:spPr>
          <a:xfrm>
            <a:off x="7942580" y="1835785"/>
            <a:ext cx="3825875" cy="2988310"/>
          </a:xfrm>
          <a:prstGeom prst="roundRect">
            <a:avLst/>
          </a:prstGeom>
          <a:solidFill>
            <a:srgbClr val="EFF4FC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8280000" y="1886400"/>
            <a:ext cx="33119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2854A2"/>
                </a:solidFill>
                <a:latin typeface="Arial" panose="020B0604020202020204"/>
              </a:rPr>
              <a:t>BiIntention · Bidirectional Cross-Attention</a:t>
            </a:r>
            <a:endParaRPr sz="10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81" name="Rounded Rectangle 180"/>
          <p:cNvSpPr/>
          <p:nvPr/>
        </p:nvSpPr>
        <p:spPr>
          <a:xfrm>
            <a:off x="8143085" y="2320020"/>
            <a:ext cx="1548000" cy="540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900" b="1">
                <a:solidFill>
                  <a:srgbClr val="2854A2"/>
                </a:solidFill>
                <a:latin typeface="Arial" panose="020B0604020202020204"/>
              </a:rPr>
              <a:t>Protein-guided</a:t>
            </a:r>
            <a:br>
              <a:rPr lang="en-US" sz="900" b="1">
                <a:solidFill>
                  <a:srgbClr val="2854A2"/>
                </a:solidFill>
                <a:latin typeface="Arial" panose="020B0604020202020204"/>
              </a:rPr>
            </a:br>
            <a:r>
              <a:rPr lang="en-US" sz="900" b="1">
                <a:solidFill>
                  <a:srgbClr val="2854A2"/>
                </a:solidFill>
                <a:latin typeface="Arial" panose="020B0604020202020204"/>
              </a:rPr>
              <a:t>Drug Intention</a:t>
            </a:r>
            <a:endParaRPr lang="en-US" sz="9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182" name="Rounded Rectangle 181"/>
          <p:cNvSpPr/>
          <p:nvPr/>
        </p:nvSpPr>
        <p:spPr>
          <a:xfrm>
            <a:off x="10008195" y="2320020"/>
            <a:ext cx="1548000" cy="540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900" b="1">
                <a:solidFill>
                  <a:srgbClr val="2854A2"/>
                </a:solidFill>
                <a:latin typeface="Arial" panose="020B0604020202020204"/>
                <a:sym typeface="+mn-ea"/>
              </a:rPr>
              <a:t>Drug-guided</a:t>
            </a:r>
            <a:br>
              <a:rPr lang="en-US" sz="900" b="1">
                <a:solidFill>
                  <a:srgbClr val="2854A2"/>
                </a:solidFill>
                <a:latin typeface="Arial" panose="020B0604020202020204"/>
                <a:sym typeface="+mn-ea"/>
              </a:rPr>
            </a:br>
            <a:r>
              <a:rPr lang="en-US" sz="900" b="1">
                <a:solidFill>
                  <a:srgbClr val="2854A2"/>
                </a:solidFill>
                <a:latin typeface="Arial" panose="020B0604020202020204"/>
                <a:sym typeface="+mn-ea"/>
              </a:rPr>
              <a:t>Protein Intention</a:t>
            </a:r>
            <a:endParaRPr sz="9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252" name="Rounded Rectangle 251"/>
          <p:cNvSpPr/>
          <p:nvPr/>
        </p:nvSpPr>
        <p:spPr>
          <a:xfrm>
            <a:off x="10220325" y="3257550"/>
            <a:ext cx="1008000" cy="33909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1">
              <a:solidFill>
                <a:srgbClr val="2854A2"/>
              </a:solidFill>
              <a:latin typeface="Arial" panose="020B0604020202020204"/>
            </a:endParaRPr>
          </a:p>
          <a:p>
            <a:pPr algn="ctr"/>
            <a:r>
              <a:rPr sz="900" b="1">
                <a:solidFill>
                  <a:srgbClr val="2854A2"/>
                </a:solidFill>
                <a:latin typeface="Arial" panose="020B0604020202020204"/>
              </a:rPr>
              <a:t>Max</a:t>
            </a:r>
            <a:r>
              <a:rPr lang="en-US" sz="900" b="1">
                <a:solidFill>
                  <a:srgbClr val="2854A2"/>
                </a:solidFill>
                <a:latin typeface="Arial" panose="020B0604020202020204"/>
              </a:rPr>
              <a:t> </a:t>
            </a:r>
            <a:r>
              <a:rPr sz="900" b="1">
                <a:solidFill>
                  <a:srgbClr val="2854A2"/>
                </a:solidFill>
                <a:latin typeface="Arial" panose="020B0604020202020204"/>
              </a:rPr>
              <a:t>Pool</a:t>
            </a:r>
            <a:r>
              <a:rPr lang="en-US" sz="900" b="1">
                <a:solidFill>
                  <a:srgbClr val="2854A2"/>
                </a:solidFill>
                <a:latin typeface="Arial" panose="020B0604020202020204"/>
              </a:rPr>
              <a:t>ing</a:t>
            </a:r>
            <a:endParaRPr sz="900" b="1">
              <a:solidFill>
                <a:srgbClr val="2854A2"/>
              </a:solidFill>
              <a:latin typeface="Arial" panose="020B0604020202020204"/>
            </a:endParaRPr>
          </a:p>
          <a:p>
            <a:pPr algn="ctr"/>
            <a:endParaRPr sz="9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253" name="Rectangle 252"/>
          <p:cNvSpPr/>
          <p:nvPr/>
        </p:nvSpPr>
        <p:spPr>
          <a:xfrm>
            <a:off x="9017635" y="4058285"/>
            <a:ext cx="1676400" cy="539750"/>
          </a:xfrm>
          <a:prstGeom prst="rect">
            <a:avLst/>
          </a:prstGeom>
          <a:solidFill>
            <a:srgbClr val="D6E3F6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9242425" y="4147185"/>
            <a:ext cx="1200150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800" b="1">
                <a:solidFill>
                  <a:srgbClr val="2854A2"/>
                </a:solidFill>
                <a:latin typeface="Arial" panose="020B0604020202020204"/>
              </a:rPr>
              <a:t>Joint Representation  f  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255" name="Rectangle 254"/>
          <p:cNvSpPr/>
          <p:nvPr/>
        </p:nvSpPr>
        <p:spPr>
          <a:xfrm>
            <a:off x="9195745" y="437764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935265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509495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966634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9823185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998003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0136875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0442340" y="433572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64" name="Freeform 263"/>
          <p:cNvSpPr/>
          <p:nvPr/>
        </p:nvSpPr>
        <p:spPr>
          <a:xfrm>
            <a:off x="10666730" y="1235710"/>
            <a:ext cx="618490" cy="637540"/>
          </a:xfrm>
          <a:custGeom>
            <a:avLst/>
            <a:gdLst/>
            <a:ahLst/>
            <a:cxnLst/>
            <a:rect l="l" t="t" r="r" b="b"/>
            <a:pathLst>
              <a:path w="378000" h="954001">
                <a:moveTo>
                  <a:pt x="378000" y="0"/>
                </a:moveTo>
                <a:lnTo>
                  <a:pt x="378000" y="369000"/>
                </a:lnTo>
                <a:lnTo>
                  <a:pt x="376313" y="394313"/>
                </a:lnTo>
                <a:lnTo>
                  <a:pt x="371250" y="416250"/>
                </a:lnTo>
                <a:lnTo>
                  <a:pt x="362812" y="434813"/>
                </a:lnTo>
                <a:lnTo>
                  <a:pt x="351000" y="450000"/>
                </a:lnTo>
                <a:lnTo>
                  <a:pt x="335812" y="461813"/>
                </a:lnTo>
                <a:lnTo>
                  <a:pt x="317250" y="470250"/>
                </a:lnTo>
                <a:lnTo>
                  <a:pt x="295312" y="475313"/>
                </a:lnTo>
                <a:lnTo>
                  <a:pt x="270000" y="477000"/>
                </a:lnTo>
                <a:lnTo>
                  <a:pt x="108000" y="477000"/>
                </a:lnTo>
                <a:lnTo>
                  <a:pt x="82688" y="478688"/>
                </a:lnTo>
                <a:lnTo>
                  <a:pt x="60750" y="483750"/>
                </a:lnTo>
                <a:lnTo>
                  <a:pt x="42188" y="492188"/>
                </a:lnTo>
                <a:lnTo>
                  <a:pt x="27000" y="504000"/>
                </a:lnTo>
                <a:lnTo>
                  <a:pt x="15188" y="519188"/>
                </a:lnTo>
                <a:lnTo>
                  <a:pt x="6750" y="537750"/>
                </a:lnTo>
                <a:lnTo>
                  <a:pt x="1687" y="559688"/>
                </a:lnTo>
                <a:lnTo>
                  <a:pt x="0" y="585000"/>
                </a:lnTo>
                <a:lnTo>
                  <a:pt x="0" y="954001"/>
                </a:lnTo>
              </a:path>
            </a:pathLst>
          </a:custGeom>
          <a:noFill/>
          <a:ln w="16510" cap="rnd">
            <a:solidFill>
              <a:srgbClr val="6242AA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ounded Rectangle 278"/>
          <p:cNvSpPr/>
          <p:nvPr/>
        </p:nvSpPr>
        <p:spPr>
          <a:xfrm>
            <a:off x="7615555" y="5111750"/>
            <a:ext cx="4444365" cy="1656080"/>
          </a:xfrm>
          <a:prstGeom prst="roundRect">
            <a:avLst/>
          </a:prstGeom>
          <a:solidFill>
            <a:srgbClr val="FDF5F2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9952990" y="5184775"/>
            <a:ext cx="2077085" cy="2159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100" b="1">
                <a:solidFill>
                  <a:srgbClr val="B23A24"/>
                </a:solidFill>
                <a:latin typeface="Arial" panose="020B0604020202020204"/>
              </a:rPr>
              <a:t>Interaction Prediction Head</a:t>
            </a:r>
            <a:endParaRPr sz="1100" b="1">
              <a:solidFill>
                <a:srgbClr val="B23A24"/>
              </a:solidFill>
              <a:latin typeface="Arial" panose="020B0604020202020204"/>
            </a:endParaRPr>
          </a:p>
        </p:txBody>
      </p:sp>
      <p:sp>
        <p:nvSpPr>
          <p:cNvPr id="281" name="Rounded Rectangle 280"/>
          <p:cNvSpPr/>
          <p:nvPr/>
        </p:nvSpPr>
        <p:spPr>
          <a:xfrm>
            <a:off x="7942580" y="5730875"/>
            <a:ext cx="920750" cy="669925"/>
          </a:xfrm>
          <a:prstGeom prst="roundRect">
            <a:avLst/>
          </a:prstGeom>
          <a:solidFill>
            <a:srgbClr val="F7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000" b="1">
                <a:solidFill>
                  <a:srgbClr val="B23A24"/>
                </a:solidFill>
                <a:latin typeface="Arial" panose="020B0604020202020204"/>
              </a:rPr>
              <a:t>MLP</a:t>
            </a:r>
            <a:endParaRPr sz="1000" b="1">
              <a:solidFill>
                <a:srgbClr val="B23A24"/>
              </a:solidFill>
              <a:latin typeface="Arial" panose="020B0604020202020204"/>
            </a:endParaRPr>
          </a:p>
        </p:txBody>
      </p:sp>
      <p:sp>
        <p:nvSpPr>
          <p:cNvPr id="310" name="Rounded Rectangle 309"/>
          <p:cNvSpPr/>
          <p:nvPr/>
        </p:nvSpPr>
        <p:spPr>
          <a:xfrm>
            <a:off x="10338790" y="5523070"/>
            <a:ext cx="1440000" cy="1080000"/>
          </a:xfrm>
          <a:prstGeom prst="roundRect">
            <a:avLst/>
          </a:prstGeom>
          <a:solidFill>
            <a:srgbClr val="F7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1100" b="1">
                <a:solidFill>
                  <a:srgbClr val="B23A24"/>
                </a:solidFill>
                <a:latin typeface="Arial" panose="020B0604020202020204"/>
              </a:rPr>
              <a:t>ŷ ∈ [0, 1]</a:t>
            </a:r>
            <a:endParaRPr sz="1100" b="1">
              <a:solidFill>
                <a:srgbClr val="B23A24"/>
              </a:solidFill>
              <a:latin typeface="Arial" panose="020B0604020202020204"/>
            </a:endParaRPr>
          </a:p>
          <a:p>
            <a:pPr algn="ctr"/>
          </a:p>
          <a:p>
            <a:pPr algn="ctr"/>
            <a:r>
              <a:rPr sz="1100" b="1">
                <a:solidFill>
                  <a:srgbClr val="B23A24"/>
                </a:solidFill>
                <a:latin typeface="Arial" panose="020B0604020202020204"/>
              </a:rPr>
              <a:t>Interaction</a:t>
            </a:r>
            <a:endParaRPr sz="1100" b="1">
              <a:solidFill>
                <a:srgbClr val="B23A24"/>
              </a:solidFill>
              <a:latin typeface="Arial" panose="020B0604020202020204"/>
            </a:endParaRPr>
          </a:p>
          <a:p>
            <a:pPr algn="ctr"/>
            <a:r>
              <a:rPr sz="1100" b="1">
                <a:solidFill>
                  <a:srgbClr val="B23A24"/>
                </a:solidFill>
                <a:latin typeface="Arial" panose="020B0604020202020204"/>
              </a:rPr>
              <a:t>Probability</a:t>
            </a:r>
            <a:endParaRPr sz="1100" b="1">
              <a:solidFill>
                <a:srgbClr val="B23A24"/>
              </a:solidFill>
              <a:latin typeface="Arial" panose="020B0604020202020204"/>
            </a:endParaRPr>
          </a:p>
        </p:txBody>
      </p:sp>
      <p:sp>
        <p:nvSpPr>
          <p:cNvPr id="37" name="Rectangle 46"/>
          <p:cNvSpPr/>
          <p:nvPr/>
        </p:nvSpPr>
        <p:spPr>
          <a:xfrm>
            <a:off x="453560" y="329063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文本框 39"/>
          <p:cNvSpPr txBox="1"/>
          <p:nvPr/>
        </p:nvSpPr>
        <p:spPr>
          <a:xfrm>
            <a:off x="2772410" y="3444240"/>
            <a:ext cx="5734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...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17" name="文本框 316"/>
          <p:cNvSpPr txBox="1"/>
          <p:nvPr/>
        </p:nvSpPr>
        <p:spPr>
          <a:xfrm>
            <a:off x="385445" y="6047740"/>
            <a:ext cx="1305560" cy="598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MAVSEQLKVEEL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  <a:p>
            <a:pPr algn="ctr">
              <a:buClrTx/>
              <a:buSzTx/>
              <a:buNone/>
            </a:pPr>
            <a:r>
              <a:rPr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LSKNYHLENEVAR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  <a:p>
            <a:pPr algn="ctr">
              <a:buClrTx/>
              <a:buSzTx/>
              <a:buNone/>
            </a:pPr>
            <a:r>
              <a:rPr sz="800" b="1">
                <a:solidFill>
                  <a:srgbClr val="2854A2"/>
                </a:solidFill>
                <a:latin typeface="Arial" panose="020B0604020202020204"/>
                <a:sym typeface="+mn-ea"/>
              </a:rPr>
              <a:t>LKKLV ...</a:t>
            </a:r>
            <a:endParaRPr sz="8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324" name="文本框 323"/>
          <p:cNvSpPr txBox="1"/>
          <p:nvPr/>
        </p:nvSpPr>
        <p:spPr>
          <a:xfrm>
            <a:off x="469900" y="4756150"/>
            <a:ext cx="1065530" cy="3835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buClrTx/>
              <a:buSzTx/>
              <a:buNone/>
            </a:pPr>
            <a:r>
              <a:rPr sz="950" b="1">
                <a:solidFill>
                  <a:srgbClr val="2854A2"/>
                </a:solidFill>
                <a:latin typeface="Arial" panose="020B0604020202020204"/>
                <a:sym typeface="+mn-ea"/>
              </a:rPr>
              <a:t>Protein Sequenc</a:t>
            </a:r>
            <a:r>
              <a:rPr lang="en-US" sz="950" b="1">
                <a:solidFill>
                  <a:srgbClr val="2854A2"/>
                </a:solidFill>
                <a:latin typeface="Arial" panose="020B0604020202020204"/>
                <a:sym typeface="+mn-ea"/>
              </a:rPr>
              <a:t>e</a:t>
            </a:r>
            <a:endParaRPr lang="en-US" sz="950" b="1">
              <a:solidFill>
                <a:srgbClr val="2854A2"/>
              </a:solidFill>
              <a:latin typeface="Arial" panose="020B0604020202020204"/>
              <a:sym typeface="+mn-ea"/>
            </a:endParaRPr>
          </a:p>
        </p:txBody>
      </p:sp>
      <p:sp>
        <p:nvSpPr>
          <p:cNvPr id="340" name="Rectangle 27"/>
          <p:cNvSpPr/>
          <p:nvPr/>
        </p:nvSpPr>
        <p:spPr>
          <a:xfrm>
            <a:off x="4201160" y="1780540"/>
            <a:ext cx="956945" cy="53975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341" name="Rectangle 28"/>
          <p:cNvSpPr/>
          <p:nvPr/>
        </p:nvSpPr>
        <p:spPr>
          <a:xfrm>
            <a:off x="4267835" y="1798955"/>
            <a:ext cx="829945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lang="en-US" altLang="zh-CN" sz="800" b="1">
                <a:solidFill>
                  <a:srgbClr val="266E46"/>
                </a:solidFill>
                <a:latin typeface="Arial" panose="020B0604020202020204"/>
              </a:rPr>
              <a:t>Conformer </a:t>
            </a:r>
            <a:br>
              <a:rPr lang="en-US" altLang="zh-CN" sz="800" b="1">
                <a:solidFill>
                  <a:srgbClr val="266E46"/>
                </a:solidFill>
                <a:latin typeface="Arial" panose="020B0604020202020204"/>
              </a:rPr>
            </a:br>
            <a:r>
              <a:rPr lang="en-US" altLang="zh-CN" sz="800" b="1">
                <a:solidFill>
                  <a:srgbClr val="266E46"/>
                </a:solidFill>
                <a:latin typeface="Arial" panose="020B0604020202020204"/>
              </a:rPr>
              <a:t>representations</a:t>
            </a:r>
            <a:endParaRPr lang="en-US" altLang="zh-CN" sz="8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342" name="Rectangle 29"/>
          <p:cNvSpPr/>
          <p:nvPr/>
        </p:nvSpPr>
        <p:spPr>
          <a:xfrm>
            <a:off x="4316585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0"/>
          <p:cNvSpPr/>
          <p:nvPr/>
        </p:nvSpPr>
        <p:spPr>
          <a:xfrm>
            <a:off x="4474984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1"/>
          <p:cNvSpPr/>
          <p:nvPr/>
        </p:nvSpPr>
        <p:spPr>
          <a:xfrm>
            <a:off x="4633384" y="2104855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"/>
          <p:cNvSpPr/>
          <p:nvPr/>
        </p:nvSpPr>
        <p:spPr>
          <a:xfrm>
            <a:off x="4763144" y="2083255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l"/>
            <a:r>
              <a:rPr sz="1100" b="1">
                <a:solidFill>
                  <a:srgbClr val="282828"/>
                </a:solidFill>
                <a:latin typeface="Arial" panose="020B0604020202020204"/>
              </a:rPr>
              <a:t>...</a:t>
            </a:r>
            <a:endParaRPr sz="1100" b="1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353" name="Rounded Rectangle 128"/>
          <p:cNvSpPr/>
          <p:nvPr/>
        </p:nvSpPr>
        <p:spPr>
          <a:xfrm>
            <a:off x="2987040" y="5628640"/>
            <a:ext cx="998220" cy="4191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900" b="1">
                <a:solidFill>
                  <a:srgbClr val="2854A2"/>
                </a:solidFill>
                <a:latin typeface="Arial" panose="020B0604020202020204"/>
              </a:rPr>
              <a:t>Masked Mean Pooling</a:t>
            </a:r>
            <a:endParaRPr lang="en-US" altLang="zh-CN" sz="9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363" name="文本框 362"/>
          <p:cNvSpPr txBox="1"/>
          <p:nvPr/>
        </p:nvSpPr>
        <p:spPr>
          <a:xfrm>
            <a:off x="4216400" y="4615180"/>
            <a:ext cx="1043940" cy="6248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000" b="1">
                <a:solidFill>
                  <a:srgbClr val="2854A2"/>
                </a:solidFill>
                <a:latin typeface="Arial" panose="020B0604020202020204"/>
                <a:sym typeface="+mn-ea"/>
              </a:rPr>
              <a:t>Ligand-conditioned</a:t>
            </a:r>
            <a:endParaRPr sz="1000" b="1">
              <a:solidFill>
                <a:srgbClr val="2854A2"/>
              </a:solidFill>
              <a:latin typeface="Arial" panose="020B0604020202020204"/>
            </a:endParaRPr>
          </a:p>
          <a:p>
            <a:pPr algn="ctr"/>
            <a:r>
              <a:rPr sz="1000" b="1">
                <a:solidFill>
                  <a:srgbClr val="2854A2"/>
                </a:solidFill>
                <a:latin typeface="Arial" panose="020B0604020202020204"/>
                <a:sym typeface="+mn-ea"/>
              </a:rPr>
              <a:t>FiLM</a:t>
            </a:r>
            <a:endParaRPr lang="zh-CN" altLang="en-US" sz="1000"/>
          </a:p>
        </p:txBody>
      </p:sp>
      <p:sp>
        <p:nvSpPr>
          <p:cNvPr id="369" name="Rounded Rectangle 128"/>
          <p:cNvSpPr/>
          <p:nvPr/>
        </p:nvSpPr>
        <p:spPr>
          <a:xfrm>
            <a:off x="5844540" y="6173470"/>
            <a:ext cx="963295" cy="377825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1000" b="1">
                <a:solidFill>
                  <a:srgbClr val="2854A2"/>
                </a:solidFill>
                <a:latin typeface="Arial" panose="020B0604020202020204"/>
              </a:rPr>
              <a:t>Feed Forward</a:t>
            </a:r>
            <a:endParaRPr lang="en-US" sz="10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370" name="Rounded Rectangle 128"/>
          <p:cNvSpPr/>
          <p:nvPr/>
        </p:nvSpPr>
        <p:spPr>
          <a:xfrm>
            <a:off x="5844540" y="5342255"/>
            <a:ext cx="963295" cy="30226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sz="1000" b="1">
                <a:solidFill>
                  <a:srgbClr val="2854A2"/>
                </a:solidFill>
                <a:latin typeface="Arial" panose="020B0604020202020204"/>
              </a:rPr>
              <a:t>ACmix</a:t>
            </a:r>
            <a:endParaRPr lang="en-US" sz="10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371" name="Oval 66"/>
          <p:cNvSpPr/>
          <p:nvPr/>
        </p:nvSpPr>
        <p:spPr>
          <a:xfrm>
            <a:off x="6229350" y="5837555"/>
            <a:ext cx="193675" cy="17907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068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800" b="1">
                <a:solidFill>
                  <a:srgbClr val="B06816"/>
                </a:solidFill>
                <a:latin typeface="Arial" panose="020B0604020202020204"/>
              </a:rPr>
              <a:t>×</a:t>
            </a:r>
            <a:endParaRPr sz="800" b="1">
              <a:solidFill>
                <a:srgbClr val="B06816"/>
              </a:solidFill>
              <a:latin typeface="Arial" panose="020B0604020202020204"/>
            </a:endParaRPr>
          </a:p>
        </p:txBody>
      </p:sp>
      <p:sp>
        <p:nvSpPr>
          <p:cNvPr id="377" name="Rounded Rectangle 128"/>
          <p:cNvSpPr/>
          <p:nvPr/>
        </p:nvSpPr>
        <p:spPr>
          <a:xfrm>
            <a:off x="4373245" y="5260340"/>
            <a:ext cx="759600" cy="26280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8800" tIns="14400" rIns="28800" bIns="1440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000" b="1">
                <a:solidFill>
                  <a:srgbClr val="2854A2"/>
                </a:solidFill>
                <a:latin typeface="Arial" panose="020B0604020202020204"/>
                <a:sym typeface="+mn-ea"/>
              </a:rPr>
              <a:t>Linear</a:t>
            </a:r>
            <a:endParaRPr lang="en-US" sz="1000" b="1">
              <a:solidFill>
                <a:srgbClr val="2854A2"/>
              </a:solidFill>
              <a:latin typeface="Arial" panose="020B0604020202020204"/>
              <a:sym typeface="+mn-ea"/>
            </a:endParaRPr>
          </a:p>
        </p:txBody>
      </p:sp>
      <p:sp>
        <p:nvSpPr>
          <p:cNvPr id="378" name="Rounded Rectangle 128"/>
          <p:cNvSpPr/>
          <p:nvPr/>
        </p:nvSpPr>
        <p:spPr>
          <a:xfrm>
            <a:off x="4374515" y="5715635"/>
            <a:ext cx="759600" cy="26280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8800" tIns="14400" rIns="28800" bIns="1440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000" b="1">
                <a:solidFill>
                  <a:srgbClr val="2854A2"/>
                </a:solidFill>
                <a:latin typeface="Arial" panose="020B0604020202020204"/>
                <a:sym typeface="+mn-ea"/>
              </a:rPr>
              <a:t>SiLU</a:t>
            </a:r>
            <a:endParaRPr lang="en-US" sz="1000" b="1">
              <a:solidFill>
                <a:srgbClr val="2854A2"/>
              </a:solidFill>
              <a:latin typeface="Arial" panose="020B0604020202020204"/>
              <a:sym typeface="+mn-ea"/>
            </a:endParaRPr>
          </a:p>
        </p:txBody>
      </p:sp>
      <p:sp>
        <p:nvSpPr>
          <p:cNvPr id="379" name="Rounded Rectangle 128"/>
          <p:cNvSpPr/>
          <p:nvPr/>
        </p:nvSpPr>
        <p:spPr>
          <a:xfrm>
            <a:off x="4373245" y="6137910"/>
            <a:ext cx="760730" cy="262890"/>
          </a:xfrm>
          <a:prstGeom prst="roundRect">
            <a:avLst/>
          </a:prstGeom>
          <a:solidFill>
            <a:srgbClr val="D6E3F6"/>
          </a:solidFill>
          <a:ln w="8890" cmpd="sng">
            <a:solidFill>
              <a:schemeClr val="accent1">
                <a:shade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28800" tIns="14400" rIns="28800" bIns="14400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000" b="1">
                <a:solidFill>
                  <a:srgbClr val="2854A2"/>
                </a:solidFill>
                <a:latin typeface="Arial" panose="020B0604020202020204"/>
                <a:sym typeface="+mn-ea"/>
              </a:rPr>
              <a:t>Linear</a:t>
            </a:r>
            <a:endParaRPr lang="en-US" sz="1000" b="1">
              <a:solidFill>
                <a:srgbClr val="2854A2"/>
              </a:solidFill>
              <a:latin typeface="Arial" panose="020B0604020202020204"/>
              <a:sym typeface="+mn-ea"/>
            </a:endParaRPr>
          </a:p>
        </p:txBody>
      </p:sp>
      <p:sp>
        <p:nvSpPr>
          <p:cNvPr id="383" name="Rounded Rectangle 95"/>
          <p:cNvSpPr/>
          <p:nvPr/>
        </p:nvSpPr>
        <p:spPr>
          <a:xfrm>
            <a:off x="5969300" y="3003650"/>
            <a:ext cx="1080000" cy="2159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900" b="1">
                <a:solidFill>
                  <a:srgbClr val="266E46"/>
                </a:solidFill>
                <a:latin typeface="Arial" panose="020B0604020202020204"/>
              </a:rPr>
              <a:t>Mean Pooling</a:t>
            </a:r>
            <a:endParaRPr lang="en-US" altLang="zh-CN" sz="900" b="1">
              <a:solidFill>
                <a:srgbClr val="266E46"/>
              </a:solidFill>
              <a:latin typeface="Arial" panose="020B0604020202020204"/>
            </a:endParaRPr>
          </a:p>
        </p:txBody>
      </p:sp>
      <p:sp>
        <p:nvSpPr>
          <p:cNvPr id="385" name="Rectangle 143"/>
          <p:cNvSpPr/>
          <p:nvPr/>
        </p:nvSpPr>
        <p:spPr>
          <a:xfrm>
            <a:off x="7860665" y="675005"/>
            <a:ext cx="360000" cy="313690"/>
          </a:xfrm>
          <a:prstGeom prst="rect">
            <a:avLst/>
          </a:prstGeom>
          <a:solidFill>
            <a:srgbClr val="D6E3F6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00" b="1">
                <a:solidFill>
                  <a:srgbClr val="2854A2"/>
                </a:solidFill>
                <a:latin typeface="Arial" panose="020B0604020202020204"/>
                <a:sym typeface="+mn-ea"/>
              </a:rPr>
              <a:t>P</a:t>
            </a:r>
            <a:endParaRPr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394" name="Rectangle 106"/>
          <p:cNvSpPr/>
          <p:nvPr/>
        </p:nvSpPr>
        <p:spPr>
          <a:xfrm>
            <a:off x="7860665" y="1155700"/>
            <a:ext cx="360000" cy="313200"/>
          </a:xfrm>
          <a:prstGeom prst="rect">
            <a:avLst/>
          </a:prstGeom>
          <a:solidFill>
            <a:srgbClr val="D8ECDE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00" b="1">
                <a:solidFill>
                  <a:srgbClr val="266E46"/>
                </a:solidFill>
                <a:latin typeface="Arial" panose="020B0604020202020204"/>
                <a:sym typeface="+mn-ea"/>
              </a:rPr>
              <a:t>D</a:t>
            </a:r>
            <a:endParaRPr lang="en-US" sz="900" b="0">
              <a:solidFill>
                <a:srgbClr val="282828"/>
              </a:solidFill>
              <a:latin typeface="Arial" panose="020B0604020202020204"/>
            </a:endParaRPr>
          </a:p>
        </p:txBody>
      </p:sp>
      <p:sp>
        <p:nvSpPr>
          <p:cNvPr id="402" name="Rounded Rectangle 251"/>
          <p:cNvSpPr/>
          <p:nvPr/>
        </p:nvSpPr>
        <p:spPr>
          <a:xfrm>
            <a:off x="8433435" y="3257550"/>
            <a:ext cx="1007745" cy="33909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1">
              <a:solidFill>
                <a:srgbClr val="2854A2"/>
              </a:solidFill>
              <a:latin typeface="Arial" panose="020B0604020202020204"/>
            </a:endParaRPr>
          </a:p>
          <a:p>
            <a:pPr algn="ctr"/>
            <a:r>
              <a:rPr sz="900" b="1">
                <a:solidFill>
                  <a:srgbClr val="2854A2"/>
                </a:solidFill>
                <a:latin typeface="Arial" panose="020B0604020202020204"/>
              </a:rPr>
              <a:t>Max</a:t>
            </a:r>
            <a:r>
              <a:rPr lang="en-US" sz="900" b="1">
                <a:solidFill>
                  <a:srgbClr val="2854A2"/>
                </a:solidFill>
                <a:latin typeface="Arial" panose="020B0604020202020204"/>
              </a:rPr>
              <a:t> </a:t>
            </a:r>
            <a:r>
              <a:rPr sz="900" b="1">
                <a:solidFill>
                  <a:srgbClr val="2854A2"/>
                </a:solidFill>
                <a:latin typeface="Arial" panose="020B0604020202020204"/>
              </a:rPr>
              <a:t>Pool</a:t>
            </a:r>
            <a:r>
              <a:rPr lang="en-US" sz="900" b="1">
                <a:solidFill>
                  <a:srgbClr val="2854A2"/>
                </a:solidFill>
                <a:latin typeface="Arial" panose="020B0604020202020204"/>
              </a:rPr>
              <a:t>ing</a:t>
            </a:r>
            <a:endParaRPr sz="900" b="1">
              <a:solidFill>
                <a:srgbClr val="2854A2"/>
              </a:solidFill>
              <a:latin typeface="Arial" panose="020B0604020202020204"/>
            </a:endParaRPr>
          </a:p>
          <a:p>
            <a:pPr algn="ctr"/>
            <a:endParaRPr sz="900" b="1">
              <a:solidFill>
                <a:srgbClr val="2854A2"/>
              </a:solidFill>
              <a:latin typeface="Arial" panose="020B0604020202020204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2803525" y="2822575"/>
            <a:ext cx="670560" cy="1257935"/>
          </a:xfrm>
          <a:prstGeom prst="rect">
            <a:avLst/>
          </a:prstGeom>
          <a:noFill/>
          <a:ln w="1270" cmpd="sng">
            <a:solidFill>
              <a:schemeClr val="accent6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76" name="图片 75"/>
          <p:cNvPicPr/>
          <p:nvPr/>
        </p:nvPicPr>
        <p:blipFill>
          <a:blip r:embed="rId2"/>
          <a:stretch>
            <a:fillRect/>
          </a:stretch>
        </p:blipFill>
        <p:spPr>
          <a:xfrm>
            <a:off x="567055" y="5092700"/>
            <a:ext cx="982980" cy="908685"/>
          </a:xfrm>
          <a:prstGeom prst="rect">
            <a:avLst/>
          </a:prstGeom>
        </p:spPr>
      </p:pic>
      <p:sp>
        <p:nvSpPr>
          <p:cNvPr id="78" name="文本框 77"/>
          <p:cNvSpPr txBox="1"/>
          <p:nvPr/>
        </p:nvSpPr>
        <p:spPr>
          <a:xfrm>
            <a:off x="6873875" y="5644515"/>
            <a:ext cx="612140" cy="3568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endParaRPr sz="1000" b="1">
              <a:solidFill>
                <a:srgbClr val="2854A2"/>
              </a:solidFill>
              <a:latin typeface="Arial" panose="020B0604020202020204"/>
            </a:endParaRPr>
          </a:p>
          <a:p>
            <a:pPr algn="ctr"/>
            <a:r>
              <a:rPr sz="1000" b="1">
                <a:solidFill>
                  <a:srgbClr val="2854A2"/>
                </a:solidFill>
                <a:latin typeface="Arial" panose="020B0604020202020204"/>
                <a:sym typeface="+mn-ea"/>
              </a:rPr>
              <a:t>× 3</a:t>
            </a:r>
            <a:endParaRPr lang="zh-CN" altLang="en-US" sz="1000"/>
          </a:p>
        </p:txBody>
      </p:sp>
      <p:sp>
        <p:nvSpPr>
          <p:cNvPr id="98" name="Rectangle 260"/>
          <p:cNvSpPr/>
          <p:nvPr/>
        </p:nvSpPr>
        <p:spPr>
          <a:xfrm>
            <a:off x="10293720" y="4377640"/>
            <a:ext cx="12954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66"/>
          <p:cNvSpPr/>
          <p:nvPr/>
        </p:nvSpPr>
        <p:spPr>
          <a:xfrm>
            <a:off x="9509760" y="5884545"/>
            <a:ext cx="236855" cy="253365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lang="en-US" altLang="zh-CN" sz="800" b="1">
                <a:solidFill>
                  <a:srgbClr val="B06816"/>
                </a:solidFill>
                <a:latin typeface="Arial" panose="020B0604020202020204"/>
              </a:rPr>
              <a:t>σ</a:t>
            </a:r>
            <a:endParaRPr lang="en-US" altLang="zh-CN" sz="800" b="1">
              <a:solidFill>
                <a:srgbClr val="B06816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964</Words>
  <Application>WPS 演示</Application>
  <PresentationFormat>On-screen Show (4:3)</PresentationFormat>
  <Paragraphs>170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Arial</vt:lpstr>
      <vt:lpstr>Calibri</vt:lpstr>
      <vt:lpstr>MS PGothic</vt:lpstr>
      <vt:lpstr>微软雅黑</vt:lpstr>
      <vt:lpstr>Arial Unicode MS</vt:lpstr>
      <vt:lpstr>Times New Roman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PilgrLC</cp:lastModifiedBy>
  <cp:revision>53</cp:revision>
  <dcterms:created xsi:type="dcterms:W3CDTF">2013-01-27T09:14:00Z</dcterms:created>
  <dcterms:modified xsi:type="dcterms:W3CDTF">2026-06-20T07:11:04Z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7E95DADB501D40198A036DAC2A7FC248_13</vt:lpwstr>
  </property>
</Properties>
</file>