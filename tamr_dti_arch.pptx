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9" r:id="rId3"/>
  </p:sldIdLst>
  <p:sldSz cx="1219263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A4A3A4"/>
          </p15:clr>
        </p15:guide>
        <p15:guide id="2" pos="30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54"/>
        <p:guide pos="300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657" y="1143000"/>
            <a:ext cx="548668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6" name="Rounded Rectangle 125"/>
          <p:cNvSpPr/>
          <p:nvPr/>
        </p:nvSpPr>
        <p:spPr>
          <a:xfrm>
            <a:off x="144780" y="4349115"/>
            <a:ext cx="7339330" cy="2487930"/>
          </a:xfrm>
          <a:prstGeom prst="roundRect">
            <a:avLst/>
          </a:prstGeom>
          <a:solidFill>
            <a:srgbClr val="EFF4FC"/>
          </a:solidFill>
          <a:ln w="12700">
            <a:solidFill>
              <a:srgbClr val="CED0D6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144145" y="144145"/>
            <a:ext cx="5266690" cy="2339340"/>
          </a:xfrm>
          <a:prstGeom prst="roundRect">
            <a:avLst/>
          </a:prstGeom>
          <a:solidFill>
            <a:srgbClr val="F1F8F4"/>
          </a:solidFill>
          <a:ln w="12700" cap="sq">
            <a:solidFill>
              <a:srgbClr val="CED0D6"/>
            </a:solidFill>
            <a:miter lim="800000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3060" y="205105"/>
            <a:ext cx="2879725" cy="21272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266E46"/>
                </a:solidFill>
                <a:latin typeface="Arial" panose="020B0604020202090204"/>
              </a:rPr>
              <a:t>Drug Representation</a:t>
            </a:r>
            <a:endParaRPr sz="11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7665" y="504190"/>
            <a:ext cx="1259840" cy="58229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21570" y="522000"/>
            <a:ext cx="792000" cy="1512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900" b="1">
                <a:solidFill>
                  <a:srgbClr val="266E46"/>
                </a:solidFill>
                <a:latin typeface="Arial" panose="020B0604020202090204"/>
              </a:rPr>
              <a:t>SMILES</a:t>
            </a:r>
            <a:endParaRPr sz="900" b="1">
              <a:solidFill>
                <a:srgbClr val="266E46"/>
              </a:solidFill>
              <a:latin typeface="Arial" panose="020B0604020202090204"/>
            </a:endParaRPr>
          </a:p>
        </p:txBody>
      </p:sp>
      <p:pic>
        <p:nvPicPr>
          <p:cNvPr id="6" name="Picture 5" descr="mo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880" y="620720"/>
            <a:ext cx="630000" cy="450000"/>
          </a:xfrm>
          <a:prstGeom prst="rect">
            <a:avLst/>
          </a:prstGeom>
          <a:effectLst>
            <a:reflection stA="0" endPos="65000" dist="50800" dir="5400000" sy="-100000" algn="bl" rotWithShape="0"/>
          </a:effectLst>
        </p:spPr>
      </p:pic>
      <p:sp>
        <p:nvSpPr>
          <p:cNvPr id="7" name="Rectangle 6"/>
          <p:cNvSpPr/>
          <p:nvPr/>
        </p:nvSpPr>
        <p:spPr>
          <a:xfrm>
            <a:off x="367665" y="1235075"/>
            <a:ext cx="1259840" cy="46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90204"/>
              </a:rPr>
              <a:t>2D Molecular</a:t>
            </a:r>
            <a:endParaRPr sz="1000" b="1">
              <a:solidFill>
                <a:srgbClr val="266E46"/>
              </a:solidFill>
              <a:latin typeface="Arial" panose="020B0604020202090204"/>
            </a:endParaRPr>
          </a:p>
          <a:p>
            <a:pPr algn="ctr"/>
            <a:r>
              <a:rPr sz="1000" b="1">
                <a:solidFill>
                  <a:srgbClr val="266E46"/>
                </a:solidFill>
                <a:latin typeface="Arial" panose="020B0604020202090204"/>
              </a:rPr>
              <a:t>Graph</a:t>
            </a:r>
            <a:endParaRPr sz="10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7665" y="1835785"/>
            <a:ext cx="1259840" cy="46799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90204"/>
              </a:rPr>
              <a:t>K Conformers</a:t>
            </a:r>
            <a:endParaRPr sz="1000" b="1">
              <a:solidFill>
                <a:srgbClr val="266E46"/>
              </a:solidFill>
              <a:latin typeface="Arial" panose="020B0604020202090204"/>
            </a:endParaRPr>
          </a:p>
          <a:p>
            <a:pPr algn="ctr"/>
            <a:r>
              <a:rPr sz="1000" b="1">
                <a:solidFill>
                  <a:srgbClr val="266E46"/>
                </a:solidFill>
                <a:latin typeface="Arial" panose="020B0604020202090204"/>
              </a:rPr>
              <a:t>+ Energy</a:t>
            </a:r>
            <a:endParaRPr sz="10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050775" y="562030"/>
            <a:ext cx="936000" cy="45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90204"/>
              </a:rPr>
              <a:t>ChemBERTa</a:t>
            </a:r>
            <a:endParaRPr sz="10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050775" y="1235260"/>
            <a:ext cx="936000" cy="45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90204"/>
              </a:rPr>
              <a:t>GCN</a:t>
            </a:r>
            <a:endParaRPr sz="10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050775" y="1836100"/>
            <a:ext cx="936000" cy="45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90204"/>
              </a:rPr>
              <a:t>EGNN</a:t>
            </a:r>
            <a:endParaRPr sz="10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390900" y="538480"/>
            <a:ext cx="1767205" cy="46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34325" y="567335"/>
            <a:ext cx="1749599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90204"/>
              </a:rPr>
              <a:t>Molecular Semantics</a:t>
            </a:r>
            <a:endParaRPr sz="8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506325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4724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23124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81524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39924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8324" y="785690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391535" y="1205865"/>
            <a:ext cx="1767205" cy="46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34960" y="1234850"/>
            <a:ext cx="1749599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90204"/>
              </a:rPr>
              <a:t>Topology Tokens</a:t>
            </a:r>
            <a:endParaRPr sz="8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506960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65359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23759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82159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40559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8959" y="1445585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390900" y="1780540"/>
            <a:ext cx="730885" cy="53975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434080" y="1798955"/>
            <a:ext cx="687705" cy="17970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lang="en-US" altLang="zh-CN" sz="800" b="1">
                <a:solidFill>
                  <a:srgbClr val="266E46"/>
                </a:solidFill>
                <a:latin typeface="Arial" panose="020B0604020202090204"/>
              </a:rPr>
              <a:t>Conformer </a:t>
            </a:r>
            <a:br>
              <a:rPr lang="en-US" altLang="zh-CN" sz="800" b="1">
                <a:solidFill>
                  <a:srgbClr val="266E46"/>
                </a:solidFill>
                <a:latin typeface="Arial" panose="020B0604020202090204"/>
              </a:rPr>
            </a:br>
            <a:r>
              <a:rPr lang="en-US" altLang="zh-CN" sz="800" b="1">
                <a:solidFill>
                  <a:srgbClr val="266E46"/>
                </a:solidFill>
                <a:latin typeface="Arial" panose="020B0604020202090204"/>
              </a:rPr>
              <a:t>Summaries</a:t>
            </a:r>
            <a:endParaRPr lang="en-US" altLang="zh-CN" sz="8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473940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339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90739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20499" y="2083255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144145" y="2592070"/>
            <a:ext cx="5266690" cy="1642745"/>
          </a:xfrm>
          <a:prstGeom prst="roundRect">
            <a:avLst/>
          </a:prstGeom>
          <a:solidFill>
            <a:srgbClr val="FDF7EE"/>
          </a:solidFill>
          <a:ln w="12700">
            <a:solidFill>
              <a:srgbClr val="CED0D6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53060" y="2720340"/>
            <a:ext cx="1677035" cy="23368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000" b="1">
                <a:solidFill>
                  <a:srgbClr val="B06816"/>
                </a:solidFill>
                <a:latin typeface="Arial" panose="020B0604020202090204"/>
              </a:rPr>
              <a:t>Target-aware Conformer</a:t>
            </a:r>
            <a:endParaRPr sz="100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67665" y="2988945"/>
            <a:ext cx="1259840" cy="50609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10185" y="3039110"/>
            <a:ext cx="1522730" cy="17970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r>
              <a:rPr sz="800" b="1">
                <a:solidFill>
                  <a:srgbClr val="2854A2"/>
                </a:solidFill>
                <a:latin typeface="Arial" panose="020B0604020202090204"/>
              </a:rPr>
              <a:t>Protein Seed</a:t>
            </a:r>
            <a:r>
              <a:rPr lang="en-US" sz="800" b="1">
                <a:solidFill>
                  <a:srgbClr val="2854A2"/>
                </a:solidFill>
                <a:latin typeface="Arial" panose="020B0604020202090204"/>
              </a:rPr>
              <a:t> </a:t>
            </a:r>
            <a:r>
              <a:rPr sz="800" b="1">
                <a:solidFill>
                  <a:srgbClr val="2854A2"/>
                </a:solidFill>
                <a:latin typeface="Arial" panose="020B0604020202090204"/>
              </a:rPr>
              <a:t>Context</a:t>
            </a:r>
            <a:endParaRPr sz="8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12310" y="329063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0710" y="329063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9110" y="329063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87794" y="3269030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367665" y="3596640"/>
            <a:ext cx="1259840" cy="53975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283210" y="3643630"/>
            <a:ext cx="1449705" cy="17970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r>
              <a:rPr sz="800" b="1">
                <a:solidFill>
                  <a:srgbClr val="B06816"/>
                </a:solidFill>
                <a:latin typeface="Arial" panose="020B0604020202090204"/>
              </a:rPr>
              <a:t>Energy Embedding</a:t>
            </a:r>
            <a:r>
              <a:rPr lang="en-US" sz="800" b="1">
                <a:solidFill>
                  <a:srgbClr val="B06816"/>
                </a:solidFill>
                <a:latin typeface="Arial" panose="020B0604020202090204"/>
              </a:rPr>
              <a:t> </a:t>
            </a:r>
            <a:r>
              <a:rPr lang="en-US" altLang="zh-CN" sz="800" b="1">
                <a:solidFill>
                  <a:srgbClr val="B06816"/>
                </a:solidFill>
                <a:latin typeface="Arial" panose="020B0604020202090204"/>
              </a:rPr>
              <a:t>ε_k</a:t>
            </a:r>
            <a:endParaRPr lang="en-US" altLang="zh-CN" sz="80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53560" y="392839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1960" y="392839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0360" y="392839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8760" y="392839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7159" y="3906795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002155" y="3197225"/>
            <a:ext cx="481330" cy="720090"/>
          </a:xfrm>
          <a:prstGeom prst="roundRect">
            <a:avLst/>
          </a:prstGeom>
          <a:solidFill>
            <a:srgbClr val="FAE9D0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B06816"/>
                </a:solidFill>
                <a:latin typeface="Arial" panose="020B0604020202090204"/>
              </a:rPr>
              <a:t>MLP</a:t>
            </a:r>
            <a:endParaRPr sz="100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797690" y="2888110"/>
            <a:ext cx="936000" cy="1512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900" b="1">
                <a:solidFill>
                  <a:srgbClr val="B06816"/>
                </a:solidFill>
                <a:latin typeface="Arial" panose="020B0604020202090204"/>
              </a:rPr>
              <a:t>α_k</a:t>
            </a:r>
            <a:endParaRPr sz="90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2797690" y="3108750"/>
            <a:ext cx="23076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3064450" y="3101549"/>
            <a:ext cx="342000" cy="1584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850" b="0">
                <a:solidFill>
                  <a:srgbClr val="282828"/>
                </a:solidFill>
                <a:latin typeface="Arial" panose="020B0604020202090204"/>
              </a:rPr>
              <a:t>0.23</a:t>
            </a:r>
            <a:endParaRPr sz="85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797690" y="3396750"/>
            <a:ext cx="37764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3204345" y="3385740"/>
            <a:ext cx="342000" cy="1584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850" b="0">
                <a:solidFill>
                  <a:srgbClr val="282828"/>
                </a:solidFill>
                <a:latin typeface="Arial" panose="020B0604020202090204"/>
              </a:rPr>
              <a:t>0.47</a:t>
            </a:r>
            <a:endParaRPr sz="85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2797690" y="3861915"/>
            <a:ext cx="13896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948520" y="3854714"/>
            <a:ext cx="342000" cy="1584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850" b="0">
                <a:solidFill>
                  <a:srgbClr val="282828"/>
                </a:solidFill>
                <a:latin typeface="Arial" panose="020B0604020202090204"/>
              </a:rPr>
              <a:t>0.08</a:t>
            </a:r>
            <a:endParaRPr sz="85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4357370" y="3186430"/>
            <a:ext cx="827405" cy="70294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447540" y="3219450"/>
            <a:ext cx="885825" cy="20637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B06816"/>
                </a:solidFill>
                <a:latin typeface="Arial" panose="020B0604020202090204"/>
              </a:rPr>
              <a:t>Target-aware</a:t>
            </a:r>
            <a:endParaRPr sz="800" b="1">
              <a:solidFill>
                <a:srgbClr val="B06816"/>
              </a:solidFill>
              <a:latin typeface="Arial" panose="020B0604020202090204"/>
            </a:endParaRPr>
          </a:p>
          <a:p>
            <a:pPr algn="l"/>
            <a:r>
              <a:rPr sz="800" b="1">
                <a:solidFill>
                  <a:srgbClr val="B06816"/>
                </a:solidFill>
                <a:latin typeface="Arial" panose="020B0604020202090204"/>
              </a:rPr>
              <a:t>Geometry Tokens</a:t>
            </a:r>
            <a:endParaRPr sz="80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472855" y="36731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31255" y="36731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89655" y="36731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948054" y="3651500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543550" y="128270"/>
            <a:ext cx="1925320" cy="410591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CED0D6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5662930" y="226695"/>
            <a:ext cx="1821180" cy="27749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266E46"/>
                </a:solidFill>
                <a:latin typeface="Arial" panose="020B0604020202090204"/>
              </a:rPr>
              <a:t>Token-wise</a:t>
            </a:r>
            <a:r>
              <a:rPr lang="en-US" sz="1100" b="1">
                <a:solidFill>
                  <a:srgbClr val="266E46"/>
                </a:solidFill>
                <a:latin typeface="Arial" panose="020B0604020202090204"/>
              </a:rPr>
              <a:t> </a:t>
            </a:r>
            <a:r>
              <a:rPr sz="1100" b="1">
                <a:solidFill>
                  <a:srgbClr val="266E46"/>
                </a:solidFill>
                <a:latin typeface="Arial" panose="020B0604020202090204"/>
                <a:sym typeface="+mn-ea"/>
              </a:rPr>
              <a:t>Fusion Gate</a:t>
            </a:r>
            <a:endParaRPr sz="1100" b="1">
              <a:solidFill>
                <a:srgbClr val="266E46"/>
              </a:solidFill>
              <a:latin typeface="Arial" panose="020B0604020202090204"/>
            </a:endParaRPr>
          </a:p>
          <a:p>
            <a:pPr algn="l"/>
            <a:endParaRPr lang="en-US" sz="11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5969300" y="1762760"/>
            <a:ext cx="1080000" cy="216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900" b="1">
                <a:solidFill>
                  <a:srgbClr val="266E46"/>
                </a:solidFill>
                <a:latin typeface="Arial" panose="020B0604020202090204"/>
              </a:rPr>
              <a:t>Gated Fusion</a:t>
            </a:r>
            <a:endParaRPr lang="en-US" altLang="zh-CN" sz="9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5807075" y="2211070"/>
            <a:ext cx="1403985" cy="509270"/>
          </a:xfrm>
          <a:prstGeom prst="rect">
            <a:avLst/>
          </a:prstGeom>
          <a:solidFill>
            <a:srgbClr val="D8ECDE"/>
          </a:solidFill>
          <a:ln w="25400" cmpd="sng">
            <a:solidFill>
              <a:schemeClr val="accent3">
                <a:lumMod val="75000"/>
              </a:schemeClr>
            </a:solidFill>
            <a:prstDash val="solid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5893680" y="2282105"/>
            <a:ext cx="1317599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90204"/>
              </a:rPr>
              <a:t>DR</a:t>
            </a:r>
            <a:r>
              <a:rPr lang="en-US" sz="800" b="1">
                <a:solidFill>
                  <a:srgbClr val="266E46"/>
                </a:solidFill>
                <a:latin typeface="Arial" panose="020B0604020202090204"/>
              </a:rPr>
              <a:t>U</a:t>
            </a:r>
            <a:r>
              <a:rPr sz="800" b="1">
                <a:solidFill>
                  <a:srgbClr val="266E46"/>
                </a:solidFill>
                <a:latin typeface="Arial" panose="020B0604020202090204"/>
              </a:rPr>
              <a:t>G : Fused Drug  D</a:t>
            </a:r>
            <a:endParaRPr sz="8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5951710" y="250467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10110" y="250467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68509" y="250467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426909" y="250467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585310" y="2483070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5807300" y="3544035"/>
            <a:ext cx="1403999" cy="46799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5850499" y="3572140"/>
            <a:ext cx="1317599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90204"/>
              </a:rPr>
              <a:t>Ligand Context  d_g</a:t>
            </a:r>
            <a:endParaRPr sz="8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5922500" y="379534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080900" y="379534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239299" y="379534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397699" y="379534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556100" y="3773740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353060" y="4442565"/>
            <a:ext cx="2880000" cy="216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2854A2"/>
                </a:solidFill>
                <a:latin typeface="Arial" panose="020B0604020202090204"/>
              </a:rPr>
              <a:t>Protein Representation</a:t>
            </a:r>
            <a:endParaRPr sz="11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492760" y="4725035"/>
            <a:ext cx="1057275" cy="183832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endParaRPr sz="8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29" name="Rounded Rectangle 128"/>
          <p:cNvSpPr/>
          <p:nvPr/>
        </p:nvSpPr>
        <p:spPr>
          <a:xfrm>
            <a:off x="1943735" y="5035550"/>
            <a:ext cx="739775" cy="680085"/>
          </a:xfrm>
          <a:prstGeom prst="roundRect">
            <a:avLst/>
          </a:prstGeom>
          <a:solidFill>
            <a:srgbClr val="D6E3F6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854A2"/>
                </a:solidFill>
                <a:latin typeface="Arial" panose="020B0604020202090204"/>
              </a:rPr>
              <a:t>ProtBERT</a:t>
            </a:r>
            <a:endParaRPr sz="10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3064510" y="4680585"/>
            <a:ext cx="880745" cy="50419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3107490" y="4709485"/>
            <a:ext cx="921599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854A2"/>
                </a:solidFill>
                <a:latin typeface="Arial" panose="020B0604020202090204"/>
                <a:sym typeface="+mn-ea"/>
              </a:rPr>
              <a:t>Protein Seed </a:t>
            </a:r>
            <a:r>
              <a:rPr lang="en-US" sz="800" b="1">
                <a:solidFill>
                  <a:srgbClr val="2854A2"/>
                </a:solidFill>
                <a:latin typeface="Arial" panose="020B0604020202090204"/>
                <a:sym typeface="+mn-ea"/>
              </a:rPr>
              <a:t>Context </a:t>
            </a:r>
            <a:r>
              <a:rPr sz="800" b="1">
                <a:solidFill>
                  <a:srgbClr val="2854A2"/>
                </a:solidFill>
                <a:latin typeface="Arial" panose="020B0604020202090204"/>
                <a:sym typeface="+mn-ea"/>
              </a:rPr>
              <a:t>P</a:t>
            </a:r>
            <a:r>
              <a:rPr lang="en-US" sz="800" b="1">
                <a:solidFill>
                  <a:srgbClr val="2854A2"/>
                </a:solidFill>
                <a:latin typeface="Arial" panose="020B0604020202090204"/>
                <a:sym typeface="+mn-ea"/>
              </a:rPr>
              <a:t>_g</a:t>
            </a:r>
            <a:endParaRPr lang="en-US" sz="800" b="1">
              <a:solidFill>
                <a:srgbClr val="2854A2"/>
              </a:solidFill>
              <a:latin typeface="Arial" panose="020B0604020202090204"/>
              <a:sym typeface="+mn-ea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3179490" y="4968685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337890" y="4968685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496290" y="4968685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654690" y="4947085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36" name="Rectangle 135"/>
          <p:cNvSpPr/>
          <p:nvPr/>
        </p:nvSpPr>
        <p:spPr>
          <a:xfrm>
            <a:off x="1900555" y="6062345"/>
            <a:ext cx="871855" cy="50419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1943535" y="6091110"/>
            <a:ext cx="921599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854A2"/>
                </a:solidFill>
                <a:latin typeface="Arial" panose="020B0604020202090204"/>
                <a:sym typeface="+mn-ea"/>
              </a:rPr>
              <a:t>Protein Seed Tokens  P0</a:t>
            </a:r>
            <a:endParaRPr sz="8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2015535" y="63503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173935" y="63503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332335" y="63503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90735" y="6328710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42" name="Rounded Rectangle 141"/>
          <p:cNvSpPr/>
          <p:nvPr/>
        </p:nvSpPr>
        <p:spPr>
          <a:xfrm>
            <a:off x="4284345" y="4537710"/>
            <a:ext cx="967105" cy="1478915"/>
          </a:xfrm>
          <a:prstGeom prst="roundRect">
            <a:avLst/>
          </a:prstGeom>
          <a:solidFill>
            <a:srgbClr val="D6E3F6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endParaRPr sz="95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43" name="Rounded Rectangle 142"/>
          <p:cNvSpPr/>
          <p:nvPr/>
        </p:nvSpPr>
        <p:spPr>
          <a:xfrm>
            <a:off x="5666105" y="5187315"/>
            <a:ext cx="1301750" cy="1528445"/>
          </a:xfrm>
          <a:prstGeom prst="roundRect">
            <a:avLst/>
          </a:prstGeom>
          <a:solidFill>
            <a:srgbClr val="D6E3F6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</a:p>
          <a:p>
            <a:pPr algn="ctr"/>
          </a:p>
          <a:p>
            <a:pPr algn="ctr"/>
            <a:endParaRPr sz="95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5812790" y="4588510"/>
            <a:ext cx="1002030" cy="504190"/>
          </a:xfrm>
          <a:prstGeom prst="rect">
            <a:avLst/>
          </a:prstGeom>
          <a:solidFill>
            <a:srgbClr val="D6E3F6"/>
          </a:solidFill>
          <a:ln w="25400">
            <a:solidFill>
              <a:schemeClr val="tx2">
                <a:lumMod val="60000"/>
                <a:lumOff val="40000"/>
              </a:schemeClr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5850255" y="4646930"/>
            <a:ext cx="1029335" cy="17970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854A2"/>
                </a:solidFill>
                <a:latin typeface="Arial" panose="020B0604020202090204"/>
              </a:rPr>
              <a:t>Protein Tokens  P</a:t>
            </a:r>
            <a:endParaRPr sz="8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6144585" y="487324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974690" y="487324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318510" y="487324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497230" y="4842119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7631430" y="144780"/>
            <a:ext cx="4239895" cy="4866640"/>
          </a:xfrm>
          <a:prstGeom prst="roundRect">
            <a:avLst/>
          </a:prstGeom>
          <a:solidFill>
            <a:srgbClr val="F7F7F9"/>
          </a:solidFill>
          <a:ln w="19050">
            <a:solidFill>
              <a:srgbClr val="CED0D6"/>
            </a:solidFill>
            <a:miter lim="800000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8220905" y="230810"/>
            <a:ext cx="2880000" cy="216000"/>
          </a:xfrm>
          <a:prstGeom prst="rect">
            <a:avLst/>
          </a:prstGeom>
          <a:ln w="19050" cap="rnd">
            <a:noFill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6242AA"/>
                </a:solidFill>
                <a:latin typeface="Arial" panose="020B0604020202090204"/>
              </a:rPr>
              <a:t>Protein-Mamba BiIntention Fusion</a:t>
            </a:r>
            <a:endParaRPr sz="1100" b="1">
              <a:solidFill>
                <a:srgbClr val="6242AA"/>
              </a:solidFill>
              <a:latin typeface="Arial" panose="020B0604020202090204"/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8529320" y="703580"/>
            <a:ext cx="1262380" cy="690245"/>
          </a:xfrm>
          <a:prstGeom prst="roundRect">
            <a:avLst/>
          </a:prstGeom>
          <a:solidFill>
            <a:srgbClr val="E3DCF3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endParaRPr sz="1000" b="1">
              <a:solidFill>
                <a:srgbClr val="6242AA"/>
              </a:solidFill>
              <a:latin typeface="Arial" panose="020B0604020202090204"/>
              <a:sym typeface="+mn-ea"/>
            </a:endParaRPr>
          </a:p>
          <a:p>
            <a:pPr algn="ctr"/>
            <a:r>
              <a:rPr sz="1000" b="1">
                <a:solidFill>
                  <a:srgbClr val="6242AA"/>
                </a:solidFill>
                <a:latin typeface="Arial" panose="020B0604020202090204"/>
                <a:sym typeface="+mn-ea"/>
              </a:rPr>
              <a:t>Bidirectional</a:t>
            </a:r>
            <a:endParaRPr sz="1000" b="1">
              <a:solidFill>
                <a:srgbClr val="6242AA"/>
              </a:solidFill>
              <a:latin typeface="Arial" panose="020B0604020202090204"/>
            </a:endParaRPr>
          </a:p>
          <a:p>
            <a:pPr algn="ctr"/>
            <a:r>
              <a:rPr sz="1000" b="1">
                <a:solidFill>
                  <a:srgbClr val="6242AA"/>
                </a:solidFill>
                <a:latin typeface="Arial" panose="020B0604020202090204"/>
                <a:sym typeface="+mn-ea"/>
              </a:rPr>
              <a:t>Mamba (SSM)</a:t>
            </a:r>
            <a:endParaRPr sz="1000" b="1">
              <a:solidFill>
                <a:srgbClr val="6242AA"/>
              </a:solidFill>
              <a:latin typeface="Arial" panose="020B0604020202090204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10643235" y="838835"/>
            <a:ext cx="1019175" cy="467995"/>
          </a:xfrm>
          <a:prstGeom prst="rect">
            <a:avLst/>
          </a:prstGeom>
          <a:solidFill>
            <a:srgbClr val="E3DCF3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10686450" y="867765"/>
            <a:ext cx="1065600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6242AA"/>
                </a:solidFill>
                <a:latin typeface="Arial" panose="020B0604020202090204"/>
              </a:rPr>
              <a:t>Refined Protein  P'</a:t>
            </a:r>
            <a:endParaRPr sz="800" b="1">
              <a:solidFill>
                <a:srgbClr val="6242AA"/>
              </a:solidFill>
              <a:latin typeface="Arial" panose="020B0604020202090204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758450" y="109096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0916850" y="109096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1075250" y="109096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233650" y="1069364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79" name="Rounded Rectangle 178"/>
          <p:cNvSpPr/>
          <p:nvPr/>
        </p:nvSpPr>
        <p:spPr>
          <a:xfrm>
            <a:off x="7942580" y="1842135"/>
            <a:ext cx="3655695" cy="2981960"/>
          </a:xfrm>
          <a:prstGeom prst="roundRect">
            <a:avLst/>
          </a:prstGeom>
          <a:solidFill>
            <a:schemeClr val="bg2"/>
          </a:solidFill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8161020" y="1880235"/>
            <a:ext cx="3312160" cy="27813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854A2"/>
                </a:solidFill>
                <a:latin typeface="Arial" panose="020B0604020202090204"/>
              </a:rPr>
              <a:t> Bidirectional Cross-Attention</a:t>
            </a:r>
            <a:endParaRPr sz="10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8143085" y="2320020"/>
            <a:ext cx="1548000" cy="540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sz="900" b="1">
                <a:solidFill>
                  <a:srgbClr val="2854A2"/>
                </a:solidFill>
                <a:latin typeface="Arial" panose="020B0604020202090204"/>
              </a:rPr>
              <a:t>Protein-guided</a:t>
            </a:r>
            <a:br>
              <a:rPr lang="en-US" sz="900" b="1">
                <a:solidFill>
                  <a:srgbClr val="2854A2"/>
                </a:solidFill>
                <a:latin typeface="Arial" panose="020B0604020202090204"/>
              </a:rPr>
            </a:br>
            <a:r>
              <a:rPr lang="en-US" sz="900" b="1">
                <a:solidFill>
                  <a:srgbClr val="2854A2"/>
                </a:solidFill>
                <a:latin typeface="Arial" panose="020B0604020202090204"/>
              </a:rPr>
              <a:t>Drug Intention</a:t>
            </a:r>
            <a:endParaRPr lang="en-US" sz="9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82" name="Rounded Rectangle 181"/>
          <p:cNvSpPr/>
          <p:nvPr/>
        </p:nvSpPr>
        <p:spPr>
          <a:xfrm>
            <a:off x="9856430" y="2320020"/>
            <a:ext cx="1548000" cy="540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sz="900" b="1">
                <a:solidFill>
                  <a:srgbClr val="2854A2"/>
                </a:solidFill>
                <a:latin typeface="Arial" panose="020B0604020202090204"/>
                <a:sym typeface="+mn-ea"/>
              </a:rPr>
              <a:t>Drug-guided</a:t>
            </a:r>
            <a:br>
              <a:rPr lang="en-US" sz="900" b="1">
                <a:solidFill>
                  <a:srgbClr val="2854A2"/>
                </a:solidFill>
                <a:latin typeface="Arial" panose="020B0604020202090204"/>
                <a:sym typeface="+mn-ea"/>
              </a:rPr>
            </a:br>
            <a:r>
              <a:rPr lang="en-US" sz="900" b="1">
                <a:solidFill>
                  <a:srgbClr val="2854A2"/>
                </a:solidFill>
                <a:latin typeface="Arial" panose="020B0604020202090204"/>
                <a:sym typeface="+mn-ea"/>
              </a:rPr>
              <a:t>Protein Intention</a:t>
            </a:r>
            <a:endParaRPr sz="9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252" name="Rounded Rectangle 251"/>
          <p:cNvSpPr/>
          <p:nvPr/>
        </p:nvSpPr>
        <p:spPr>
          <a:xfrm>
            <a:off x="10109920" y="3245168"/>
            <a:ext cx="1008000" cy="33909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1">
              <a:solidFill>
                <a:srgbClr val="2854A2"/>
              </a:solidFill>
              <a:latin typeface="Arial" panose="020B0604020202090204"/>
            </a:endParaRPr>
          </a:p>
          <a:p>
            <a:pPr algn="ctr"/>
            <a:r>
              <a:rPr sz="900" b="1">
                <a:solidFill>
                  <a:srgbClr val="2854A2"/>
                </a:solidFill>
                <a:latin typeface="Arial" panose="020B0604020202090204"/>
              </a:rPr>
              <a:t>Max</a:t>
            </a:r>
            <a:r>
              <a:rPr lang="en-US" sz="900" b="1">
                <a:solidFill>
                  <a:srgbClr val="2854A2"/>
                </a:solidFill>
                <a:latin typeface="Arial" panose="020B0604020202090204"/>
              </a:rPr>
              <a:t> </a:t>
            </a:r>
            <a:r>
              <a:rPr sz="900" b="1">
                <a:solidFill>
                  <a:srgbClr val="2854A2"/>
                </a:solidFill>
                <a:latin typeface="Arial" panose="020B0604020202090204"/>
              </a:rPr>
              <a:t>Pool</a:t>
            </a:r>
            <a:r>
              <a:rPr lang="en-US" sz="900" b="1">
                <a:solidFill>
                  <a:srgbClr val="2854A2"/>
                </a:solidFill>
                <a:latin typeface="Arial" panose="020B0604020202090204"/>
              </a:rPr>
              <a:t>ing</a:t>
            </a:r>
            <a:endParaRPr sz="900" b="1">
              <a:solidFill>
                <a:srgbClr val="2854A2"/>
              </a:solidFill>
              <a:latin typeface="Arial" panose="020B0604020202090204"/>
            </a:endParaRPr>
          </a:p>
          <a:p>
            <a:pPr algn="ctr"/>
            <a:endParaRPr sz="9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253" name="Rectangle 252"/>
          <p:cNvSpPr/>
          <p:nvPr/>
        </p:nvSpPr>
        <p:spPr>
          <a:xfrm>
            <a:off x="8937625" y="4058285"/>
            <a:ext cx="1676400" cy="539750"/>
          </a:xfrm>
          <a:prstGeom prst="rect">
            <a:avLst/>
          </a:prstGeom>
          <a:solidFill>
            <a:srgbClr val="D6E3F6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54" name="Rectangle 253"/>
          <p:cNvSpPr/>
          <p:nvPr/>
        </p:nvSpPr>
        <p:spPr>
          <a:xfrm>
            <a:off x="9162415" y="4147185"/>
            <a:ext cx="1200150" cy="17970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854A2"/>
                </a:solidFill>
                <a:latin typeface="Arial" panose="020B0604020202090204"/>
              </a:rPr>
              <a:t>Joint Representation  f  </a:t>
            </a:r>
            <a:endParaRPr sz="8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255" name="Rectangle 254"/>
          <p:cNvSpPr/>
          <p:nvPr/>
        </p:nvSpPr>
        <p:spPr>
          <a:xfrm>
            <a:off x="9115735" y="437764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9272640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429485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9586330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9743175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9900020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0056865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0362330" y="4335720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79" name="Rounded Rectangle 278"/>
          <p:cNvSpPr/>
          <p:nvPr/>
        </p:nvSpPr>
        <p:spPr>
          <a:xfrm>
            <a:off x="7615555" y="5111750"/>
            <a:ext cx="4255135" cy="1725930"/>
          </a:xfrm>
          <a:prstGeom prst="roundRect">
            <a:avLst/>
          </a:prstGeom>
          <a:solidFill>
            <a:srgbClr val="FDF5F2"/>
          </a:solidFill>
          <a:ln w="12700">
            <a:solidFill>
              <a:srgbClr val="CED0D6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80" name="Rectangle 279"/>
          <p:cNvSpPr/>
          <p:nvPr/>
        </p:nvSpPr>
        <p:spPr>
          <a:xfrm>
            <a:off x="9872980" y="5184775"/>
            <a:ext cx="2077085" cy="2159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B23A24"/>
                </a:solidFill>
                <a:latin typeface="Arial" panose="020B0604020202090204"/>
              </a:rPr>
              <a:t>Interaction Prediction Head</a:t>
            </a:r>
            <a:endParaRPr sz="1100" b="1">
              <a:solidFill>
                <a:srgbClr val="B23A24"/>
              </a:solidFill>
              <a:latin typeface="Arial" panose="020B0604020202090204"/>
            </a:endParaRPr>
          </a:p>
        </p:txBody>
      </p:sp>
      <p:sp>
        <p:nvSpPr>
          <p:cNvPr id="281" name="Rounded Rectangle 280"/>
          <p:cNvSpPr/>
          <p:nvPr/>
        </p:nvSpPr>
        <p:spPr>
          <a:xfrm>
            <a:off x="7860665" y="5728108"/>
            <a:ext cx="920750" cy="669925"/>
          </a:xfrm>
          <a:prstGeom prst="roundRect">
            <a:avLst/>
          </a:prstGeom>
          <a:solidFill>
            <a:srgbClr val="F7DFD7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B23A24"/>
                </a:solidFill>
                <a:latin typeface="Arial" panose="020B0604020202090204"/>
              </a:rPr>
              <a:t>MLP</a:t>
            </a:r>
            <a:endParaRPr sz="1000" b="1">
              <a:solidFill>
                <a:srgbClr val="B23A24"/>
              </a:solidFill>
              <a:latin typeface="Arial" panose="020B0604020202090204"/>
            </a:endParaRPr>
          </a:p>
        </p:txBody>
      </p:sp>
      <p:sp>
        <p:nvSpPr>
          <p:cNvPr id="310" name="Rounded Rectangle 309"/>
          <p:cNvSpPr/>
          <p:nvPr/>
        </p:nvSpPr>
        <p:spPr>
          <a:xfrm>
            <a:off x="10251440" y="5633720"/>
            <a:ext cx="1440180" cy="877570"/>
          </a:xfrm>
          <a:prstGeom prst="roundRect">
            <a:avLst/>
          </a:prstGeom>
          <a:solidFill>
            <a:srgbClr val="F7DFD7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1100" b="1">
              <a:solidFill>
                <a:srgbClr val="B23A24"/>
              </a:solidFill>
              <a:latin typeface="Arial" panose="020B0604020202090204"/>
            </a:endParaRPr>
          </a:p>
        </p:txBody>
      </p:sp>
      <p:sp>
        <p:nvSpPr>
          <p:cNvPr id="37" name="Rectangle 46"/>
          <p:cNvSpPr/>
          <p:nvPr/>
        </p:nvSpPr>
        <p:spPr>
          <a:xfrm>
            <a:off x="453560" y="329063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文本框 39"/>
          <p:cNvSpPr txBox="1"/>
          <p:nvPr/>
        </p:nvSpPr>
        <p:spPr>
          <a:xfrm>
            <a:off x="2772410" y="3444240"/>
            <a:ext cx="573405" cy="398780"/>
          </a:xfrm>
          <a:prstGeom prst="rect">
            <a:avLst/>
          </a:prstGeom>
          <a:noFill/>
          <a:effectLst>
            <a:reflection stA="0" endPos="65000" dist="50800" dir="5400000" sy="-100000" algn="bl" rotWithShape="0"/>
          </a:effectLst>
        </p:spPr>
        <p:txBody>
          <a:bodyPr wrap="square" rtlCol="0">
            <a:spAutoFit/>
          </a:bodyPr>
          <a:p>
            <a:r>
              <a:rPr lang="en-US" altLang="zh-CN" sz="2000">
                <a:latin typeface="Times New Roman" panose="02020503050405090304" charset="0"/>
                <a:cs typeface="Times New Roman" panose="02020503050405090304" charset="0"/>
              </a:rPr>
              <a:t>...</a:t>
            </a:r>
            <a:endParaRPr lang="en-US" altLang="zh-CN" sz="200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317" name="文本框 316"/>
          <p:cNvSpPr txBox="1"/>
          <p:nvPr/>
        </p:nvSpPr>
        <p:spPr>
          <a:xfrm>
            <a:off x="385445" y="6047740"/>
            <a:ext cx="1305560" cy="598170"/>
          </a:xfrm>
          <a:prstGeom prst="rect">
            <a:avLst/>
          </a:prstGeom>
          <a:noFill/>
          <a:effectLst>
            <a:reflection stA="0" endPos="65000" dist="50800" dir="5400000" sy="-100000" algn="bl" rotWithShape="0"/>
          </a:effectLst>
        </p:spPr>
        <p:txBody>
          <a:bodyPr wrap="square" rtlCol="0">
            <a:noAutofit/>
          </a:bodyPr>
          <a:p>
            <a:pPr algn="ctr"/>
            <a:r>
              <a:rPr sz="800" b="1">
                <a:solidFill>
                  <a:srgbClr val="2854A2"/>
                </a:solidFill>
                <a:latin typeface="Arial" panose="020B0604020202090204"/>
                <a:sym typeface="+mn-ea"/>
              </a:rPr>
              <a:t>MAVSEQLKVEEL</a:t>
            </a:r>
            <a:endParaRPr sz="800" b="1">
              <a:solidFill>
                <a:srgbClr val="2854A2"/>
              </a:solidFill>
              <a:latin typeface="Arial" panose="020B0604020202090204"/>
            </a:endParaRPr>
          </a:p>
          <a:p>
            <a:pPr algn="ctr">
              <a:buClrTx/>
              <a:buSzTx/>
              <a:buNone/>
            </a:pPr>
            <a:r>
              <a:rPr sz="800" b="1">
                <a:solidFill>
                  <a:srgbClr val="2854A2"/>
                </a:solidFill>
                <a:latin typeface="Arial" panose="020B0604020202090204"/>
                <a:sym typeface="+mn-ea"/>
              </a:rPr>
              <a:t>LSKNYHLENEVAR</a:t>
            </a:r>
            <a:endParaRPr sz="800" b="1">
              <a:solidFill>
                <a:srgbClr val="2854A2"/>
              </a:solidFill>
              <a:latin typeface="Arial" panose="020B0604020202090204"/>
            </a:endParaRPr>
          </a:p>
          <a:p>
            <a:pPr algn="ctr">
              <a:buClrTx/>
              <a:buSzTx/>
              <a:buNone/>
            </a:pPr>
            <a:r>
              <a:rPr sz="800" b="1">
                <a:solidFill>
                  <a:srgbClr val="2854A2"/>
                </a:solidFill>
                <a:latin typeface="Arial" panose="020B0604020202090204"/>
                <a:sym typeface="+mn-ea"/>
              </a:rPr>
              <a:t>LKKLV ...</a:t>
            </a:r>
            <a:endParaRPr sz="8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324" name="文本框 323"/>
          <p:cNvSpPr txBox="1"/>
          <p:nvPr/>
        </p:nvSpPr>
        <p:spPr>
          <a:xfrm>
            <a:off x="469900" y="4756150"/>
            <a:ext cx="1065530" cy="383540"/>
          </a:xfrm>
          <a:prstGeom prst="rect">
            <a:avLst/>
          </a:prstGeom>
          <a:noFill/>
          <a:effectLst>
            <a:reflection stA="0" endPos="65000" dist="50800" dir="5400000" sy="-100000" algn="bl" rotWithShape="0"/>
          </a:effectLst>
        </p:spPr>
        <p:txBody>
          <a:bodyPr wrap="square" rtlCol="0">
            <a:spAutoFit/>
          </a:bodyPr>
          <a:p>
            <a:pPr algn="ctr">
              <a:buClrTx/>
              <a:buSzTx/>
              <a:buNone/>
            </a:pPr>
            <a:r>
              <a:rPr sz="950" b="1">
                <a:solidFill>
                  <a:srgbClr val="2854A2"/>
                </a:solidFill>
                <a:latin typeface="Arial" panose="020B0604020202090204"/>
                <a:sym typeface="+mn-ea"/>
              </a:rPr>
              <a:t>Protein Sequenc</a:t>
            </a:r>
            <a:r>
              <a:rPr lang="en-US" sz="950" b="1">
                <a:solidFill>
                  <a:srgbClr val="2854A2"/>
                </a:solidFill>
                <a:latin typeface="Arial" panose="020B0604020202090204"/>
                <a:sym typeface="+mn-ea"/>
              </a:rPr>
              <a:t>e</a:t>
            </a:r>
            <a:endParaRPr lang="en-US" sz="950" b="1">
              <a:solidFill>
                <a:srgbClr val="2854A2"/>
              </a:solidFill>
              <a:latin typeface="Arial" panose="020B0604020202090204"/>
              <a:sym typeface="+mn-ea"/>
            </a:endParaRPr>
          </a:p>
        </p:txBody>
      </p:sp>
      <p:sp>
        <p:nvSpPr>
          <p:cNvPr id="340" name="Rectangle 27"/>
          <p:cNvSpPr/>
          <p:nvPr/>
        </p:nvSpPr>
        <p:spPr>
          <a:xfrm>
            <a:off x="4201160" y="1780540"/>
            <a:ext cx="956945" cy="53975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341" name="Rectangle 28"/>
          <p:cNvSpPr/>
          <p:nvPr/>
        </p:nvSpPr>
        <p:spPr>
          <a:xfrm>
            <a:off x="4267835" y="1798955"/>
            <a:ext cx="829945" cy="179705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lang="en-US" altLang="zh-CN" sz="800" b="1">
                <a:solidFill>
                  <a:srgbClr val="266E46"/>
                </a:solidFill>
                <a:latin typeface="Arial" panose="020B0604020202090204"/>
              </a:rPr>
              <a:t>Conformer </a:t>
            </a:r>
            <a:br>
              <a:rPr lang="en-US" altLang="zh-CN" sz="800" b="1">
                <a:solidFill>
                  <a:srgbClr val="266E46"/>
                </a:solidFill>
                <a:latin typeface="Arial" panose="020B0604020202090204"/>
              </a:rPr>
            </a:br>
            <a:r>
              <a:rPr lang="en-US" altLang="zh-CN" sz="800" b="1">
                <a:solidFill>
                  <a:srgbClr val="266E46"/>
                </a:solidFill>
                <a:latin typeface="Arial" panose="020B0604020202090204"/>
              </a:rPr>
              <a:t>representations</a:t>
            </a:r>
            <a:endParaRPr lang="en-US" altLang="zh-CN" sz="8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342" name="Rectangle 29"/>
          <p:cNvSpPr/>
          <p:nvPr/>
        </p:nvSpPr>
        <p:spPr>
          <a:xfrm>
            <a:off x="4316585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0"/>
          <p:cNvSpPr/>
          <p:nvPr/>
        </p:nvSpPr>
        <p:spPr>
          <a:xfrm>
            <a:off x="4474984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1"/>
          <p:cNvSpPr/>
          <p:nvPr/>
        </p:nvSpPr>
        <p:spPr>
          <a:xfrm>
            <a:off x="4633384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"/>
          <p:cNvSpPr/>
          <p:nvPr/>
        </p:nvSpPr>
        <p:spPr>
          <a:xfrm>
            <a:off x="4763144" y="2083255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353" name="Rounded Rectangle 128"/>
          <p:cNvSpPr/>
          <p:nvPr/>
        </p:nvSpPr>
        <p:spPr>
          <a:xfrm>
            <a:off x="2987040" y="5628640"/>
            <a:ext cx="998220" cy="4191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900" b="1">
                <a:solidFill>
                  <a:srgbClr val="2854A2"/>
                </a:solidFill>
                <a:latin typeface="Arial" panose="020B0604020202090204"/>
              </a:rPr>
              <a:t>Masked Mean Pooling</a:t>
            </a:r>
            <a:endParaRPr lang="en-US" altLang="zh-CN" sz="9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369" name="Rounded Rectangle 128"/>
          <p:cNvSpPr/>
          <p:nvPr/>
        </p:nvSpPr>
        <p:spPr>
          <a:xfrm>
            <a:off x="5832475" y="6298565"/>
            <a:ext cx="963295" cy="25273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sz="1000" b="1">
                <a:solidFill>
                  <a:srgbClr val="2854A2"/>
                </a:solidFill>
                <a:latin typeface="Arial" panose="020B0604020202090204"/>
              </a:rPr>
              <a:t>Feed Forward</a:t>
            </a:r>
            <a:endParaRPr lang="en-US" sz="10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370" name="Rounded Rectangle 128"/>
          <p:cNvSpPr/>
          <p:nvPr/>
        </p:nvSpPr>
        <p:spPr>
          <a:xfrm>
            <a:off x="5832158" y="5400675"/>
            <a:ext cx="963295" cy="30226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sz="1000" b="1">
                <a:solidFill>
                  <a:srgbClr val="2854A2"/>
                </a:solidFill>
                <a:latin typeface="Arial" panose="020B0604020202090204"/>
              </a:rPr>
              <a:t>ACmix</a:t>
            </a:r>
            <a:endParaRPr lang="en-US" sz="10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371" name="Oval 66"/>
          <p:cNvSpPr/>
          <p:nvPr/>
        </p:nvSpPr>
        <p:spPr>
          <a:xfrm>
            <a:off x="6224270" y="5906135"/>
            <a:ext cx="179070" cy="1803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06816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800" b="1">
                <a:solidFill>
                  <a:srgbClr val="B06816"/>
                </a:solidFill>
                <a:latin typeface="Arial" panose="020B0604020202090204"/>
              </a:rPr>
              <a:t>×</a:t>
            </a:r>
            <a:endParaRPr sz="80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377" name="Rounded Rectangle 128"/>
          <p:cNvSpPr/>
          <p:nvPr/>
        </p:nvSpPr>
        <p:spPr>
          <a:xfrm>
            <a:off x="4386580" y="4699000"/>
            <a:ext cx="759600" cy="26280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8800" tIns="14400" rIns="28800" bIns="1440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sz="1000" b="1">
                <a:solidFill>
                  <a:srgbClr val="2854A2"/>
                </a:solidFill>
                <a:latin typeface="Arial" panose="020B0604020202090204"/>
                <a:sym typeface="+mn-ea"/>
              </a:rPr>
              <a:t>Linear</a:t>
            </a:r>
            <a:endParaRPr lang="en-US" sz="1000" b="1">
              <a:solidFill>
                <a:srgbClr val="2854A2"/>
              </a:solidFill>
              <a:latin typeface="Arial" panose="020B0604020202090204"/>
              <a:sym typeface="+mn-ea"/>
            </a:endParaRPr>
          </a:p>
        </p:txBody>
      </p:sp>
      <p:sp>
        <p:nvSpPr>
          <p:cNvPr id="378" name="Rounded Rectangle 128"/>
          <p:cNvSpPr/>
          <p:nvPr/>
        </p:nvSpPr>
        <p:spPr>
          <a:xfrm>
            <a:off x="4387850" y="5154295"/>
            <a:ext cx="759600" cy="26280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8800" tIns="14400" rIns="28800" bIns="1440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sz="1000" b="1">
                <a:solidFill>
                  <a:srgbClr val="2854A2"/>
                </a:solidFill>
                <a:latin typeface="Arial" panose="020B0604020202090204"/>
                <a:sym typeface="+mn-ea"/>
              </a:rPr>
              <a:t>SiLU</a:t>
            </a:r>
            <a:endParaRPr lang="en-US" sz="1000" b="1">
              <a:solidFill>
                <a:srgbClr val="2854A2"/>
              </a:solidFill>
              <a:latin typeface="Arial" panose="020B0604020202090204"/>
              <a:sym typeface="+mn-ea"/>
            </a:endParaRPr>
          </a:p>
        </p:txBody>
      </p:sp>
      <p:sp>
        <p:nvSpPr>
          <p:cNvPr id="379" name="Rounded Rectangle 128"/>
          <p:cNvSpPr/>
          <p:nvPr/>
        </p:nvSpPr>
        <p:spPr>
          <a:xfrm>
            <a:off x="4385310" y="5609590"/>
            <a:ext cx="760730" cy="26289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8800" tIns="14400" rIns="28800" bIns="1440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sz="1000" b="1">
                <a:solidFill>
                  <a:srgbClr val="2854A2"/>
                </a:solidFill>
                <a:latin typeface="Arial" panose="020B0604020202090204"/>
                <a:sym typeface="+mn-ea"/>
              </a:rPr>
              <a:t>Linear</a:t>
            </a:r>
            <a:endParaRPr lang="en-US" sz="1000" b="1">
              <a:solidFill>
                <a:srgbClr val="2854A2"/>
              </a:solidFill>
              <a:latin typeface="Arial" panose="020B0604020202090204"/>
              <a:sym typeface="+mn-ea"/>
            </a:endParaRPr>
          </a:p>
        </p:txBody>
      </p:sp>
      <p:sp>
        <p:nvSpPr>
          <p:cNvPr id="383" name="Rounded Rectangle 95"/>
          <p:cNvSpPr/>
          <p:nvPr/>
        </p:nvSpPr>
        <p:spPr>
          <a:xfrm>
            <a:off x="5969300" y="3003650"/>
            <a:ext cx="1080000" cy="2159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900" b="1">
                <a:solidFill>
                  <a:srgbClr val="266E46"/>
                </a:solidFill>
                <a:latin typeface="Arial" panose="020B0604020202090204"/>
              </a:rPr>
              <a:t>Mean Pooling</a:t>
            </a:r>
            <a:endParaRPr lang="en-US" altLang="zh-CN" sz="9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385" name="Rectangle 143"/>
          <p:cNvSpPr/>
          <p:nvPr/>
        </p:nvSpPr>
        <p:spPr>
          <a:xfrm>
            <a:off x="7860665" y="675005"/>
            <a:ext cx="360000" cy="313690"/>
          </a:xfrm>
          <a:prstGeom prst="rect">
            <a:avLst/>
          </a:prstGeom>
          <a:solidFill>
            <a:srgbClr val="D6E3F6"/>
          </a:solidFill>
          <a:ln w="25400">
            <a:solidFill>
              <a:schemeClr val="tx2">
                <a:lumMod val="60000"/>
                <a:lumOff val="40000"/>
              </a:schemeClr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00" b="1">
                <a:solidFill>
                  <a:srgbClr val="2854A2"/>
                </a:solidFill>
                <a:latin typeface="Arial" panose="020B0604020202090204"/>
                <a:sym typeface="+mn-ea"/>
              </a:rPr>
              <a:t>P</a:t>
            </a:r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394" name="Rectangle 106"/>
          <p:cNvSpPr/>
          <p:nvPr/>
        </p:nvSpPr>
        <p:spPr>
          <a:xfrm>
            <a:off x="7860665" y="1154430"/>
            <a:ext cx="360000" cy="313200"/>
          </a:xfrm>
          <a:prstGeom prst="rect">
            <a:avLst/>
          </a:prstGeom>
          <a:solidFill>
            <a:srgbClr val="D8ECDE"/>
          </a:solidFill>
          <a:ln w="25400">
            <a:solidFill>
              <a:schemeClr val="accent3">
                <a:lumMod val="75000"/>
              </a:schemeClr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00" b="1">
                <a:solidFill>
                  <a:srgbClr val="266E46"/>
                </a:solidFill>
                <a:latin typeface="Arial" panose="020B0604020202090204"/>
                <a:sym typeface="+mn-ea"/>
              </a:rPr>
              <a:t>D</a:t>
            </a:r>
            <a:endParaRPr lang="en-US"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402" name="Rounded Rectangle 251"/>
          <p:cNvSpPr/>
          <p:nvPr/>
        </p:nvSpPr>
        <p:spPr>
          <a:xfrm>
            <a:off x="8413213" y="3245168"/>
            <a:ext cx="1007745" cy="33909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1">
              <a:solidFill>
                <a:srgbClr val="2854A2"/>
              </a:solidFill>
              <a:latin typeface="Arial" panose="020B0604020202090204"/>
            </a:endParaRPr>
          </a:p>
          <a:p>
            <a:pPr algn="ctr"/>
            <a:r>
              <a:rPr sz="900" b="1">
                <a:solidFill>
                  <a:srgbClr val="2854A2"/>
                </a:solidFill>
                <a:latin typeface="Arial" panose="020B0604020202090204"/>
              </a:rPr>
              <a:t>Max</a:t>
            </a:r>
            <a:r>
              <a:rPr lang="en-US" sz="900" b="1">
                <a:solidFill>
                  <a:srgbClr val="2854A2"/>
                </a:solidFill>
                <a:latin typeface="Arial" panose="020B0604020202090204"/>
              </a:rPr>
              <a:t> </a:t>
            </a:r>
            <a:r>
              <a:rPr sz="900" b="1">
                <a:solidFill>
                  <a:srgbClr val="2854A2"/>
                </a:solidFill>
                <a:latin typeface="Arial" panose="020B0604020202090204"/>
              </a:rPr>
              <a:t>Pool</a:t>
            </a:r>
            <a:r>
              <a:rPr lang="en-US" sz="900" b="1">
                <a:solidFill>
                  <a:srgbClr val="2854A2"/>
                </a:solidFill>
                <a:latin typeface="Arial" panose="020B0604020202090204"/>
              </a:rPr>
              <a:t>ing</a:t>
            </a:r>
            <a:endParaRPr sz="900" b="1">
              <a:solidFill>
                <a:srgbClr val="2854A2"/>
              </a:solidFill>
              <a:latin typeface="Arial" panose="020B0604020202090204"/>
            </a:endParaRPr>
          </a:p>
          <a:p>
            <a:pPr algn="ctr"/>
            <a:endParaRPr sz="9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2797175" y="2822575"/>
            <a:ext cx="676910" cy="1257935"/>
          </a:xfrm>
          <a:prstGeom prst="rect">
            <a:avLst/>
          </a:prstGeom>
          <a:noFill/>
          <a:ln w="1270" cmpd="sng">
            <a:solidFill>
              <a:schemeClr val="accent6">
                <a:lumMod val="60000"/>
                <a:lumOff val="40000"/>
              </a:schemeClr>
            </a:solidFill>
            <a:prstDash val="solid"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76" name="图片 75"/>
          <p:cNvPicPr/>
          <p:nvPr/>
        </p:nvPicPr>
        <p:blipFill>
          <a:blip r:embed="rId2"/>
          <a:stretch>
            <a:fillRect/>
          </a:stretch>
        </p:blipFill>
        <p:spPr>
          <a:xfrm>
            <a:off x="567055" y="5092700"/>
            <a:ext cx="982980" cy="908685"/>
          </a:xfrm>
          <a:prstGeom prst="rect">
            <a:avLst/>
          </a:prstGeom>
          <a:effectLst>
            <a:reflection stA="0" endPos="65000" dist="50800" dir="5400000" sy="-100000" algn="bl" rotWithShape="0"/>
          </a:effectLst>
        </p:spPr>
      </p:pic>
      <p:sp>
        <p:nvSpPr>
          <p:cNvPr id="78" name="文本框 77"/>
          <p:cNvSpPr txBox="1"/>
          <p:nvPr/>
        </p:nvSpPr>
        <p:spPr>
          <a:xfrm>
            <a:off x="6814820" y="5661025"/>
            <a:ext cx="629920" cy="418465"/>
          </a:xfrm>
          <a:prstGeom prst="rect">
            <a:avLst/>
          </a:prstGeom>
          <a:noFill/>
          <a:effectLst>
            <a:reflection stA="0" endPos="65000" dist="50800" dir="5400000" sy="-100000" algn="bl" rotWithShape="0"/>
          </a:effectLst>
        </p:spPr>
        <p:txBody>
          <a:bodyPr wrap="square" rtlCol="0">
            <a:noAutofit/>
          </a:bodyPr>
          <a:p>
            <a:pPr algn="ctr"/>
            <a:endParaRPr sz="1000" b="1">
              <a:solidFill>
                <a:schemeClr val="tx1"/>
              </a:solidFill>
              <a:latin typeface="Arial" panose="020B0604020202090204"/>
            </a:endParaRPr>
          </a:p>
          <a:p>
            <a:pPr algn="ctr"/>
            <a:r>
              <a:rPr sz="1000" b="1">
                <a:solidFill>
                  <a:schemeClr val="tx1"/>
                </a:solidFill>
                <a:latin typeface="Arial" panose="020B0604020202090204"/>
                <a:sym typeface="+mn-ea"/>
              </a:rPr>
              <a:t>× 3</a:t>
            </a:r>
            <a:endParaRPr lang="zh-CN" altLang="en-US" sz="1000" b="1">
              <a:solidFill>
                <a:schemeClr val="tx1"/>
              </a:solidFill>
              <a:latin typeface="Arial" panose="020B0604020202090204"/>
              <a:sym typeface="+mn-ea"/>
            </a:endParaRPr>
          </a:p>
        </p:txBody>
      </p:sp>
      <p:sp>
        <p:nvSpPr>
          <p:cNvPr id="98" name="Rectangle 260"/>
          <p:cNvSpPr/>
          <p:nvPr/>
        </p:nvSpPr>
        <p:spPr>
          <a:xfrm>
            <a:off x="10213710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66"/>
          <p:cNvSpPr/>
          <p:nvPr/>
        </p:nvSpPr>
        <p:spPr>
          <a:xfrm>
            <a:off x="9402445" y="5922000"/>
            <a:ext cx="294640" cy="286385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800" b="1">
                <a:solidFill>
                  <a:srgbClr val="B06816"/>
                </a:solidFill>
                <a:latin typeface="Arial" panose="020B0604020202090204"/>
              </a:rPr>
              <a:t>σ</a:t>
            </a:r>
            <a:endParaRPr lang="en-US" altLang="zh-CN" sz="800" b="1">
              <a:solidFill>
                <a:srgbClr val="B06816"/>
              </a:solidFill>
              <a:latin typeface="Arial" panose="020B0604020202090204"/>
            </a:endParaRPr>
          </a:p>
        </p:txBody>
      </p:sp>
      <p:cxnSp>
        <p:nvCxnSpPr>
          <p:cNvPr id="39" name="直接箭头连接符 38"/>
          <p:cNvCxnSpPr/>
          <p:nvPr/>
        </p:nvCxnSpPr>
        <p:spPr>
          <a:xfrm flipV="1">
            <a:off x="1633220" y="2056130"/>
            <a:ext cx="417830" cy="508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/>
          <p:cNvCxnSpPr>
            <a:stCxn id="9" idx="3"/>
          </p:cNvCxnSpPr>
          <p:nvPr/>
        </p:nvCxnSpPr>
        <p:spPr>
          <a:xfrm>
            <a:off x="2987040" y="787400"/>
            <a:ext cx="403860" cy="4445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/>
          <p:cNvCxnSpPr/>
          <p:nvPr/>
        </p:nvCxnSpPr>
        <p:spPr>
          <a:xfrm>
            <a:off x="2987040" y="1468755"/>
            <a:ext cx="406400" cy="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/>
          <p:cNvCxnSpPr/>
          <p:nvPr/>
        </p:nvCxnSpPr>
        <p:spPr>
          <a:xfrm>
            <a:off x="2987040" y="2066290"/>
            <a:ext cx="406400" cy="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肘形连接符 80"/>
          <p:cNvCxnSpPr>
            <a:endCxn id="129" idx="0"/>
          </p:cNvCxnSpPr>
          <p:nvPr/>
        </p:nvCxnSpPr>
        <p:spPr>
          <a:xfrm>
            <a:off x="1553845" y="4801870"/>
            <a:ext cx="760095" cy="233680"/>
          </a:xfrm>
          <a:prstGeom prst="bentConnector2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/>
          <p:nvPr/>
        </p:nvCxnSpPr>
        <p:spPr>
          <a:xfrm>
            <a:off x="2313940" y="5715635"/>
            <a:ext cx="0" cy="332105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136" idx="2"/>
            <a:endCxn id="369" idx="2"/>
          </p:cNvCxnSpPr>
          <p:nvPr/>
        </p:nvCxnSpPr>
        <p:spPr>
          <a:xfrm rot="5400000" flipH="1" flipV="1">
            <a:off x="4318000" y="4570095"/>
            <a:ext cx="15240" cy="3977640"/>
          </a:xfrm>
          <a:prstGeom prst="bentConnector3">
            <a:avLst>
              <a:gd name="adj1" fmla="val -770833"/>
            </a:avLst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>
            <a:endCxn id="353" idx="2"/>
          </p:cNvCxnSpPr>
          <p:nvPr/>
        </p:nvCxnSpPr>
        <p:spPr>
          <a:xfrm flipV="1">
            <a:off x="3486150" y="6047740"/>
            <a:ext cx="0" cy="628015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>
            <a:stCxn id="353" idx="0"/>
          </p:cNvCxnSpPr>
          <p:nvPr/>
        </p:nvCxnSpPr>
        <p:spPr>
          <a:xfrm flipV="1">
            <a:off x="3486150" y="5184775"/>
            <a:ext cx="0" cy="443865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肘形连接符 104"/>
          <p:cNvCxnSpPr>
            <a:stCxn id="130" idx="0"/>
            <a:endCxn id="377" idx="0"/>
          </p:cNvCxnSpPr>
          <p:nvPr/>
        </p:nvCxnSpPr>
        <p:spPr>
          <a:xfrm rot="16200000" flipH="1">
            <a:off x="4126230" y="4058920"/>
            <a:ext cx="18415" cy="1261110"/>
          </a:xfrm>
          <a:prstGeom prst="bentConnector3">
            <a:avLst>
              <a:gd name="adj1" fmla="val -1284482"/>
            </a:avLst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文本框 105"/>
          <p:cNvSpPr txBox="1"/>
          <p:nvPr/>
        </p:nvSpPr>
        <p:spPr>
          <a:xfrm>
            <a:off x="4270375" y="6092190"/>
            <a:ext cx="921385" cy="51117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reflection stA="0" endPos="65000" dist="50800" dir="5400000" sy="-100000" algn="bl" rotWithShape="0"/>
          </a:effectLst>
        </p:spPr>
        <p:txBody>
          <a:bodyPr wrap="square" rtlCol="0">
            <a:noAutofit/>
          </a:bodyPr>
          <a:p>
            <a:pPr algn="ctr"/>
            <a:r>
              <a:rPr sz="1000" b="1">
                <a:solidFill>
                  <a:srgbClr val="2854A2"/>
                </a:solidFill>
                <a:latin typeface="Arial" panose="020B0604020202090204"/>
                <a:sym typeface="+mn-ea"/>
              </a:rPr>
              <a:t>Ligand-conditioned</a:t>
            </a:r>
            <a:endParaRPr sz="1000" b="1">
              <a:solidFill>
                <a:srgbClr val="2854A2"/>
              </a:solidFill>
              <a:latin typeface="Arial" panose="020B0604020202090204"/>
            </a:endParaRPr>
          </a:p>
          <a:p>
            <a:pPr algn="ctr"/>
            <a:r>
              <a:rPr sz="1000" b="1">
                <a:solidFill>
                  <a:srgbClr val="2854A2"/>
                </a:solidFill>
                <a:latin typeface="Arial" panose="020B0604020202090204"/>
                <a:sym typeface="+mn-ea"/>
              </a:rPr>
              <a:t>FiLM</a:t>
            </a:r>
            <a:endParaRPr lang="zh-CN" altLang="en-US" sz="1000"/>
          </a:p>
        </p:txBody>
      </p:sp>
      <p:cxnSp>
        <p:nvCxnSpPr>
          <p:cNvPr id="122" name="肘形连接符 121"/>
          <p:cNvCxnSpPr>
            <a:stCxn id="379" idx="2"/>
            <a:endCxn id="371" idx="2"/>
          </p:cNvCxnSpPr>
          <p:nvPr/>
        </p:nvCxnSpPr>
        <p:spPr>
          <a:xfrm rot="5400000" flipV="1">
            <a:off x="5433060" y="5205095"/>
            <a:ext cx="123825" cy="1458595"/>
          </a:xfrm>
          <a:prstGeom prst="bentConnector2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378" idx="0"/>
          </p:cNvCxnSpPr>
          <p:nvPr/>
        </p:nvCxnSpPr>
        <p:spPr>
          <a:xfrm>
            <a:off x="4766310" y="4961890"/>
            <a:ext cx="1270" cy="192405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>
            <a:off x="4761865" y="5417185"/>
            <a:ext cx="1270" cy="192405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stCxn id="371" idx="0"/>
            <a:endCxn id="370" idx="2"/>
          </p:cNvCxnSpPr>
          <p:nvPr/>
        </p:nvCxnSpPr>
        <p:spPr>
          <a:xfrm flipV="1">
            <a:off x="6313805" y="5702935"/>
            <a:ext cx="635" cy="20320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直接箭头连接符 149"/>
          <p:cNvCxnSpPr>
            <a:stCxn id="370" idx="0"/>
            <a:endCxn id="144" idx="2"/>
          </p:cNvCxnSpPr>
          <p:nvPr/>
        </p:nvCxnSpPr>
        <p:spPr>
          <a:xfrm flipH="1" flipV="1">
            <a:off x="6313805" y="5092700"/>
            <a:ext cx="635" cy="307975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直接箭头连接符 150"/>
          <p:cNvCxnSpPr/>
          <p:nvPr/>
        </p:nvCxnSpPr>
        <p:spPr>
          <a:xfrm flipV="1">
            <a:off x="6313805" y="6092190"/>
            <a:ext cx="635" cy="20320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14" idx="2"/>
          </p:cNvCxnSpPr>
          <p:nvPr/>
        </p:nvCxnSpPr>
        <p:spPr>
          <a:xfrm rot="5400000">
            <a:off x="5419725" y="3352800"/>
            <a:ext cx="430530" cy="1748790"/>
          </a:xfrm>
          <a:prstGeom prst="bentConnector2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non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肘形连接符 153"/>
          <p:cNvCxnSpPr>
            <a:endCxn id="59" idx="1"/>
          </p:cNvCxnSpPr>
          <p:nvPr/>
        </p:nvCxnSpPr>
        <p:spPr>
          <a:xfrm>
            <a:off x="1627505" y="3252470"/>
            <a:ext cx="374650" cy="304800"/>
          </a:xfrm>
          <a:prstGeom prst="bentConnector3">
            <a:avLst>
              <a:gd name="adj1" fmla="val 50169"/>
            </a:avLst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肘形连接符 154"/>
          <p:cNvCxnSpPr>
            <a:endCxn id="59" idx="1"/>
          </p:cNvCxnSpPr>
          <p:nvPr/>
        </p:nvCxnSpPr>
        <p:spPr>
          <a:xfrm flipV="1">
            <a:off x="1627505" y="3557270"/>
            <a:ext cx="374650" cy="349250"/>
          </a:xfrm>
          <a:prstGeom prst="bentConnector3">
            <a:avLst>
              <a:gd name="adj1" fmla="val 50169"/>
            </a:avLst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直接箭头连接符 157"/>
          <p:cNvCxnSpPr/>
          <p:nvPr/>
        </p:nvCxnSpPr>
        <p:spPr>
          <a:xfrm>
            <a:off x="2483485" y="3557270"/>
            <a:ext cx="320040" cy="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箭头连接符 158"/>
          <p:cNvCxnSpPr/>
          <p:nvPr/>
        </p:nvCxnSpPr>
        <p:spPr>
          <a:xfrm>
            <a:off x="3486150" y="3562985"/>
            <a:ext cx="298450" cy="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肘形连接符 160"/>
          <p:cNvCxnSpPr>
            <a:stCxn id="28" idx="2"/>
            <a:endCxn id="59" idx="0"/>
          </p:cNvCxnSpPr>
          <p:nvPr/>
        </p:nvCxnSpPr>
        <p:spPr>
          <a:xfrm rot="5400000">
            <a:off x="2561590" y="2001520"/>
            <a:ext cx="876935" cy="1513840"/>
          </a:xfrm>
          <a:prstGeom prst="bentConnector3">
            <a:avLst>
              <a:gd name="adj1" fmla="val 41383"/>
            </a:avLst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肘形连接符 161"/>
          <p:cNvCxnSpPr>
            <a:endCxn id="192" idx="0"/>
          </p:cNvCxnSpPr>
          <p:nvPr/>
        </p:nvCxnSpPr>
        <p:spPr>
          <a:xfrm rot="5400000">
            <a:off x="3754120" y="2491105"/>
            <a:ext cx="1116330" cy="741045"/>
          </a:xfrm>
          <a:prstGeom prst="bentConnector3">
            <a:avLst>
              <a:gd name="adj1" fmla="val 50028"/>
            </a:avLst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>
            <a:stCxn id="89" idx="2"/>
            <a:endCxn id="96" idx="0"/>
          </p:cNvCxnSpPr>
          <p:nvPr/>
        </p:nvCxnSpPr>
        <p:spPr>
          <a:xfrm>
            <a:off x="6509385" y="1393825"/>
            <a:ext cx="0" cy="368935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直接箭头连接符 182"/>
          <p:cNvCxnSpPr>
            <a:endCxn id="107" idx="0"/>
          </p:cNvCxnSpPr>
          <p:nvPr/>
        </p:nvCxnSpPr>
        <p:spPr>
          <a:xfrm>
            <a:off x="6509385" y="1978660"/>
            <a:ext cx="0" cy="23241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矩形 185"/>
          <p:cNvSpPr/>
          <p:nvPr/>
        </p:nvSpPr>
        <p:spPr>
          <a:xfrm>
            <a:off x="5661025" y="446405"/>
            <a:ext cx="1676400" cy="1030605"/>
          </a:xfrm>
          <a:prstGeom prst="rect">
            <a:avLst/>
          </a:prstGeom>
          <a:solidFill>
            <a:schemeClr val="bg1"/>
          </a:solidFill>
          <a:ln w="12700" cmpd="sng">
            <a:solidFill>
              <a:schemeClr val="accent1">
                <a:shade val="50000"/>
              </a:schemeClr>
            </a:solidFill>
            <a:prstDash val="sysDash"/>
          </a:ln>
          <a:effectLst>
            <a:outerShdw blurRad="40000" dist="23000" dir="5400000" rotWithShape="0">
              <a:srgbClr val="000000">
                <a:alpha val="35000"/>
              </a:srgbClr>
            </a:outerShdw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cxnSp>
        <p:nvCxnSpPr>
          <p:cNvPr id="184" name="直接箭头连接符 183"/>
          <p:cNvCxnSpPr>
            <a:stCxn id="107" idx="2"/>
            <a:endCxn id="383" idx="0"/>
          </p:cNvCxnSpPr>
          <p:nvPr/>
        </p:nvCxnSpPr>
        <p:spPr>
          <a:xfrm>
            <a:off x="6509385" y="2720340"/>
            <a:ext cx="0" cy="28321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直接箭头连接符 184"/>
          <p:cNvCxnSpPr>
            <a:stCxn id="383" idx="2"/>
          </p:cNvCxnSpPr>
          <p:nvPr/>
        </p:nvCxnSpPr>
        <p:spPr>
          <a:xfrm>
            <a:off x="6509385" y="3219450"/>
            <a:ext cx="0" cy="31877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5807300" y="538390"/>
            <a:ext cx="1403999" cy="39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5850499" y="567190"/>
            <a:ext cx="1317599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90204"/>
              </a:rPr>
              <a:t>1D Semantics  d_1d</a:t>
            </a:r>
            <a:endParaRPr sz="8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5922500" y="7183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0900" y="7183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39299" y="7183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97699" y="7183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556100" y="696790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5807300" y="997305"/>
            <a:ext cx="1403999" cy="39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5850500" y="1026105"/>
            <a:ext cx="1317599" cy="1800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B06816"/>
                </a:solidFill>
                <a:latin typeface="Arial" panose="020B0604020202090204"/>
              </a:rPr>
              <a:t>2D/3D Geometry  d_geo</a:t>
            </a:r>
            <a:endParaRPr sz="80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5922500" y="117730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080900" y="117730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239299" y="117730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397699" y="117730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556100" y="1155705"/>
            <a:ext cx="251999" cy="172800"/>
          </a:xfrm>
          <a:prstGeom prst="rect">
            <a:avLst/>
          </a:prstGeom>
          <a:noFill/>
          <a:ln>
            <a:noFill/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9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90204"/>
            </a:endParaRPr>
          </a:p>
        </p:txBody>
      </p:sp>
      <p:cxnSp>
        <p:nvCxnSpPr>
          <p:cNvPr id="164" name="直接箭头连接符 163"/>
          <p:cNvCxnSpPr/>
          <p:nvPr/>
        </p:nvCxnSpPr>
        <p:spPr>
          <a:xfrm>
            <a:off x="5158740" y="747395"/>
            <a:ext cx="648335" cy="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直接箭头连接符 186"/>
          <p:cNvCxnSpPr>
            <a:stCxn id="165" idx="3"/>
            <a:endCxn id="178" idx="2"/>
          </p:cNvCxnSpPr>
          <p:nvPr/>
        </p:nvCxnSpPr>
        <p:spPr>
          <a:xfrm>
            <a:off x="9791700" y="1049020"/>
            <a:ext cx="276225" cy="3810"/>
          </a:xfrm>
          <a:prstGeom prst="straightConnector1">
            <a:avLst/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直接箭头连接符 187"/>
          <p:cNvCxnSpPr/>
          <p:nvPr/>
        </p:nvCxnSpPr>
        <p:spPr>
          <a:xfrm>
            <a:off x="10348595" y="1052830"/>
            <a:ext cx="294640" cy="0"/>
          </a:xfrm>
          <a:prstGeom prst="straightConnector1">
            <a:avLst/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肘形连接符 188"/>
          <p:cNvCxnSpPr>
            <a:stCxn id="385" idx="3"/>
          </p:cNvCxnSpPr>
          <p:nvPr/>
        </p:nvCxnSpPr>
        <p:spPr>
          <a:xfrm>
            <a:off x="8220710" y="831850"/>
            <a:ext cx="308610" cy="3175"/>
          </a:xfrm>
          <a:prstGeom prst="bentConnector2">
            <a:avLst/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肘形连接符 189"/>
          <p:cNvCxnSpPr/>
          <p:nvPr/>
        </p:nvCxnSpPr>
        <p:spPr>
          <a:xfrm rot="5400000">
            <a:off x="10513695" y="1574800"/>
            <a:ext cx="1013460" cy="476885"/>
          </a:xfrm>
          <a:prstGeom prst="bentConnector3">
            <a:avLst>
              <a:gd name="adj1" fmla="val 34429"/>
            </a:avLst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肘形连接符 190"/>
          <p:cNvCxnSpPr/>
          <p:nvPr/>
        </p:nvCxnSpPr>
        <p:spPr>
          <a:xfrm rot="5400000" flipV="1">
            <a:off x="8053705" y="1456055"/>
            <a:ext cx="851535" cy="876300"/>
          </a:xfrm>
          <a:prstGeom prst="bentConnector3">
            <a:avLst>
              <a:gd name="adj1" fmla="val 22110"/>
            </a:avLst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/>
          <p:cNvCxnSpPr/>
          <p:nvPr/>
        </p:nvCxnSpPr>
        <p:spPr>
          <a:xfrm>
            <a:off x="8917620" y="1656000"/>
            <a:ext cx="1864995" cy="0"/>
          </a:xfrm>
          <a:prstGeom prst="line">
            <a:avLst/>
          </a:prstGeom>
          <a:ln w="19050" cap="rnd">
            <a:solidFill>
              <a:srgbClr val="6242AA"/>
            </a:solidFill>
            <a:tailEnd type="non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stCxn id="181" idx="2"/>
            <a:endCxn id="402" idx="0"/>
          </p:cNvCxnSpPr>
          <p:nvPr/>
        </p:nvCxnSpPr>
        <p:spPr>
          <a:xfrm>
            <a:off x="8917305" y="2860040"/>
            <a:ext cx="0" cy="385445"/>
          </a:xfrm>
          <a:prstGeom prst="straightConnector1">
            <a:avLst/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直接箭头连接符 195"/>
          <p:cNvCxnSpPr/>
          <p:nvPr/>
        </p:nvCxnSpPr>
        <p:spPr>
          <a:xfrm>
            <a:off x="10614025" y="2854960"/>
            <a:ext cx="0" cy="397510"/>
          </a:xfrm>
          <a:prstGeom prst="straightConnector1">
            <a:avLst/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肘形连接符 198"/>
          <p:cNvCxnSpPr>
            <a:stCxn id="402" idx="2"/>
            <a:endCxn id="253" idx="0"/>
          </p:cNvCxnSpPr>
          <p:nvPr/>
        </p:nvCxnSpPr>
        <p:spPr>
          <a:xfrm rot="5400000" flipV="1">
            <a:off x="9109710" y="3392170"/>
            <a:ext cx="473710" cy="858520"/>
          </a:xfrm>
          <a:prstGeom prst="bentConnector3">
            <a:avLst>
              <a:gd name="adj1" fmla="val 50670"/>
            </a:avLst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肘形连接符 199"/>
          <p:cNvCxnSpPr>
            <a:stCxn id="252" idx="2"/>
          </p:cNvCxnSpPr>
          <p:nvPr/>
        </p:nvCxnSpPr>
        <p:spPr>
          <a:xfrm rot="5400000">
            <a:off x="10073005" y="3282315"/>
            <a:ext cx="238760" cy="843280"/>
          </a:xfrm>
          <a:prstGeom prst="bentConnector2">
            <a:avLst/>
          </a:prstGeom>
          <a:ln w="19050" cap="rnd">
            <a:solidFill>
              <a:srgbClr val="6242AA"/>
            </a:solidFill>
            <a:tailEnd type="non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肘形连接符 200"/>
          <p:cNvCxnSpPr>
            <a:stCxn id="179" idx="2"/>
            <a:endCxn id="281" idx="0"/>
          </p:cNvCxnSpPr>
          <p:nvPr/>
        </p:nvCxnSpPr>
        <p:spPr>
          <a:xfrm rot="5400000">
            <a:off x="8593773" y="4551363"/>
            <a:ext cx="904240" cy="1449705"/>
          </a:xfrm>
          <a:prstGeom prst="bentConnector3">
            <a:avLst>
              <a:gd name="adj1" fmla="val 49965"/>
            </a:avLst>
          </a:prstGeom>
          <a:ln w="19050" cap="rnd">
            <a:solidFill>
              <a:srgbClr val="6242AA"/>
            </a:solidFill>
            <a:tailEnd type="non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stCxn id="281" idx="3"/>
            <a:endCxn id="100" idx="2"/>
          </p:cNvCxnSpPr>
          <p:nvPr/>
        </p:nvCxnSpPr>
        <p:spPr>
          <a:xfrm>
            <a:off x="8781415" y="6063615"/>
            <a:ext cx="621030" cy="1905"/>
          </a:xfrm>
          <a:prstGeom prst="straightConnector1">
            <a:avLst/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直接箭头连接符 202"/>
          <p:cNvCxnSpPr/>
          <p:nvPr/>
        </p:nvCxnSpPr>
        <p:spPr>
          <a:xfrm>
            <a:off x="9691370" y="6065520"/>
            <a:ext cx="560070" cy="6985"/>
          </a:xfrm>
          <a:prstGeom prst="straightConnector1">
            <a:avLst/>
          </a:prstGeom>
          <a:ln w="19050" cap="rnd">
            <a:solidFill>
              <a:srgbClr val="6242AA"/>
            </a:solidFill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>
            <a:off x="5158740" y="1445895"/>
            <a:ext cx="309880" cy="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non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肘形连接符 165"/>
          <p:cNvCxnSpPr>
            <a:stCxn id="68" idx="3"/>
            <a:endCxn id="89" idx="1"/>
          </p:cNvCxnSpPr>
          <p:nvPr/>
        </p:nvCxnSpPr>
        <p:spPr>
          <a:xfrm flipV="1">
            <a:off x="5184775" y="1195705"/>
            <a:ext cx="622300" cy="2342515"/>
          </a:xfrm>
          <a:prstGeom prst="bentConnector3">
            <a:avLst>
              <a:gd name="adj1" fmla="val 46938"/>
            </a:avLst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/>
        </p:nvCxnSpPr>
        <p:spPr>
          <a:xfrm flipV="1">
            <a:off x="1633220" y="1463675"/>
            <a:ext cx="417830" cy="508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/>
          <p:nvPr/>
        </p:nvCxnSpPr>
        <p:spPr>
          <a:xfrm flipV="1">
            <a:off x="1633220" y="785495"/>
            <a:ext cx="417830" cy="508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5259070" y="5751195"/>
            <a:ext cx="573405" cy="245110"/>
          </a:xfrm>
          <a:prstGeom prst="rect">
            <a:avLst/>
          </a:prstGeom>
          <a:noFill/>
          <a:effectLst>
            <a:reflection stA="0" endPos="65000" dist="50800" dir="5400000" sy="-100000" algn="bl" rotWithShape="0"/>
          </a:effectLst>
        </p:spPr>
        <p:txBody>
          <a:bodyPr wrap="square" rtlCol="0">
            <a:spAutoFit/>
          </a:bodyPr>
          <a:p>
            <a:r>
              <a:rPr lang="en-US" sz="1000" b="1">
                <a:solidFill>
                  <a:srgbClr val="2854A2"/>
                </a:solidFill>
                <a:latin typeface="Arial Regular" panose="020B0604020202090204" charset="0"/>
                <a:cs typeface="Arial Regular" panose="020B0604020202090204" charset="0"/>
              </a:rPr>
              <a:t>(</a:t>
            </a:r>
            <a:r>
              <a:rPr sz="1000" b="1">
                <a:solidFill>
                  <a:srgbClr val="2854A2"/>
                </a:solidFill>
                <a:latin typeface="Arial Regular" panose="020B0604020202090204" charset="0"/>
                <a:cs typeface="Arial Regular" panose="020B0604020202090204" charset="0"/>
              </a:rPr>
              <a:t>γ</a:t>
            </a:r>
            <a:r>
              <a:rPr lang="en-US" altLang="zh-CN" sz="1000">
                <a:latin typeface="Arial Regular" panose="020B0604020202090204" charset="0"/>
                <a:cs typeface="Arial Regular" panose="020B0604020202090204" charset="0"/>
              </a:rPr>
              <a:t>,</a:t>
            </a:r>
            <a:r>
              <a:rPr sz="1000" b="1">
                <a:solidFill>
                  <a:srgbClr val="2854A2"/>
                </a:solidFill>
                <a:latin typeface="Arial Regular" panose="020B0604020202090204" charset="0"/>
                <a:cs typeface="Arial Regular" panose="020B0604020202090204" charset="0"/>
              </a:rPr>
              <a:t>β</a:t>
            </a:r>
            <a:r>
              <a:rPr lang="en-US" sz="1000" b="1">
                <a:solidFill>
                  <a:srgbClr val="2854A2"/>
                </a:solidFill>
                <a:latin typeface="Arial Regular" panose="020B0604020202090204" charset="0"/>
                <a:cs typeface="Arial Regular" panose="020B0604020202090204" charset="0"/>
              </a:rPr>
              <a:t>)</a:t>
            </a:r>
            <a:endParaRPr lang="en-US" sz="1000" b="1">
              <a:solidFill>
                <a:srgbClr val="2854A2"/>
              </a:solidFill>
              <a:latin typeface="Arial Regular" panose="020B0604020202090204" charset="0"/>
              <a:cs typeface="Arial Regular" panose="020B0604020202090204" charset="0"/>
            </a:endParaRPr>
          </a:p>
        </p:txBody>
      </p:sp>
      <p:sp>
        <p:nvSpPr>
          <p:cNvPr id="121" name="左大括号 120"/>
          <p:cNvSpPr/>
          <p:nvPr/>
        </p:nvSpPr>
        <p:spPr>
          <a:xfrm>
            <a:off x="10424795" y="5751195"/>
            <a:ext cx="134620" cy="385445"/>
          </a:xfrm>
          <a:prstGeom prst="leftBrace">
            <a:avLst/>
          </a:prstGeom>
          <a:ln w="19050"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152" name="文本框 151"/>
          <p:cNvSpPr txBox="1"/>
          <p:nvPr/>
        </p:nvSpPr>
        <p:spPr>
          <a:xfrm>
            <a:off x="10557828" y="5661025"/>
            <a:ext cx="102997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ŷ = </a:t>
            </a:r>
            <a:r>
              <a:rPr lang="en-US"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0</a:t>
            </a:r>
            <a:r>
              <a:rPr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(p </a:t>
            </a:r>
            <a:r>
              <a:rPr lang="en-US" altLang="zh-CN"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≤</a:t>
            </a:r>
            <a:r>
              <a:rPr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 </a:t>
            </a:r>
            <a:r>
              <a:rPr lang="en-US" altLang="zh-CN"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τ</a:t>
            </a:r>
            <a:r>
              <a:rPr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)</a:t>
            </a:r>
            <a:endParaRPr lang="zh-CN" altLang="en-US" sz="1000"/>
          </a:p>
        </p:txBody>
      </p:sp>
      <p:sp>
        <p:nvSpPr>
          <p:cNvPr id="163" name="文本框 162"/>
          <p:cNvSpPr txBox="1"/>
          <p:nvPr/>
        </p:nvSpPr>
        <p:spPr>
          <a:xfrm>
            <a:off x="10175875" y="6235065"/>
            <a:ext cx="16764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Label ∈ {0, 1}</a:t>
            </a:r>
            <a:endParaRPr lang="zh-CN" altLang="en-US" sz="1000"/>
          </a:p>
        </p:txBody>
      </p:sp>
      <p:sp>
        <p:nvSpPr>
          <p:cNvPr id="167" name="文本框 166"/>
          <p:cNvSpPr txBox="1"/>
          <p:nvPr/>
        </p:nvSpPr>
        <p:spPr>
          <a:xfrm>
            <a:off x="10557828" y="5963285"/>
            <a:ext cx="102997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ŷ = 1(p ≥ </a:t>
            </a:r>
            <a:r>
              <a:rPr lang="en-US" altLang="zh-CN"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τ</a:t>
            </a:r>
            <a:r>
              <a:rPr sz="1000" b="1">
                <a:solidFill>
                  <a:srgbClr val="934D37"/>
                </a:solidFill>
                <a:latin typeface="Arial" panose="020B0604020202090204"/>
                <a:sym typeface="+mn-ea"/>
              </a:rPr>
              <a:t>)</a:t>
            </a:r>
            <a:endParaRPr lang="zh-CN" altLang="en-US" sz="1000"/>
          </a:p>
        </p:txBody>
      </p:sp>
      <p:sp>
        <p:nvSpPr>
          <p:cNvPr id="177" name="文本框 176"/>
          <p:cNvSpPr txBox="1"/>
          <p:nvPr/>
        </p:nvSpPr>
        <p:spPr>
          <a:xfrm>
            <a:off x="8615680" y="5931535"/>
            <a:ext cx="629920" cy="418465"/>
          </a:xfrm>
          <a:prstGeom prst="rect">
            <a:avLst/>
          </a:prstGeom>
          <a:noFill/>
          <a:effectLst>
            <a:reflection stA="0" endPos="65000" dist="50800" dir="5400000" sy="-100000" algn="bl" rotWithShape="0"/>
          </a:effectLst>
        </p:spPr>
        <p:txBody>
          <a:bodyPr wrap="square" rtlCol="0">
            <a:noAutofit/>
          </a:bodyPr>
          <a:p>
            <a:pPr algn="ctr"/>
            <a:endParaRPr sz="1000" b="1">
              <a:solidFill>
                <a:schemeClr val="tx1"/>
              </a:solidFill>
              <a:latin typeface="Arial" panose="020B0604020202090204"/>
            </a:endParaRPr>
          </a:p>
          <a:p>
            <a:pPr algn="ctr"/>
            <a:r>
              <a:rPr sz="1000" b="1">
                <a:solidFill>
                  <a:schemeClr val="tx1"/>
                </a:solidFill>
                <a:latin typeface="Arial" panose="020B0604020202090204"/>
                <a:sym typeface="+mn-ea"/>
              </a:rPr>
              <a:t>× 3</a:t>
            </a:r>
            <a:endParaRPr lang="zh-CN" altLang="en-US" sz="1000" b="1">
              <a:solidFill>
                <a:schemeClr val="tx1"/>
              </a:solidFill>
              <a:latin typeface="Arial" panose="020B0604020202090204"/>
              <a:sym typeface="+mn-ea"/>
            </a:endParaRPr>
          </a:p>
        </p:txBody>
      </p:sp>
      <p:sp>
        <p:nvSpPr>
          <p:cNvPr id="178" name="Oval 66"/>
          <p:cNvSpPr/>
          <p:nvPr/>
        </p:nvSpPr>
        <p:spPr>
          <a:xfrm>
            <a:off x="10067925" y="909310"/>
            <a:ext cx="294640" cy="28638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30A0"/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800" b="1">
                <a:solidFill>
                  <a:schemeClr val="accent4"/>
                </a:solidFill>
                <a:latin typeface="Arial" panose="020B0604020202090204"/>
              </a:rPr>
              <a:t>g</a:t>
            </a:r>
            <a:endParaRPr lang="en-US" altLang="zh-CN" sz="800" b="1">
              <a:solidFill>
                <a:schemeClr val="accent4"/>
              </a:solidFill>
              <a:latin typeface="Arial" panose="020B0604020202090204"/>
            </a:endParaRPr>
          </a:p>
        </p:txBody>
      </p:sp>
      <p:sp>
        <p:nvSpPr>
          <p:cNvPr id="192" name="Oval 66"/>
          <p:cNvSpPr/>
          <p:nvPr/>
        </p:nvSpPr>
        <p:spPr>
          <a:xfrm>
            <a:off x="3794760" y="3420100"/>
            <a:ext cx="294640" cy="286385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  <a:effectLst>
            <a:reflection stA="0" endPos="65000" dist="508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800" b="1">
                <a:solidFill>
                  <a:srgbClr val="B06816"/>
                </a:solidFill>
                <a:latin typeface="Arial" panose="020B0604020202090204"/>
              </a:rPr>
              <a:t>x</a:t>
            </a:r>
            <a:endParaRPr lang="en-US" altLang="zh-CN" sz="800" b="1">
              <a:solidFill>
                <a:srgbClr val="B06816"/>
              </a:solidFill>
              <a:latin typeface="Arial" panose="020B0604020202090204"/>
            </a:endParaRPr>
          </a:p>
        </p:txBody>
      </p:sp>
      <p:cxnSp>
        <p:nvCxnSpPr>
          <p:cNvPr id="194" name="直接箭头连接符 193"/>
          <p:cNvCxnSpPr/>
          <p:nvPr/>
        </p:nvCxnSpPr>
        <p:spPr>
          <a:xfrm>
            <a:off x="4089400" y="3562985"/>
            <a:ext cx="267970" cy="0"/>
          </a:xfrm>
          <a:prstGeom prst="straightConnector1">
            <a:avLst/>
          </a:prstGeom>
          <a:ln w="19050" cap="flat" cmpd="sng">
            <a:solidFill>
              <a:schemeClr val="accent1">
                <a:lumMod val="75000"/>
              </a:schemeClr>
            </a:solidFill>
            <a:prstDash val="solid"/>
            <a:headEnd type="none"/>
            <a:tailEnd type="triangle" w="med" len="med"/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959</Words>
  <Application>WPS 演示</Application>
  <PresentationFormat>On-screen Show (4:3)</PresentationFormat>
  <Paragraphs>175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宋体</vt:lpstr>
      <vt:lpstr>Wingdings</vt:lpstr>
      <vt:lpstr>Arial</vt:lpstr>
      <vt:lpstr>Times New Roman</vt:lpstr>
      <vt:lpstr>Arial Regular</vt:lpstr>
      <vt:lpstr>汉仪书宋二KW</vt:lpstr>
      <vt:lpstr>Calibri</vt:lpstr>
      <vt:lpstr>Helvetica Neue</vt:lpstr>
      <vt:lpstr>宋体-简</vt:lpstr>
      <vt:lpstr>微软雅黑</vt:lpstr>
      <vt:lpstr>汉仪旗黑</vt:lpstr>
      <vt:lpstr>宋体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Changes</cp:lastModifiedBy>
  <cp:revision>133</cp:revision>
  <dcterms:created xsi:type="dcterms:W3CDTF">2026-06-24T09:56:39Z</dcterms:created>
  <dcterms:modified xsi:type="dcterms:W3CDTF">2026-06-24T09:56:39Z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7E95DADB501D40198A036DAC2A7FC248_13</vt:lpwstr>
  </property>
</Properties>
</file>