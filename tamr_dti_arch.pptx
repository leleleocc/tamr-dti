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3"/>
  </p:sldIdLst>
  <p:sldSz cx="1219263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30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customXmlProps" Target="../customXml/itemProps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657" y="1143000"/>
            <a:ext cx="548668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" name="Rounded Rectangle 125"/>
          <p:cNvSpPr/>
          <p:nvPr/>
        </p:nvSpPr>
        <p:spPr>
          <a:xfrm>
            <a:off x="144780" y="4349115"/>
            <a:ext cx="7339330" cy="2487930"/>
          </a:xfrm>
          <a:prstGeom prst="roundRect">
            <a:avLst/>
          </a:prstGeom>
          <a:solidFill>
            <a:srgbClr val="EFF4FC"/>
          </a:solidFill>
          <a:ln w="12700">
            <a:solidFill>
              <a:srgbClr val="CED0D6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44145" y="144145"/>
            <a:ext cx="5266690" cy="2339340"/>
          </a:xfrm>
          <a:prstGeom prst="roundRect">
            <a:avLst/>
          </a:prstGeom>
          <a:solidFill>
            <a:srgbClr val="F1F8F4"/>
          </a:solidFill>
          <a:ln w="12700" cap="sq">
            <a:solidFill>
              <a:srgbClr val="CED0D6"/>
            </a:solidFill>
            <a:miter lim="800000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3060" y="205105"/>
            <a:ext cx="2879725" cy="21272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90204"/>
              </a:rPr>
              <a:t>Drug Representation</a:t>
            </a:r>
            <a:endParaRPr sz="11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7665" y="504190"/>
            <a:ext cx="1259840" cy="58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1570" y="522000"/>
            <a:ext cx="792000" cy="1512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00" b="1">
                <a:solidFill>
                  <a:srgbClr val="266E46"/>
                </a:solidFill>
                <a:latin typeface="Arial" panose="020B0604020202090204"/>
              </a:rPr>
              <a:t>SMILES</a:t>
            </a:r>
            <a:endParaRPr sz="900" b="1">
              <a:solidFill>
                <a:srgbClr val="266E46"/>
              </a:solidFill>
              <a:latin typeface="Arial" panose="020B0604020202090204"/>
            </a:endParaRPr>
          </a:p>
        </p:txBody>
      </p:sp>
      <p:pic>
        <p:nvPicPr>
          <p:cNvPr id="6" name="Picture 5" descr="m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880" y="620720"/>
            <a:ext cx="630000" cy="450000"/>
          </a:xfrm>
          <a:prstGeom prst="rect">
            <a:avLst/>
          </a:prstGeom>
          <a:effectLst>
            <a:reflection stA="0" endPos="65000" dist="50800" dir="5400000" sy="-100000" algn="bl" rotWithShape="0"/>
          </a:effectLst>
        </p:spPr>
      </p:pic>
      <p:sp>
        <p:nvSpPr>
          <p:cNvPr id="7" name="Rectangle 6"/>
          <p:cNvSpPr/>
          <p:nvPr/>
        </p:nvSpPr>
        <p:spPr>
          <a:xfrm>
            <a:off x="367665" y="1235075"/>
            <a:ext cx="1259840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2D Molecular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Graph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7665" y="1835785"/>
            <a:ext cx="1259840" cy="4679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K Conformers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+ Energy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050775" y="562030"/>
            <a:ext cx="936000" cy="45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ChemBERTa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50775" y="1235260"/>
            <a:ext cx="936000" cy="45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GCN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50775" y="1836100"/>
            <a:ext cx="936000" cy="45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EGNN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90900" y="538480"/>
            <a:ext cx="1767205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34325" y="567335"/>
            <a:ext cx="1749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Molecular Semantics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6325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647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231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815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399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8324" y="78569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1535" y="1205865"/>
            <a:ext cx="1767205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34960" y="1234850"/>
            <a:ext cx="1749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Topology Tokens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06960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653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237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821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405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8959" y="1445585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90900" y="1780540"/>
            <a:ext cx="73088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34080" y="1798955"/>
            <a:ext cx="687705" cy="17970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Summaries</a:t>
            </a:r>
            <a:endParaRPr lang="en-US" altLang="zh-CN"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73940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32339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90739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20499" y="2083255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44145" y="2592070"/>
            <a:ext cx="5266690" cy="1642745"/>
          </a:xfrm>
          <a:prstGeom prst="roundRect">
            <a:avLst/>
          </a:prstGeom>
          <a:solidFill>
            <a:srgbClr val="FDF7EE"/>
          </a:solidFill>
          <a:ln w="12700">
            <a:solidFill>
              <a:srgbClr val="CED0D6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3060" y="2720340"/>
            <a:ext cx="1677035" cy="23368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000" b="1">
                <a:solidFill>
                  <a:srgbClr val="B06816"/>
                </a:solidFill>
                <a:latin typeface="Arial" panose="020B0604020202090204"/>
              </a:rPr>
              <a:t>Target-aware Conformer</a:t>
            </a:r>
            <a:endParaRPr sz="10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7665" y="2988945"/>
            <a:ext cx="1259840" cy="5060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10185" y="3039110"/>
            <a:ext cx="1522730" cy="17970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2854A2"/>
                </a:solidFill>
                <a:latin typeface="Arial" panose="020B0604020202090204"/>
              </a:rPr>
              <a:t>Protein Seed</a:t>
            </a:r>
            <a:r>
              <a:rPr lang="en-US" sz="800" b="1">
                <a:solidFill>
                  <a:srgbClr val="2854A2"/>
                </a:solidFill>
                <a:latin typeface="Arial" panose="020B0604020202090204"/>
              </a:rPr>
              <a:t> </a:t>
            </a:r>
            <a:r>
              <a:rPr sz="800" b="1">
                <a:solidFill>
                  <a:srgbClr val="2854A2"/>
                </a:solidFill>
                <a:latin typeface="Arial" panose="020B0604020202090204"/>
              </a:rPr>
              <a:t>Context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231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071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911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7794" y="326903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67665" y="3596640"/>
            <a:ext cx="1259840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83210" y="3643630"/>
            <a:ext cx="1449705" cy="17970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Energy Embedding</a:t>
            </a:r>
            <a:r>
              <a:rPr lang="en-US" sz="800" b="1">
                <a:solidFill>
                  <a:srgbClr val="B06816"/>
                </a:solidFill>
                <a:latin typeface="Arial" panose="020B0604020202090204"/>
              </a:rPr>
              <a:t> </a:t>
            </a:r>
            <a:r>
              <a:rPr lang="en-US" altLang="zh-CN" sz="800" b="1">
                <a:solidFill>
                  <a:srgbClr val="B06816"/>
                </a:solidFill>
                <a:latin typeface="Arial" panose="020B0604020202090204"/>
              </a:rPr>
              <a:t>ε_k</a:t>
            </a:r>
            <a:endParaRPr lang="en-US" altLang="zh-CN"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535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19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03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87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7159" y="3906795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002155" y="3197225"/>
            <a:ext cx="481330" cy="720090"/>
          </a:xfrm>
          <a:prstGeom prst="roundRect">
            <a:avLst/>
          </a:prstGeom>
          <a:solidFill>
            <a:srgbClr val="FAE9D0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06816"/>
                </a:solidFill>
                <a:latin typeface="Arial" panose="020B0604020202090204"/>
              </a:rPr>
              <a:t>MLP</a:t>
            </a:r>
            <a:endParaRPr sz="10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797690" y="3108750"/>
            <a:ext cx="2307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797690" y="3396750"/>
            <a:ext cx="37764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797690" y="3861915"/>
            <a:ext cx="1389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357370" y="3186430"/>
            <a:ext cx="827405" cy="70294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447540" y="3219450"/>
            <a:ext cx="885825" cy="20637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Target-aware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  <a:p>
            <a:pPr algn="l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Geometry Tokens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472855" y="367310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31255" y="367310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89655" y="367310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48054" y="365150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543550" y="128270"/>
            <a:ext cx="1925320" cy="410591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CED0D6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662930" y="226695"/>
            <a:ext cx="1821180" cy="27749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90204"/>
              </a:rPr>
              <a:t>Token-wise</a:t>
            </a:r>
            <a:r>
              <a:rPr lang="en-US" sz="1100" b="1">
                <a:solidFill>
                  <a:srgbClr val="266E46"/>
                </a:solidFill>
                <a:latin typeface="Arial" panose="020B0604020202090204"/>
              </a:rPr>
              <a:t> </a:t>
            </a:r>
            <a:r>
              <a:rPr sz="1100" b="1">
                <a:solidFill>
                  <a:srgbClr val="266E46"/>
                </a:solidFill>
                <a:latin typeface="Arial" panose="020B0604020202090204"/>
                <a:sym typeface="+mn-ea"/>
              </a:rPr>
              <a:t>Fusion Gate</a:t>
            </a:r>
            <a:endParaRPr sz="1100" b="1">
              <a:solidFill>
                <a:srgbClr val="266E46"/>
              </a:solidFill>
              <a:latin typeface="Arial" panose="020B0604020202090204"/>
            </a:endParaRPr>
          </a:p>
          <a:p>
            <a:pPr algn="l"/>
            <a:endParaRPr lang="en-US" sz="11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969300" y="1762760"/>
            <a:ext cx="1080000" cy="216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900" b="1">
                <a:solidFill>
                  <a:srgbClr val="266E46"/>
                </a:solidFill>
                <a:latin typeface="Arial" panose="020B0604020202090204"/>
              </a:rPr>
              <a:t>Gated Fusion</a:t>
            </a:r>
            <a:endParaRPr lang="en-US" altLang="zh-CN" sz="9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807075" y="2211070"/>
            <a:ext cx="1403985" cy="509270"/>
          </a:xfrm>
          <a:prstGeom prst="rect">
            <a:avLst/>
          </a:prstGeom>
          <a:solidFill>
            <a:srgbClr val="D8ECDE"/>
          </a:solidFill>
          <a:ln w="25400" cmpd="sng">
            <a:solidFill>
              <a:schemeClr val="accent3">
                <a:lumMod val="75000"/>
              </a:schemeClr>
            </a:solidFill>
            <a:prstDash val="solid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93680" y="2282105"/>
            <a:ext cx="1317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DR</a:t>
            </a:r>
            <a:r>
              <a:rPr lang="en-US" sz="800" b="1">
                <a:solidFill>
                  <a:srgbClr val="266E46"/>
                </a:solidFill>
                <a:latin typeface="Arial" panose="020B0604020202090204"/>
              </a:rPr>
              <a:t>U</a:t>
            </a:r>
            <a:r>
              <a:rPr sz="800" b="1">
                <a:solidFill>
                  <a:srgbClr val="266E46"/>
                </a:solidFill>
                <a:latin typeface="Arial" panose="020B0604020202090204"/>
              </a:rPr>
              <a:t>G : Fused Drug  D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951710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10110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268509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26909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85310" y="248307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5807300" y="3544035"/>
            <a:ext cx="1403999" cy="4679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850499" y="3572140"/>
            <a:ext cx="1317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Ligand Context  d_g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5922500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80900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39299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97699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56100" y="377374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353060" y="4442565"/>
            <a:ext cx="2880000" cy="216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854A2"/>
                </a:solidFill>
                <a:latin typeface="Arial" panose="020B0604020202090204"/>
              </a:rPr>
              <a:t>Protein Representation</a:t>
            </a:r>
            <a:endParaRPr sz="11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492760" y="4725035"/>
            <a:ext cx="1057275" cy="183832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8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1943735" y="5035550"/>
            <a:ext cx="739775" cy="68008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</a:rPr>
              <a:t>ProtBERT</a:t>
            </a:r>
            <a:endParaRPr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3064510" y="4680585"/>
            <a:ext cx="88074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3107490" y="4709485"/>
            <a:ext cx="921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Seed </a:t>
            </a:r>
            <a:r>
              <a:rPr lang="en-US"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Context </a:t>
            </a:r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P</a:t>
            </a:r>
            <a:r>
              <a:rPr lang="en-US"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_g</a:t>
            </a:r>
            <a:endParaRPr lang="en-US" sz="8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3179490" y="496868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337890" y="496868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496290" y="496868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654690" y="4947085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1900555" y="6062345"/>
            <a:ext cx="87185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943535" y="6091110"/>
            <a:ext cx="921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Seed Tokens  P0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2015535" y="635030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173935" y="635030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332335" y="635030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490735" y="632871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4284345" y="4537710"/>
            <a:ext cx="967105" cy="147891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5666105" y="5187315"/>
            <a:ext cx="1301750" cy="152844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</a:p>
          <a:p>
            <a:pPr algn="ctr"/>
          </a:p>
          <a:p>
            <a:pPr algn="ctr"/>
            <a:endParaRPr sz="95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5812790" y="4588510"/>
            <a:ext cx="1002030" cy="504190"/>
          </a:xfrm>
          <a:prstGeom prst="rect">
            <a:avLst/>
          </a:prstGeom>
          <a:solidFill>
            <a:srgbClr val="D6E3F6"/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5850255" y="4646930"/>
            <a:ext cx="1029335" cy="17970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</a:rPr>
              <a:t>Protein Tokens  P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6144585" y="487324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974690" y="487324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318510" y="487324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497230" y="4842119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7631430" y="144780"/>
            <a:ext cx="4239895" cy="4866640"/>
          </a:xfrm>
          <a:prstGeom prst="roundRect">
            <a:avLst/>
          </a:prstGeom>
          <a:solidFill>
            <a:srgbClr val="F7F7F9"/>
          </a:solidFill>
          <a:ln w="19050">
            <a:solidFill>
              <a:srgbClr val="CED0D6"/>
            </a:solidFill>
            <a:miter lim="800000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8220905" y="230810"/>
            <a:ext cx="2880000" cy="216000"/>
          </a:xfrm>
          <a:prstGeom prst="rect">
            <a:avLst/>
          </a:prstGeom>
          <a:ln w="19050" cap="rnd">
            <a:noFill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6242AA"/>
                </a:solidFill>
                <a:latin typeface="Arial" panose="020B0604020202090204"/>
              </a:rPr>
              <a:t>Protein-Mamba BiIntention Fusion</a:t>
            </a:r>
            <a:endParaRPr sz="1100" b="1">
              <a:solidFill>
                <a:srgbClr val="6242AA"/>
              </a:solidFill>
              <a:latin typeface="Arial" panose="020B0604020202090204"/>
            </a:endParaRPr>
          </a:p>
        </p:txBody>
      </p:sp>
      <p:sp>
        <p:nvSpPr>
          <p:cNvPr id="165" name="Rounded Rectangle 164"/>
          <p:cNvSpPr/>
          <p:nvPr/>
        </p:nvSpPr>
        <p:spPr>
          <a:xfrm>
            <a:off x="8529320" y="703580"/>
            <a:ext cx="1262380" cy="690245"/>
          </a:xfrm>
          <a:prstGeom prst="roundRect">
            <a:avLst/>
          </a:prstGeom>
          <a:solidFill>
            <a:srgbClr val="E3DCF3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1000" b="1">
              <a:solidFill>
                <a:srgbClr val="6242AA"/>
              </a:solidFill>
              <a:latin typeface="Arial" panose="020B0604020202090204"/>
              <a:sym typeface="+mn-ea"/>
            </a:endParaRPr>
          </a:p>
          <a:p>
            <a:pPr algn="ctr"/>
            <a:r>
              <a:rPr sz="1000" b="1">
                <a:solidFill>
                  <a:srgbClr val="6242AA"/>
                </a:solidFill>
                <a:latin typeface="Arial" panose="020B0604020202090204"/>
                <a:sym typeface="+mn-ea"/>
              </a:rPr>
              <a:t>Bidirectional</a:t>
            </a:r>
            <a:endParaRPr sz="1000" b="1">
              <a:solidFill>
                <a:srgbClr val="6242AA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6242AA"/>
                </a:solidFill>
                <a:latin typeface="Arial" panose="020B0604020202090204"/>
                <a:sym typeface="+mn-ea"/>
              </a:rPr>
              <a:t>Mamba (SSM)</a:t>
            </a:r>
            <a:endParaRPr sz="1000" b="1">
              <a:solidFill>
                <a:srgbClr val="6242AA"/>
              </a:solidFill>
              <a:latin typeface="Arial" panose="020B0604020202090204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0643235" y="838835"/>
            <a:ext cx="1019175" cy="467995"/>
          </a:xfrm>
          <a:prstGeom prst="rect">
            <a:avLst/>
          </a:prstGeom>
          <a:solidFill>
            <a:srgbClr val="E3DCF3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10686450" y="867765"/>
            <a:ext cx="1065600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6242AA"/>
                </a:solidFill>
                <a:latin typeface="Arial" panose="020B0604020202090204"/>
              </a:rPr>
              <a:t>Refined Protein  P'</a:t>
            </a:r>
            <a:endParaRPr sz="800" b="1">
              <a:solidFill>
                <a:srgbClr val="6242AA"/>
              </a:solidFill>
              <a:latin typeface="Arial" panose="020B0604020202090204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758450" y="109096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916850" y="109096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075250" y="109096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233650" y="1069364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79" name="Rounded Rectangle 178"/>
          <p:cNvSpPr/>
          <p:nvPr/>
        </p:nvSpPr>
        <p:spPr>
          <a:xfrm>
            <a:off x="7942580" y="1842135"/>
            <a:ext cx="3655695" cy="2981960"/>
          </a:xfrm>
          <a:prstGeom prst="roundRect">
            <a:avLst/>
          </a:prstGeom>
          <a:solidFill>
            <a:schemeClr val="bg2"/>
          </a:solidFill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8161020" y="1880235"/>
            <a:ext cx="3312160" cy="27813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</a:rPr>
              <a:t> Bidirectional Cross-Attention</a:t>
            </a:r>
            <a:endParaRPr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8143085" y="2320020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Protein-guided</a:t>
            </a:r>
            <a:br>
              <a:rPr lang="en-US" sz="900" b="1">
                <a:solidFill>
                  <a:srgbClr val="2854A2"/>
                </a:solidFill>
                <a:latin typeface="Arial" panose="020B0604020202090204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Drug Intention</a:t>
            </a:r>
            <a:endParaRPr lang="en-US"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82" name="Rounded Rectangle 181"/>
          <p:cNvSpPr/>
          <p:nvPr/>
        </p:nvSpPr>
        <p:spPr>
          <a:xfrm>
            <a:off x="9856430" y="2320020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90204"/>
                <a:sym typeface="+mn-ea"/>
              </a:rPr>
              <a:t>Drug-guided</a:t>
            </a:r>
            <a:br>
              <a:rPr lang="en-US" sz="900" b="1">
                <a:solidFill>
                  <a:srgbClr val="2854A2"/>
                </a:solidFill>
                <a:latin typeface="Arial" panose="020B0604020202090204"/>
                <a:sym typeface="+mn-ea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Intention</a:t>
            </a:r>
            <a:endParaRPr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252" name="Rounded Rectangle 251"/>
          <p:cNvSpPr/>
          <p:nvPr/>
        </p:nvSpPr>
        <p:spPr>
          <a:xfrm>
            <a:off x="10109920" y="3245168"/>
            <a:ext cx="1008000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r>
              <a:rPr sz="900" b="1">
                <a:solidFill>
                  <a:srgbClr val="2854A2"/>
                </a:solidFill>
                <a:latin typeface="Arial" panose="020B0604020202090204"/>
              </a:rPr>
              <a:t>Max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 </a:t>
            </a:r>
            <a:r>
              <a:rPr sz="900" b="1">
                <a:solidFill>
                  <a:srgbClr val="2854A2"/>
                </a:solidFill>
                <a:latin typeface="Arial" panose="020B0604020202090204"/>
              </a:rPr>
              <a:t>Pool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ing</a:t>
            </a:r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8937625" y="4058285"/>
            <a:ext cx="1676400" cy="539750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9162415" y="4147185"/>
            <a:ext cx="1200150" cy="17970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</a:rPr>
              <a:t>Joint Representation  f  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9115735" y="437764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27264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429485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58633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43175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90002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056865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362330" y="433572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79" name="Rounded Rectangle 278"/>
          <p:cNvSpPr/>
          <p:nvPr/>
        </p:nvSpPr>
        <p:spPr>
          <a:xfrm>
            <a:off x="7615555" y="5111750"/>
            <a:ext cx="4255135" cy="1725930"/>
          </a:xfrm>
          <a:prstGeom prst="roundRect">
            <a:avLst/>
          </a:prstGeom>
          <a:solidFill>
            <a:srgbClr val="FDF5F2"/>
          </a:solidFill>
          <a:ln w="12700">
            <a:solidFill>
              <a:srgbClr val="CED0D6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9872980" y="5184775"/>
            <a:ext cx="2077085" cy="2159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B23A24"/>
                </a:solidFill>
                <a:latin typeface="Arial" panose="020B0604020202090204"/>
              </a:rPr>
              <a:t>Interaction Prediction Head</a:t>
            </a:r>
            <a:endParaRPr sz="1100" b="1">
              <a:solidFill>
                <a:srgbClr val="B23A24"/>
              </a:solidFill>
              <a:latin typeface="Arial" panose="020B0604020202090204"/>
            </a:endParaRPr>
          </a:p>
        </p:txBody>
      </p:sp>
      <p:sp>
        <p:nvSpPr>
          <p:cNvPr id="281" name="Rounded Rectangle 280"/>
          <p:cNvSpPr/>
          <p:nvPr/>
        </p:nvSpPr>
        <p:spPr>
          <a:xfrm>
            <a:off x="7860665" y="5728108"/>
            <a:ext cx="920750" cy="669925"/>
          </a:xfrm>
          <a:prstGeom prst="roundRect">
            <a:avLst/>
          </a:prstGeom>
          <a:solidFill>
            <a:srgbClr val="F7DFD7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23A24"/>
                </a:solidFill>
                <a:latin typeface="Arial" panose="020B0604020202090204"/>
              </a:rPr>
              <a:t>MLP</a:t>
            </a:r>
            <a:endParaRPr sz="1000" b="1">
              <a:solidFill>
                <a:srgbClr val="B23A24"/>
              </a:solidFill>
              <a:latin typeface="Arial" panose="020B0604020202090204"/>
            </a:endParaRPr>
          </a:p>
        </p:txBody>
      </p:sp>
      <p:sp>
        <p:nvSpPr>
          <p:cNvPr id="310" name="Rounded Rectangle 309"/>
          <p:cNvSpPr/>
          <p:nvPr/>
        </p:nvSpPr>
        <p:spPr>
          <a:xfrm>
            <a:off x="10251440" y="5633720"/>
            <a:ext cx="1440180" cy="877570"/>
          </a:xfrm>
          <a:prstGeom prst="roundRect">
            <a:avLst/>
          </a:prstGeom>
          <a:solidFill>
            <a:srgbClr val="F7DFD7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1100" b="1">
              <a:solidFill>
                <a:srgbClr val="B23A24"/>
              </a:solidFill>
              <a:latin typeface="Arial" panose="020B0604020202090204"/>
            </a:endParaRPr>
          </a:p>
        </p:txBody>
      </p:sp>
      <p:sp>
        <p:nvSpPr>
          <p:cNvPr id="37" name="Rectangle 46"/>
          <p:cNvSpPr/>
          <p:nvPr/>
        </p:nvSpPr>
        <p:spPr>
          <a:xfrm>
            <a:off x="45356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文本框 39"/>
          <p:cNvSpPr txBox="1"/>
          <p:nvPr/>
        </p:nvSpPr>
        <p:spPr>
          <a:xfrm>
            <a:off x="2772410" y="3444240"/>
            <a:ext cx="573405" cy="398780"/>
          </a:xfrm>
          <a:prstGeom prst="rect">
            <a:avLst/>
          </a:prstGeom>
          <a:noFill/>
          <a:effectLst>
            <a:reflection stA="0" endPos="65000" dist="50800" dir="5400000" sy="-100000" algn="bl" rotWithShape="0"/>
          </a:effectLst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503050405090304" charset="0"/>
                <a:cs typeface="Times New Roman" panose="02020503050405090304" charset="0"/>
              </a:rPr>
              <a:t>...</a:t>
            </a:r>
            <a:endParaRPr lang="en-US" altLang="zh-CN"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385445" y="6047740"/>
            <a:ext cx="1305560" cy="598170"/>
          </a:xfrm>
          <a:prstGeom prst="rect">
            <a:avLst/>
          </a:prstGeom>
          <a:noFill/>
          <a:effectLst>
            <a:reflection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pPr algn="ctr"/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MAVSEQLKVEEL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LSKNYHLENEVAR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LKKLV ...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469900" y="4756150"/>
            <a:ext cx="1065530" cy="383540"/>
          </a:xfrm>
          <a:prstGeom prst="rect">
            <a:avLst/>
          </a:prstGeom>
          <a:noFill/>
          <a:effectLst>
            <a:reflection stA="0" endPos="65000" dist="50800" dir="5400000" sy="-100000" algn="bl" rotWithShape="0"/>
          </a:effectLst>
        </p:spPr>
        <p:txBody>
          <a:bodyPr wrap="square" rtlCol="0">
            <a:spAutoFit/>
          </a:bodyPr>
          <a:p>
            <a:pPr algn="ctr">
              <a:buClrTx/>
              <a:buSzTx/>
              <a:buNone/>
            </a:pPr>
            <a:r>
              <a:rPr sz="95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Sequenc</a:t>
            </a:r>
            <a:r>
              <a:rPr lang="en-US" sz="950" b="1">
                <a:solidFill>
                  <a:srgbClr val="2854A2"/>
                </a:solidFill>
                <a:latin typeface="Arial" panose="020B0604020202090204"/>
                <a:sym typeface="+mn-ea"/>
              </a:rPr>
              <a:t>e</a:t>
            </a:r>
            <a:endParaRPr lang="en-US" sz="95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40" name="Rectangle 27"/>
          <p:cNvSpPr/>
          <p:nvPr/>
        </p:nvSpPr>
        <p:spPr>
          <a:xfrm>
            <a:off x="4201160" y="1780540"/>
            <a:ext cx="95694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41" name="Rectangle 28"/>
          <p:cNvSpPr/>
          <p:nvPr/>
        </p:nvSpPr>
        <p:spPr>
          <a:xfrm>
            <a:off x="4267835" y="1798955"/>
            <a:ext cx="829945" cy="179705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representations</a:t>
            </a:r>
            <a:endParaRPr lang="en-US" altLang="zh-CN"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342" name="Rectangle 29"/>
          <p:cNvSpPr/>
          <p:nvPr/>
        </p:nvSpPr>
        <p:spPr>
          <a:xfrm>
            <a:off x="4316585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0"/>
          <p:cNvSpPr/>
          <p:nvPr/>
        </p:nvSpPr>
        <p:spPr>
          <a:xfrm>
            <a:off x="4474984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1"/>
          <p:cNvSpPr/>
          <p:nvPr/>
        </p:nvSpPr>
        <p:spPr>
          <a:xfrm>
            <a:off x="4633384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"/>
          <p:cNvSpPr/>
          <p:nvPr/>
        </p:nvSpPr>
        <p:spPr>
          <a:xfrm>
            <a:off x="4763144" y="2083255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53" name="Rounded Rectangle 128"/>
          <p:cNvSpPr/>
          <p:nvPr/>
        </p:nvSpPr>
        <p:spPr>
          <a:xfrm>
            <a:off x="2987040" y="5628640"/>
            <a:ext cx="998220" cy="4191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900" b="1">
                <a:solidFill>
                  <a:srgbClr val="2854A2"/>
                </a:solidFill>
                <a:latin typeface="Arial" panose="020B0604020202090204"/>
              </a:rPr>
              <a:t>Masked Mean Pooling</a:t>
            </a:r>
            <a:endParaRPr lang="en-US" altLang="zh-CN"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69" name="Rounded Rectangle 128"/>
          <p:cNvSpPr/>
          <p:nvPr/>
        </p:nvSpPr>
        <p:spPr>
          <a:xfrm>
            <a:off x="5832317" y="6298565"/>
            <a:ext cx="963295" cy="25273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90204"/>
              </a:rPr>
              <a:t>Feed Forward</a:t>
            </a:r>
            <a:endParaRPr lang="en-US"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70" name="Rounded Rectangle 128"/>
          <p:cNvSpPr/>
          <p:nvPr/>
        </p:nvSpPr>
        <p:spPr>
          <a:xfrm>
            <a:off x="5832317" y="5307330"/>
            <a:ext cx="963295" cy="30226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90204"/>
              </a:rPr>
              <a:t>ACmix</a:t>
            </a:r>
            <a:endParaRPr lang="en-US"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71" name="Oval 66"/>
          <p:cNvSpPr/>
          <p:nvPr/>
        </p:nvSpPr>
        <p:spPr>
          <a:xfrm>
            <a:off x="6169964" y="5803900"/>
            <a:ext cx="288000" cy="288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6816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06816"/>
                </a:solidFill>
                <a:latin typeface="Arial" panose="020B0604020202090204"/>
              </a:rPr>
              <a:t>×</a:t>
            </a:r>
            <a:endParaRPr sz="10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377" name="Rounded Rectangle 128"/>
          <p:cNvSpPr/>
          <p:nvPr/>
        </p:nvSpPr>
        <p:spPr>
          <a:xfrm>
            <a:off x="4386580" y="4699000"/>
            <a:ext cx="759600" cy="26280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00" tIns="14400" rIns="28800" bIns="144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78" name="Rounded Rectangle 128"/>
          <p:cNvSpPr/>
          <p:nvPr/>
        </p:nvSpPr>
        <p:spPr>
          <a:xfrm>
            <a:off x="4387850" y="5154295"/>
            <a:ext cx="759600" cy="26280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00" tIns="14400" rIns="28800" bIns="144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SiLU</a:t>
            </a:r>
            <a:endParaRPr lang="en-US" sz="10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79" name="Rounded Rectangle 128"/>
          <p:cNvSpPr/>
          <p:nvPr/>
        </p:nvSpPr>
        <p:spPr>
          <a:xfrm>
            <a:off x="4385310" y="5609590"/>
            <a:ext cx="760730" cy="26289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00" tIns="14400" rIns="28800" bIns="144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83" name="Rounded Rectangle 95"/>
          <p:cNvSpPr/>
          <p:nvPr/>
        </p:nvSpPr>
        <p:spPr>
          <a:xfrm>
            <a:off x="5969300" y="3003650"/>
            <a:ext cx="1080000" cy="2159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900" b="1">
                <a:solidFill>
                  <a:srgbClr val="266E46"/>
                </a:solidFill>
                <a:latin typeface="Arial" panose="020B0604020202090204"/>
              </a:rPr>
              <a:t>Mean Pooling</a:t>
            </a:r>
            <a:endParaRPr lang="en-US" altLang="zh-CN" sz="9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385" name="Rectangle 143"/>
          <p:cNvSpPr/>
          <p:nvPr/>
        </p:nvSpPr>
        <p:spPr>
          <a:xfrm>
            <a:off x="7860665" y="675005"/>
            <a:ext cx="360000" cy="313690"/>
          </a:xfrm>
          <a:prstGeom prst="rect">
            <a:avLst/>
          </a:prstGeom>
          <a:solidFill>
            <a:srgbClr val="D6E3F6"/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854A2"/>
                </a:solidFill>
                <a:latin typeface="Arial" panose="020B0604020202090204"/>
                <a:sym typeface="+mn-ea"/>
              </a:rPr>
              <a:t>P</a:t>
            </a:r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94" name="Rectangle 106"/>
          <p:cNvSpPr/>
          <p:nvPr/>
        </p:nvSpPr>
        <p:spPr>
          <a:xfrm>
            <a:off x="7860665" y="1154430"/>
            <a:ext cx="360000" cy="313200"/>
          </a:xfrm>
          <a:prstGeom prst="rect">
            <a:avLst/>
          </a:prstGeom>
          <a:solidFill>
            <a:srgbClr val="D8ECDE"/>
          </a:solidFill>
          <a:ln w="25400">
            <a:solidFill>
              <a:schemeClr val="accent3">
                <a:lumMod val="75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66E46"/>
                </a:solidFill>
                <a:latin typeface="Arial" panose="020B0604020202090204"/>
                <a:sym typeface="+mn-ea"/>
              </a:rPr>
              <a:t>D</a:t>
            </a:r>
            <a:endParaRPr lang="en-US"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02" name="Rounded Rectangle 251"/>
          <p:cNvSpPr/>
          <p:nvPr/>
        </p:nvSpPr>
        <p:spPr>
          <a:xfrm>
            <a:off x="8413213" y="3245168"/>
            <a:ext cx="1007745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r>
              <a:rPr sz="900" b="1">
                <a:solidFill>
                  <a:srgbClr val="2854A2"/>
                </a:solidFill>
                <a:latin typeface="Arial" panose="020B0604020202090204"/>
              </a:rPr>
              <a:t>Max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 </a:t>
            </a:r>
            <a:r>
              <a:rPr sz="900" b="1">
                <a:solidFill>
                  <a:srgbClr val="2854A2"/>
                </a:solidFill>
                <a:latin typeface="Arial" panose="020B0604020202090204"/>
              </a:rPr>
              <a:t>Pool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ing</a:t>
            </a:r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797175" y="2733675"/>
            <a:ext cx="676910" cy="1346835"/>
          </a:xfrm>
          <a:prstGeom prst="rect">
            <a:avLst/>
          </a:prstGeom>
          <a:noFill/>
          <a:ln w="1270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76" name="图片 75"/>
          <p:cNvPicPr/>
          <p:nvPr/>
        </p:nvPicPr>
        <p:blipFill>
          <a:blip r:embed="rId2"/>
          <a:stretch>
            <a:fillRect/>
          </a:stretch>
        </p:blipFill>
        <p:spPr>
          <a:xfrm>
            <a:off x="567055" y="5092700"/>
            <a:ext cx="982980" cy="908685"/>
          </a:xfrm>
          <a:prstGeom prst="rect">
            <a:avLst/>
          </a:prstGeom>
          <a:effectLst>
            <a:reflection stA="0" endPos="65000" dist="50800" dir="5400000" sy="-100000" algn="bl" rotWithShape="0"/>
          </a:effectLst>
        </p:spPr>
      </p:pic>
      <p:sp>
        <p:nvSpPr>
          <p:cNvPr id="78" name="文本框 77"/>
          <p:cNvSpPr txBox="1"/>
          <p:nvPr/>
        </p:nvSpPr>
        <p:spPr>
          <a:xfrm>
            <a:off x="6814820" y="5661025"/>
            <a:ext cx="629920" cy="418465"/>
          </a:xfrm>
          <a:prstGeom prst="rect">
            <a:avLst/>
          </a:prstGeom>
          <a:noFill/>
          <a:effectLst>
            <a:reflection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pPr algn="ctr"/>
            <a:endParaRPr sz="1000" b="1">
              <a:solidFill>
                <a:schemeClr val="tx1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chemeClr val="tx1"/>
                </a:solidFill>
                <a:latin typeface="Arial" panose="020B0604020202090204"/>
                <a:sym typeface="+mn-ea"/>
              </a:rPr>
              <a:t>× 3</a:t>
            </a:r>
            <a:endParaRPr lang="zh-CN" altLang="en-US" sz="1000" b="1">
              <a:solidFill>
                <a:schemeClr val="tx1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98" name="Rectangle 260"/>
          <p:cNvSpPr/>
          <p:nvPr/>
        </p:nvSpPr>
        <p:spPr>
          <a:xfrm>
            <a:off x="1021371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66"/>
          <p:cNvSpPr/>
          <p:nvPr/>
        </p:nvSpPr>
        <p:spPr>
          <a:xfrm>
            <a:off x="9402445" y="5922000"/>
            <a:ext cx="294640" cy="28638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1000" b="1">
                <a:solidFill>
                  <a:srgbClr val="B06816"/>
                </a:solidFill>
                <a:latin typeface="Arial" panose="020B0604020202090204"/>
              </a:rPr>
              <a:t>σ</a:t>
            </a:r>
            <a:endParaRPr lang="en-US" altLang="zh-CN" sz="1000" b="1">
              <a:solidFill>
                <a:srgbClr val="B06816"/>
              </a:solidFill>
              <a:latin typeface="Arial" panose="020B0604020202090204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1633220" y="2056130"/>
            <a:ext cx="417830" cy="508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9" idx="3"/>
          </p:cNvCxnSpPr>
          <p:nvPr/>
        </p:nvCxnSpPr>
        <p:spPr>
          <a:xfrm>
            <a:off x="2987040" y="787400"/>
            <a:ext cx="403860" cy="444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2987040" y="1468755"/>
            <a:ext cx="40640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987040" y="2066290"/>
            <a:ext cx="40640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肘形连接符 80"/>
          <p:cNvCxnSpPr>
            <a:endCxn id="129" idx="0"/>
          </p:cNvCxnSpPr>
          <p:nvPr/>
        </p:nvCxnSpPr>
        <p:spPr>
          <a:xfrm>
            <a:off x="1553845" y="4801870"/>
            <a:ext cx="760095" cy="233680"/>
          </a:xfrm>
          <a:prstGeom prst="bentConnector2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2313940" y="5715635"/>
            <a:ext cx="0" cy="33210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肘形连接符 100"/>
          <p:cNvCxnSpPr>
            <a:stCxn id="136" idx="2"/>
            <a:endCxn id="369" idx="2"/>
          </p:cNvCxnSpPr>
          <p:nvPr/>
        </p:nvCxnSpPr>
        <p:spPr>
          <a:xfrm rot="5400000" flipH="1" flipV="1">
            <a:off x="4318000" y="4570095"/>
            <a:ext cx="15240" cy="3977640"/>
          </a:xfrm>
          <a:prstGeom prst="bentConnector3">
            <a:avLst>
              <a:gd name="adj1" fmla="val -762500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endCxn id="353" idx="2"/>
          </p:cNvCxnSpPr>
          <p:nvPr/>
        </p:nvCxnSpPr>
        <p:spPr>
          <a:xfrm flipV="1">
            <a:off x="3486150" y="6047740"/>
            <a:ext cx="0" cy="62801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353" idx="0"/>
          </p:cNvCxnSpPr>
          <p:nvPr/>
        </p:nvCxnSpPr>
        <p:spPr>
          <a:xfrm flipV="1">
            <a:off x="3486150" y="5184775"/>
            <a:ext cx="0" cy="44386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肘形连接符 104"/>
          <p:cNvCxnSpPr>
            <a:stCxn id="130" idx="0"/>
            <a:endCxn id="377" idx="0"/>
          </p:cNvCxnSpPr>
          <p:nvPr/>
        </p:nvCxnSpPr>
        <p:spPr>
          <a:xfrm rot="16200000" flipH="1">
            <a:off x="4126230" y="4058920"/>
            <a:ext cx="18415" cy="1261110"/>
          </a:xfrm>
          <a:prstGeom prst="bentConnector3">
            <a:avLst>
              <a:gd name="adj1" fmla="val -1284482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4270375" y="6092190"/>
            <a:ext cx="921385" cy="51117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reflection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Ligand-conditioned</a:t>
            </a:r>
            <a:endParaRPr sz="10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FiLM</a:t>
            </a:r>
            <a:endParaRPr lang="zh-CN" altLang="en-US" sz="1000"/>
          </a:p>
        </p:txBody>
      </p:sp>
      <p:cxnSp>
        <p:nvCxnSpPr>
          <p:cNvPr id="122" name="肘形连接符 121"/>
          <p:cNvCxnSpPr>
            <a:stCxn id="379" idx="2"/>
            <a:endCxn id="371" idx="2"/>
          </p:cNvCxnSpPr>
          <p:nvPr/>
        </p:nvCxnSpPr>
        <p:spPr>
          <a:xfrm rot="5400000" flipV="1">
            <a:off x="5429885" y="5208270"/>
            <a:ext cx="75565" cy="1403985"/>
          </a:xfrm>
          <a:prstGeom prst="bentConnector2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>
            <a:endCxn id="378" idx="0"/>
          </p:cNvCxnSpPr>
          <p:nvPr/>
        </p:nvCxnSpPr>
        <p:spPr>
          <a:xfrm>
            <a:off x="4766310" y="4961890"/>
            <a:ext cx="1270" cy="19240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>
            <a:off x="4761865" y="5417185"/>
            <a:ext cx="1270" cy="19240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stCxn id="371" idx="0"/>
            <a:endCxn id="370" idx="2"/>
          </p:cNvCxnSpPr>
          <p:nvPr/>
        </p:nvCxnSpPr>
        <p:spPr>
          <a:xfrm flipV="1">
            <a:off x="6313805" y="5609590"/>
            <a:ext cx="635" cy="19431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/>
          <p:cNvCxnSpPr>
            <a:stCxn id="370" idx="0"/>
            <a:endCxn id="144" idx="2"/>
          </p:cNvCxnSpPr>
          <p:nvPr/>
        </p:nvCxnSpPr>
        <p:spPr>
          <a:xfrm flipH="1" flipV="1">
            <a:off x="6313805" y="5092700"/>
            <a:ext cx="635" cy="21463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>
            <a:endCxn id="371" idx="4"/>
          </p:cNvCxnSpPr>
          <p:nvPr/>
        </p:nvCxnSpPr>
        <p:spPr>
          <a:xfrm flipV="1">
            <a:off x="6313805" y="6092190"/>
            <a:ext cx="0" cy="20320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/>
          <p:cNvCxnSpPr>
            <a:stCxn id="114" idx="2"/>
          </p:cNvCxnSpPr>
          <p:nvPr/>
        </p:nvCxnSpPr>
        <p:spPr>
          <a:xfrm rot="5400000">
            <a:off x="5419725" y="3352800"/>
            <a:ext cx="430530" cy="1748790"/>
          </a:xfrm>
          <a:prstGeom prst="bentConnector2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non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肘形连接符 153"/>
          <p:cNvCxnSpPr>
            <a:endCxn id="59" idx="1"/>
          </p:cNvCxnSpPr>
          <p:nvPr/>
        </p:nvCxnSpPr>
        <p:spPr>
          <a:xfrm>
            <a:off x="1627505" y="3252470"/>
            <a:ext cx="374650" cy="304800"/>
          </a:xfrm>
          <a:prstGeom prst="bentConnector3">
            <a:avLst>
              <a:gd name="adj1" fmla="val 50169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肘形连接符 154"/>
          <p:cNvCxnSpPr>
            <a:endCxn id="59" idx="1"/>
          </p:cNvCxnSpPr>
          <p:nvPr/>
        </p:nvCxnSpPr>
        <p:spPr>
          <a:xfrm flipV="1">
            <a:off x="1627505" y="3557270"/>
            <a:ext cx="374650" cy="349250"/>
          </a:xfrm>
          <a:prstGeom prst="bentConnector3">
            <a:avLst>
              <a:gd name="adj1" fmla="val 50169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/>
          <p:nvPr/>
        </p:nvCxnSpPr>
        <p:spPr>
          <a:xfrm>
            <a:off x="2483485" y="3557270"/>
            <a:ext cx="32004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/>
          <p:nvPr/>
        </p:nvCxnSpPr>
        <p:spPr>
          <a:xfrm>
            <a:off x="3486150" y="3562985"/>
            <a:ext cx="29845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肘形连接符 160"/>
          <p:cNvCxnSpPr>
            <a:stCxn id="28" idx="2"/>
            <a:endCxn id="59" idx="0"/>
          </p:cNvCxnSpPr>
          <p:nvPr/>
        </p:nvCxnSpPr>
        <p:spPr>
          <a:xfrm rot="5400000">
            <a:off x="2561590" y="2001520"/>
            <a:ext cx="876935" cy="1513840"/>
          </a:xfrm>
          <a:prstGeom prst="bentConnector3">
            <a:avLst>
              <a:gd name="adj1" fmla="val 41383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161"/>
          <p:cNvCxnSpPr>
            <a:endCxn id="192" idx="0"/>
          </p:cNvCxnSpPr>
          <p:nvPr/>
        </p:nvCxnSpPr>
        <p:spPr>
          <a:xfrm rot="5400000">
            <a:off x="3754120" y="2491105"/>
            <a:ext cx="1116330" cy="741045"/>
          </a:xfrm>
          <a:prstGeom prst="bentConnector3">
            <a:avLst>
              <a:gd name="adj1" fmla="val 50028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>
            <a:stCxn id="89" idx="2"/>
            <a:endCxn id="96" idx="0"/>
          </p:cNvCxnSpPr>
          <p:nvPr/>
        </p:nvCxnSpPr>
        <p:spPr>
          <a:xfrm>
            <a:off x="6509385" y="1393825"/>
            <a:ext cx="0" cy="36893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>
            <a:endCxn id="107" idx="0"/>
          </p:cNvCxnSpPr>
          <p:nvPr/>
        </p:nvCxnSpPr>
        <p:spPr>
          <a:xfrm>
            <a:off x="6509385" y="1978660"/>
            <a:ext cx="0" cy="23241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5661025" y="446405"/>
            <a:ext cx="1676400" cy="1030605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cxnSp>
        <p:nvCxnSpPr>
          <p:cNvPr id="184" name="直接箭头连接符 183"/>
          <p:cNvCxnSpPr>
            <a:stCxn id="107" idx="2"/>
            <a:endCxn id="383" idx="0"/>
          </p:cNvCxnSpPr>
          <p:nvPr/>
        </p:nvCxnSpPr>
        <p:spPr>
          <a:xfrm>
            <a:off x="6509385" y="2720340"/>
            <a:ext cx="0" cy="28321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>
            <a:stCxn id="383" idx="2"/>
          </p:cNvCxnSpPr>
          <p:nvPr/>
        </p:nvCxnSpPr>
        <p:spPr>
          <a:xfrm>
            <a:off x="6509385" y="3219450"/>
            <a:ext cx="0" cy="31877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5807300" y="538390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850499" y="567190"/>
            <a:ext cx="1317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1D Semantics  d_1d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22500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80900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39299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97699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56100" y="696790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807300" y="997305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850500" y="1026105"/>
            <a:ext cx="1317599" cy="1800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2D/3D Geometry  d_geo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922500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80900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39299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397699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56100" y="1155705"/>
            <a:ext cx="251999" cy="17280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cxnSp>
        <p:nvCxnSpPr>
          <p:cNvPr id="164" name="直接箭头连接符 163"/>
          <p:cNvCxnSpPr/>
          <p:nvPr/>
        </p:nvCxnSpPr>
        <p:spPr>
          <a:xfrm>
            <a:off x="5158740" y="747395"/>
            <a:ext cx="648335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/>
          <p:cNvCxnSpPr>
            <a:stCxn id="165" idx="3"/>
            <a:endCxn id="178" idx="2"/>
          </p:cNvCxnSpPr>
          <p:nvPr/>
        </p:nvCxnSpPr>
        <p:spPr>
          <a:xfrm>
            <a:off x="9791700" y="1049020"/>
            <a:ext cx="276225" cy="381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/>
          <p:cNvCxnSpPr/>
          <p:nvPr/>
        </p:nvCxnSpPr>
        <p:spPr>
          <a:xfrm>
            <a:off x="10348595" y="1052830"/>
            <a:ext cx="294640" cy="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肘形连接符 188"/>
          <p:cNvCxnSpPr>
            <a:stCxn id="385" idx="3"/>
          </p:cNvCxnSpPr>
          <p:nvPr/>
        </p:nvCxnSpPr>
        <p:spPr>
          <a:xfrm>
            <a:off x="8220710" y="831850"/>
            <a:ext cx="308610" cy="3175"/>
          </a:xfrm>
          <a:prstGeom prst="bentConnector2">
            <a:avLst/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肘形连接符 189"/>
          <p:cNvCxnSpPr/>
          <p:nvPr/>
        </p:nvCxnSpPr>
        <p:spPr>
          <a:xfrm rot="5400000">
            <a:off x="10513695" y="1574800"/>
            <a:ext cx="1013460" cy="476885"/>
          </a:xfrm>
          <a:prstGeom prst="bentConnector3">
            <a:avLst>
              <a:gd name="adj1" fmla="val 34429"/>
            </a:avLst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肘形连接符 190"/>
          <p:cNvCxnSpPr/>
          <p:nvPr/>
        </p:nvCxnSpPr>
        <p:spPr>
          <a:xfrm rot="5400000" flipV="1">
            <a:off x="8053705" y="1456055"/>
            <a:ext cx="851535" cy="876300"/>
          </a:xfrm>
          <a:prstGeom prst="bentConnector3">
            <a:avLst>
              <a:gd name="adj1" fmla="val 22110"/>
            </a:avLst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>
            <a:off x="8917620" y="1656000"/>
            <a:ext cx="1864995" cy="0"/>
          </a:xfrm>
          <a:prstGeom prst="line">
            <a:avLst/>
          </a:prstGeom>
          <a:ln w="19050" cap="rnd">
            <a:solidFill>
              <a:srgbClr val="6242AA"/>
            </a:solidFill>
            <a:tailEnd type="non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81" idx="2"/>
            <a:endCxn id="402" idx="0"/>
          </p:cNvCxnSpPr>
          <p:nvPr/>
        </p:nvCxnSpPr>
        <p:spPr>
          <a:xfrm>
            <a:off x="8917305" y="2860040"/>
            <a:ext cx="0" cy="385445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>
            <a:off x="10614025" y="2854960"/>
            <a:ext cx="0" cy="39751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肘形连接符 198"/>
          <p:cNvCxnSpPr>
            <a:stCxn id="402" idx="2"/>
            <a:endCxn id="253" idx="0"/>
          </p:cNvCxnSpPr>
          <p:nvPr/>
        </p:nvCxnSpPr>
        <p:spPr>
          <a:xfrm rot="5400000" flipV="1">
            <a:off x="9109710" y="3392170"/>
            <a:ext cx="473710" cy="858520"/>
          </a:xfrm>
          <a:prstGeom prst="bentConnector3">
            <a:avLst>
              <a:gd name="adj1" fmla="val 50670"/>
            </a:avLst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肘形连接符 199"/>
          <p:cNvCxnSpPr>
            <a:stCxn id="252" idx="2"/>
          </p:cNvCxnSpPr>
          <p:nvPr/>
        </p:nvCxnSpPr>
        <p:spPr>
          <a:xfrm rot="5400000">
            <a:off x="10073005" y="3282315"/>
            <a:ext cx="238760" cy="843280"/>
          </a:xfrm>
          <a:prstGeom prst="bentConnector2">
            <a:avLst/>
          </a:prstGeom>
          <a:ln w="19050" cap="rnd">
            <a:solidFill>
              <a:srgbClr val="6242AA"/>
            </a:solidFill>
            <a:tailEnd type="non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肘形连接符 200"/>
          <p:cNvCxnSpPr>
            <a:stCxn id="179" idx="2"/>
            <a:endCxn id="281" idx="0"/>
          </p:cNvCxnSpPr>
          <p:nvPr/>
        </p:nvCxnSpPr>
        <p:spPr>
          <a:xfrm rot="5400000">
            <a:off x="8593773" y="4551363"/>
            <a:ext cx="904240" cy="1449705"/>
          </a:xfrm>
          <a:prstGeom prst="bentConnector3">
            <a:avLst>
              <a:gd name="adj1" fmla="val 49965"/>
            </a:avLst>
          </a:prstGeom>
          <a:ln w="19050" cap="rnd">
            <a:solidFill>
              <a:srgbClr val="6242AA"/>
            </a:solidFill>
            <a:tailEnd type="non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>
            <a:stCxn id="281" idx="3"/>
            <a:endCxn id="100" idx="2"/>
          </p:cNvCxnSpPr>
          <p:nvPr/>
        </p:nvCxnSpPr>
        <p:spPr>
          <a:xfrm>
            <a:off x="8781415" y="6063615"/>
            <a:ext cx="621030" cy="1905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>
            <a:off x="9691370" y="6065520"/>
            <a:ext cx="560070" cy="6985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5158740" y="1445895"/>
            <a:ext cx="30988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non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肘形连接符 165"/>
          <p:cNvCxnSpPr>
            <a:stCxn id="68" idx="3"/>
            <a:endCxn id="89" idx="1"/>
          </p:cNvCxnSpPr>
          <p:nvPr/>
        </p:nvCxnSpPr>
        <p:spPr>
          <a:xfrm flipV="1">
            <a:off x="5184775" y="1195705"/>
            <a:ext cx="622300" cy="2342515"/>
          </a:xfrm>
          <a:prstGeom prst="bentConnector3">
            <a:avLst>
              <a:gd name="adj1" fmla="val 46938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1633220" y="1463675"/>
            <a:ext cx="417830" cy="508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1633220" y="785495"/>
            <a:ext cx="417830" cy="508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5251450" y="5702935"/>
            <a:ext cx="573405" cy="245110"/>
          </a:xfrm>
          <a:prstGeom prst="rect">
            <a:avLst/>
          </a:prstGeom>
          <a:noFill/>
          <a:effectLst>
            <a:reflection stA="0" endPos="65000" dist="50800" dir="5400000" sy="-100000" algn="bl" rotWithShape="0"/>
          </a:effectLst>
        </p:spPr>
        <p:txBody>
          <a:bodyPr wrap="square" rtlCol="0">
            <a:spAutoFit/>
          </a:bodyPr>
          <a:p>
            <a:r>
              <a:rPr lang="en-US" sz="1000" b="1">
                <a:solidFill>
                  <a:srgbClr val="2854A2"/>
                </a:solidFill>
                <a:latin typeface="Arial Regular" panose="020B0604020202090204" charset="0"/>
                <a:cs typeface="Arial Regular" panose="020B0604020202090204" charset="0"/>
              </a:rPr>
              <a:t>(</a:t>
            </a:r>
            <a:r>
              <a:rPr sz="1000" b="1">
                <a:solidFill>
                  <a:srgbClr val="2854A2"/>
                </a:solidFill>
                <a:latin typeface="Arial Regular" panose="020B0604020202090204" charset="0"/>
                <a:cs typeface="Arial Regular" panose="020B0604020202090204" charset="0"/>
              </a:rPr>
              <a:t>γ</a:t>
            </a:r>
            <a:r>
              <a:rPr lang="en-US" altLang="zh-CN" sz="1000">
                <a:latin typeface="Arial Regular" panose="020B0604020202090204" charset="0"/>
                <a:cs typeface="Arial Regular" panose="020B0604020202090204" charset="0"/>
              </a:rPr>
              <a:t>,</a:t>
            </a:r>
            <a:r>
              <a:rPr sz="1000" b="1">
                <a:solidFill>
                  <a:srgbClr val="2854A2"/>
                </a:solidFill>
                <a:latin typeface="Arial Regular" panose="020B0604020202090204" charset="0"/>
                <a:cs typeface="Arial Regular" panose="020B0604020202090204" charset="0"/>
              </a:rPr>
              <a:t>β</a:t>
            </a:r>
            <a:r>
              <a:rPr lang="en-US" sz="1000" b="1">
                <a:solidFill>
                  <a:srgbClr val="2854A2"/>
                </a:solidFill>
                <a:latin typeface="Arial Regular" panose="020B0604020202090204" charset="0"/>
                <a:cs typeface="Arial Regular" panose="020B0604020202090204" charset="0"/>
              </a:rPr>
              <a:t>)</a:t>
            </a:r>
            <a:endParaRPr lang="en-US" sz="1000" b="1">
              <a:solidFill>
                <a:srgbClr val="2854A2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21" name="左大括号 120"/>
          <p:cNvSpPr/>
          <p:nvPr/>
        </p:nvSpPr>
        <p:spPr>
          <a:xfrm>
            <a:off x="10424795" y="5751195"/>
            <a:ext cx="134620" cy="385445"/>
          </a:xfrm>
          <a:prstGeom prst="leftBrace">
            <a:avLst/>
          </a:prstGeom>
          <a:ln w="19050"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52" name="文本框 151"/>
          <p:cNvSpPr txBox="1"/>
          <p:nvPr/>
        </p:nvSpPr>
        <p:spPr>
          <a:xfrm>
            <a:off x="10557828" y="5661025"/>
            <a:ext cx="10299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ŷ = </a:t>
            </a:r>
            <a:r>
              <a:rPr lang="en-US"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0</a:t>
            </a:r>
            <a:r>
              <a:rPr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(p </a:t>
            </a:r>
            <a:r>
              <a:rPr lang="en-US" altLang="zh-CN"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≤</a:t>
            </a:r>
            <a:r>
              <a:rPr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 </a:t>
            </a:r>
            <a:r>
              <a:rPr lang="en-US" altLang="zh-CN"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τ</a:t>
            </a:r>
            <a:r>
              <a:rPr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)</a:t>
            </a:r>
            <a:endParaRPr lang="zh-CN" altLang="en-US" sz="1000"/>
          </a:p>
        </p:txBody>
      </p:sp>
      <p:sp>
        <p:nvSpPr>
          <p:cNvPr id="163" name="文本框 162"/>
          <p:cNvSpPr txBox="1"/>
          <p:nvPr/>
        </p:nvSpPr>
        <p:spPr>
          <a:xfrm>
            <a:off x="10175875" y="6235065"/>
            <a:ext cx="16764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Label ∈ {0, 1}</a:t>
            </a:r>
            <a:endParaRPr lang="zh-CN" altLang="en-US" sz="1000"/>
          </a:p>
        </p:txBody>
      </p:sp>
      <p:sp>
        <p:nvSpPr>
          <p:cNvPr id="167" name="文本框 166"/>
          <p:cNvSpPr txBox="1"/>
          <p:nvPr/>
        </p:nvSpPr>
        <p:spPr>
          <a:xfrm>
            <a:off x="10557828" y="5963285"/>
            <a:ext cx="10299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ŷ = 1(p ≥ </a:t>
            </a:r>
            <a:r>
              <a:rPr lang="en-US" altLang="zh-CN"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τ</a:t>
            </a:r>
            <a:r>
              <a:rPr sz="1000" b="1">
                <a:solidFill>
                  <a:srgbClr val="934D37"/>
                </a:solidFill>
                <a:latin typeface="Arial" panose="020B0604020202090204"/>
                <a:sym typeface="+mn-ea"/>
              </a:rPr>
              <a:t>)</a:t>
            </a:r>
            <a:endParaRPr lang="zh-CN" altLang="en-US" sz="1000"/>
          </a:p>
        </p:txBody>
      </p:sp>
      <p:sp>
        <p:nvSpPr>
          <p:cNvPr id="177" name="文本框 176"/>
          <p:cNvSpPr txBox="1"/>
          <p:nvPr/>
        </p:nvSpPr>
        <p:spPr>
          <a:xfrm>
            <a:off x="8615680" y="5931535"/>
            <a:ext cx="629920" cy="418465"/>
          </a:xfrm>
          <a:prstGeom prst="rect">
            <a:avLst/>
          </a:prstGeom>
          <a:noFill/>
          <a:effectLst>
            <a:reflection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pPr algn="ctr"/>
            <a:endParaRPr sz="1000" b="1">
              <a:solidFill>
                <a:schemeClr val="tx1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chemeClr val="tx1"/>
                </a:solidFill>
                <a:latin typeface="Arial" panose="020B0604020202090204"/>
                <a:sym typeface="+mn-ea"/>
              </a:rPr>
              <a:t>× 3</a:t>
            </a:r>
            <a:endParaRPr lang="zh-CN" altLang="en-US" sz="1000" b="1">
              <a:solidFill>
                <a:schemeClr val="tx1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178" name="Oval 66"/>
          <p:cNvSpPr/>
          <p:nvPr/>
        </p:nvSpPr>
        <p:spPr>
          <a:xfrm>
            <a:off x="10067925" y="909310"/>
            <a:ext cx="294640" cy="2863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30A0"/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1000" b="1">
                <a:solidFill>
                  <a:schemeClr val="accent4"/>
                </a:solidFill>
                <a:latin typeface="Arial" panose="020B0604020202090204"/>
              </a:rPr>
              <a:t>g</a:t>
            </a:r>
            <a:endParaRPr lang="en-US" altLang="zh-CN" sz="1000" b="1">
              <a:solidFill>
                <a:schemeClr val="accent4"/>
              </a:solidFill>
              <a:latin typeface="Arial" panose="020B0604020202090204"/>
            </a:endParaRPr>
          </a:p>
        </p:txBody>
      </p:sp>
      <p:sp>
        <p:nvSpPr>
          <p:cNvPr id="192" name="Oval 66"/>
          <p:cNvSpPr/>
          <p:nvPr/>
        </p:nvSpPr>
        <p:spPr>
          <a:xfrm>
            <a:off x="3794760" y="3420100"/>
            <a:ext cx="294640" cy="28638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1000" b="1">
                <a:solidFill>
                  <a:srgbClr val="B06816"/>
                </a:solidFill>
                <a:latin typeface="Arial" panose="020B0604020202090204"/>
              </a:rPr>
              <a:t>x</a:t>
            </a:r>
            <a:endParaRPr lang="en-US" altLang="zh-CN" sz="1000" b="1">
              <a:solidFill>
                <a:srgbClr val="B06816"/>
              </a:solidFill>
              <a:latin typeface="Arial" panose="020B0604020202090204"/>
            </a:endParaRPr>
          </a:p>
        </p:txBody>
      </p:sp>
      <p:cxnSp>
        <p:nvCxnSpPr>
          <p:cNvPr id="194" name="直接箭头连接符 193"/>
          <p:cNvCxnSpPr/>
          <p:nvPr/>
        </p:nvCxnSpPr>
        <p:spPr>
          <a:xfrm>
            <a:off x="4089400" y="3562985"/>
            <a:ext cx="26797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334E55B0-647D-440b-865C-3EC943EB4CBC-1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142615"/>
            <a:ext cx="112395" cy="76200"/>
          </a:xfrm>
          <a:prstGeom prst="rect">
            <a:avLst/>
          </a:prstGeom>
        </p:spPr>
      </p:pic>
      <p:pic>
        <p:nvPicPr>
          <p:cNvPr id="38" name="334E55B0-647D-440b-865C-3EC943EB4CBC-2" descr="/Users/rifo/Library/Containers/com.kingsoft.wpsoffice.mac/Data/tmp/wpsoffice.ZKQBXP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447415"/>
            <a:ext cx="112395" cy="69850"/>
          </a:xfrm>
          <a:prstGeom prst="rect">
            <a:avLst/>
          </a:prstGeom>
        </p:spPr>
      </p:pic>
      <p:pic>
        <p:nvPicPr>
          <p:cNvPr id="67" name="334E55B0-647D-440b-865C-3EC943EB4CBC-3" descr="/Users/rifo/Library/Containers/com.kingsoft.wpsoffice.mac/Data/tmp/wpsoffice.jAByIFwpsoff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040" y="3921125"/>
            <a:ext cx="112395" cy="68580"/>
          </a:xfrm>
          <a:prstGeom prst="rect">
            <a:avLst/>
          </a:prstGeom>
        </p:spPr>
      </p:pic>
      <p:sp>
        <p:nvSpPr>
          <p:cNvPr id="104" name="Rectangle 28"/>
          <p:cNvSpPr/>
          <p:nvPr/>
        </p:nvSpPr>
        <p:spPr>
          <a:xfrm>
            <a:off x="2865120" y="2760980"/>
            <a:ext cx="687705" cy="193040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00" tIns="14400" rIns="28800" bIns="14400" numCol="1" spcCol="0" rtlCol="0" fromWordArt="0" anchor="t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sz="800" b="1">
                <a:solidFill>
                  <a:srgbClr val="B06816"/>
                </a:solidFill>
                <a:latin typeface="Arial" panose="020B0604020202090204"/>
                <a:sym typeface="+mn-ea"/>
              </a:rPr>
              <a:t>Conformer </a:t>
            </a:r>
            <a:br>
              <a:rPr sz="800" b="1">
                <a:solidFill>
                  <a:srgbClr val="B06816"/>
                </a:solidFill>
                <a:latin typeface="Arial" panose="020B0604020202090204"/>
                <a:sym typeface="+mn-ea"/>
              </a:rPr>
            </a:br>
            <a:r>
              <a:rPr sz="800" b="1">
                <a:solidFill>
                  <a:srgbClr val="B06816"/>
                </a:solidFill>
                <a:latin typeface="Arial" panose="020B0604020202090204"/>
                <a:sym typeface="+mn-ea"/>
              </a:rPr>
              <a:t>weights</a:t>
            </a:r>
            <a:endParaRPr sz="800" b="1">
              <a:solidFill>
                <a:srgbClr val="B06816"/>
              </a:solidFill>
              <a:latin typeface="Arial" panose="020B0604020202090204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SUNCY1lXeHdhR0VnWDNzeGZTQWdYRjA9IiwKCSJMYXRleEltZ0Jhc2U2NCIgOiAiaVZCT1J3MEtHZ29BQUFBTlNVaEVVZ0FBQUU0QUFBQXlCQU1BQUFBQVpQQ1VBQUFBTUZCTVZFWC8vLzhBQUFBQUFBQUFBQUFBQUFBQUFBQUFBQUFBQUFBQUFBQUFBQUFBQUFBQUFBQUFBQUFBQUFBQUFBQUFBQUF2M2FCN0FBQUFEM1JTVGxNQUVIYXIzZTltVkxzaXpabUpNa1JscVhZUkFBQUFDWEJJV1hNQUFBN0VBQUFPeEFHVkt3NGJBQUFDWjBsRVFWUTRFZVdWdlc0VFFSREg5d0tPT1JJZkRoSU5UU0pSVVRsQ0FrU0J6bExpMmdqRm9rRGlvRU9pT043QWVZTkxIUWtNaWtSQjQ5UTB1VFlSa3QxUVVOa1BnSFFvMkJBK3hKL1oyNi9aeE00TE1NWGQ3c3h2WjJkbTUvYUUwQkxjYUUwM25wblozSGMxQTFyQXZibUFNbFFUUE53UlY0R241NEpoaGtjUzJNVzNjN2tVSjNVSkJBbjJTL0R5K2l4K0dkRDZMbjZVd09qTkxPN0FibmNSS0IwUDhobmNCY0FzWHdEV0pORWV5K2NwR1FBN1doVUNEMmhZbTU1QzVEUUN2bHQxVWdhNC9Oc3EzS0NuZkNoRkJvbFUvanF6SGZWNWRRZVFXeFp5Y3kzWDlScmFsa1hUS0dQTjFnd2xvdmF4R2xNcDlFak91OEJZaEtvNGNrN25ycTBwOEZOcWxCVEFTN0drMHdoZXYwaXNsemJRTkJSRkpvUHQ2WVV4TUltMVA2b1ljc2VOWktIamZhVzR2WFZyT05JY25RQ0dIcGZYYk5sSmJ6aEtnNlZMYXVTWC9yaDFsbHNGVHBpNlIxemFaQXJqanh5d3NnamlEcWt5VGd6WEJmZ2hFWGZrOWJUaEdzQlh0MXFzQWttVHpXMThCMTc1Sk1mVGQva09YSk5LTjhUeGJCMUgrNjZ6ZmE3NDdoMlhRbjlpQ2laT0g0WmViUExvK1FiaWN1YmUrYXNBMjh3d2wxdnlBZ3I2dm52bmovcUYxZThUbFlXbjVUaVJzZk5Zd0VkVnBqczJGSk9IdU9iNm9OWi9FcFJoTExyV3NGeFZkbm9wWVV3bm00R2F1YUp1R2FtMUhIMDZxaEdpN05kWVVNUFFSeDl2UzZRVXgwVUo3Z3NSUG9mRXhDSW05ZDFwWFVIMGRKeWdhMjFDZCs3allXbE1NY0ZiaTNGT1JCL2FrNzJiMmhZY2RkNDV6T09ZK3N5UTdYdkd4aFgvRzFkNDF3Q3ZoRDl1MkgrTHIrZXpZT1hWRjJyY3U1OVgzSGx6dXhrWEJDbmhWNUN4dW5lQnp0Ym0rODFXQjhmL0FHS0JkOGxxWmV1M0FBQUFBRWxGVGtTdVFtQ0MiCn0K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SUNCY1lXeHdhR0VnWDNzeWZTQWdYRjA9IiwKCSJMYXRleEltZ0Jhc2U2NCIgOiAiaVZCT1J3MEtHZ29BQUFBTlNVaEVVZ0FBQUZBQUFBQXlCQU1BQUFBNUEwSFBBQUFBTUZCTVZFWC8vLzhBQUFBQUFBQUFBQUFBQUFBQUFBQUFBQUFBQUFBQUFBQUFBQUFBQUFBQUFBQUFBQUFBQUFBQUFBQUFBQUF2M2FCN0FBQUFEM1JTVGxNQUVIYXIzZTltVkxzaXpabUpNa1JscVhZUkFBQUFDWEJJV1hNQUFBN0VBQUFPeEFHVkt3NGJBQUFDMEVsRVFWUklEWDFVUFc4VFFSQmRtK1FTNThPSmtHaEpKQ29hTGhVU0JYSWtsSUxLRVZKRWdlQk1SK2Y4QTRkZmNDNGhqVUZJVkVoT0c1cVlrZ2pKYWFoelB3QXBDVGxEQ0IrUE56dnJ1M1ZrM3hSN3N6TnZaMmJmeksweFRrcTNOZ1lQbmc5M2s3OHpNYkFCM0p1TVVNOU1oRWR0Y3gxb0ZDTXJNUjRMWWhmbnhjQW1McFlGVVlxd1o1RnphMk1QTEFETzBjSlBpemgrTXhaNGtHV2NBbXpvZm04YzhCb3dERkFHVmdWU1QyUzlLbjJnN1d3VllKUHE0dUFxUnZaVjRFZG1qMnlSQzc4emc2ZDBOSXBhWWdobStwL256OVN1VDNNZmt2VkU4b3RVUDBicGg4U3FrdG1yS0xUMXhxdnFDeUpRQnAvc2pveDhWN09zTFNBeEZlWElWT3JwbmRmZjZpNWpFL2lWQTArQWJUUHY3bktjSHRGRHlteGplV0I5Qk5nd0hUMVppVjVheDdGdEhKbERMd2ZTdUdwcWU5WXdkNmwyNVkrQklRbWNFTmhiZFB5M3pweXhKbzNsWGJ4TEd3SE8vbEZBcklHTjZVaWFGZUJpR0k1ZjJuck5kV3NvWWRDemlwbVRhekNFeDQ0QVA1TWdrY1hNd3pFOEUrTDhmaEY0NkthY2QzQzNDWVRCRURpMUFYUlpBYUoxVmNtSEsycEdnaDJNMENnbFp5VFUzYmdiUnZ4cit2blVTaUFDM1oyTmVaVTJORFlwdEtuWGRHdlhwZEVFNnBtVlFXekMvWGhxSTNESVhuN2NHanVqSHRwNk9jSnBvY3plTkxEamVjWUNJeG43K1pHaVN0M1JCRFlFTDcxcE9LUStqMS9Kam44M0MreGcwS1lTZTUwcDQ0dXlkZGVyeG5USkl1WEdrSDkydC91c1pDc0ovRGxoY1lrQTJaOXQrYktLR3JzY2sxc3pyUytRbWtNOFZhWGxjbGZqeTBUbWpLOUJiVWRkc2daSWwzVlhqWENmNFY1QWNOYStPM0F1QVRSeitqaHVLWi9sSjBkaXB5UEZXNnZaSmNoN0wrOUJQWDEzMnpsTGgxdnZjeHpQSmQ1dXNocmc0V1NuN3duMXpRNzJmZU1ZdmV6Nk5FWE9DaVYwVTd4MFdnampzOU5Rd0lUSFB6c2REbi9RL2xwbUc2ZVU3ZFRRYzVNdlJaR0UyQktKT0h0SkVZNGR5NlJkQk94bk1LQUl4N2NuazdRSXlFSE41Tno4QnpXd3BLaTkyakswQUFBQUFFbEZUa1N1UW1DQyIKfQo=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SUNCY1lXeHdhR0VnWDN0cmZTQWdYRjA9IiwKCSJMYXRleEltZ0Jhc2U2NCIgOiAiaVZCT1J3MEtHZ29BQUFBTlNVaEVVZ0FBQUZNQUFBQXpCQU1BQUFBWmFDbHBBQUFBTUZCTVZFWC8vLzhBQUFBQUFBQUFBQUFBQUFBQUFBQUFBQUFBQUFBQUFBQUFBQUFBQUFBQUFBQUFBQUFBQUFBQUFBQUFBQUF2M2FCN0FBQUFEM1JTVGxNQUVIYXIzZTltVkxzaXpabUpNa1JscVhZUkFBQUFDWEJJV1hNQUFBN0VBQUFPeEFHVkt3NGJBQUFESTBsRVFWUklEWVZWUFc4VFFSQ2RTMkxIVHVJUGdaQVFqUzFSVVNWSUNJa0MyVkpJaDNBVUthSkFjSUVxRFhKS09vZUNob0pMa1NwTlFFaTBUazFqdHdRa3A0RGEvZ2NPNUFLSitYak03Tzd0cldXZnM4WGV6c3piMlprM3MzdEVabmpYVjA2WG4wYlNwTzlzQUt3QWR5Wmh0RzNXeDlvT1hRSTJMc0ptQXp3VXpCNU9Mb0xXY1ZZVWpPZmpRR0hubGhLMkxBREcxTUF2aGVtK1RZQzI3TGt6Z0hMZmFZK0hUZ09Sa3ltZ0xLQmFUK2JSMFFGMmpEWUxyUEl5ZHpxS0VrMGUrR2t0dmdwMjRiZFdaSjk5Zm4zdnlCcHBYM3ZTaWdDQ1N2M1RFcHNBQjlwMGllOUF6dTVMRkR5dWNnR2hsekx6K1U1a2l5cnVvQnpaU3hoRVN5TG01MGNzTllBZVpUVmpvaTNoVDJ5c0ErZXgxQWUyYU41a3hlbytUTmdDcVFGVitlckIwQTNhai9kMmNCeVorRENnYlNYcVNnMHFCMWJSdE5VaDR2cTRkREMwbmJNVklYTDljRllPQWVLMW5Za3pZWHA2OW9RU2NHWUZrbnEwNjFXcjRKNHJXb0hkT0Z3SjlKUGpLSVBRSXFrQmx3NkJIam8zb2FEcWJOQ0xjT2dReXVGWFkwZGQwK3BLMHhxaVZhQXVJWXY0SHUvcnhIMHRTb2JHK1JNRnVqejVXNE0yRVFld0ZHK2t3dkFoVU5jeTF3eGZjZGZVdFJTaEdScVhpbkxTRWV4dWpZdGFscFFkbTNqbG82TEJwU3dTWlU2SzFPRUNwNER0eU1MZlllaTBWTkpybG1sVzRwb2ZDczVyRGgyU2tsdS95MjA0TFE2NXM0NWpyOStZcTZWWTNPY0xtdk43SkE2UGhJKzRlYWZ3UlhOM1c4UHJPS2YrWTE1N3dRT2VyOFR0a21zKzhWUThhZE5CRmF5bXd4MjlqV2VPZUVzTDJRcEhGckFqU3VtWGkzemNyTHkwU09LRzBSSGtnMEZQdXBEZmo4cTJzbk1lTmJkMmxQZHhseWk3Q1VGU0dtRng3N1Nvb0dsTzh2NXp0VFFUOTIvSWI4TWp6cEZISFNIZWFRdm56Y1BvdFNyL3NSYSt2NkhYNUIydWZ6RExHWnhsWDhCdFdXTVkvWlRrZ2x3ZUx1Y29TbWthK012Zmx0dmVDVWdHSGJPcFlOLzBKQnpyYTZxVDV0UUw5N1UzQVVoY3VUTGI1MVE1S3hPaFhFZmhMNlVvOEhtVlBKaHZNUmFFaDd4ejQ4ZnMwQ2N6bERzaUkxd2tEK1ZPM21xR2RhdkpPTGFZWjNoQnZDYjl5SXdEOHd4Ny9vQ2N4M0dzOTVhNXZMdFk5Zy9HSXF6eVdwVDE1dm9iVnY0SFlPbWsvaUhHOUtrQUFBQUFTVVZPUks1Q1lJST0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WPS 演示</Application>
  <PresentationFormat>On-screen Show (4:3)</PresentationFormat>
  <Paragraphs>169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</vt:lpstr>
      <vt:lpstr>Times New Roman</vt:lpstr>
      <vt:lpstr>Arial Regular</vt:lpstr>
      <vt:lpstr>汉仪书宋二KW</vt:lpstr>
      <vt:lpstr>Calibri</vt:lpstr>
      <vt:lpstr>Helvetica Neue</vt:lpstr>
      <vt:lpstr>宋体-简</vt:lpstr>
      <vt:lpstr>微软雅黑</vt:lpstr>
      <vt:lpstr>汉仪旗黑</vt:lpstr>
      <vt:lpstr>宋体</vt:lpstr>
      <vt:lpstr>Arial Unicode MS</vt:lpstr>
      <vt:lpstr>DejaVu Math TeX Gyre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Changes</cp:lastModifiedBy>
  <cp:revision>134</cp:revision>
  <dcterms:created xsi:type="dcterms:W3CDTF">2026-07-03T05:02:24Z</dcterms:created>
  <dcterms:modified xsi:type="dcterms:W3CDTF">2026-07-03T05:02:24Z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7E95DADB501D40198A036DAC2A7FC248_13</vt:lpwstr>
  </property>
</Properties>
</file>